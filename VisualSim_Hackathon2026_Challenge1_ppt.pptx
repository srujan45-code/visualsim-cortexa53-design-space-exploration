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Lst>
  <p:sldSz cx="18288000" cy="10287000"/>
  <p:notesSz cx="6858000" cy="9144000"/>
  <p:embeddedFontLst>
    <p:embeddedFont>
      <p:font typeface="Arial MT Pro" panose="020B0604020202020204" charset="0"/>
      <p:regular r:id="rId18"/>
    </p:embeddedFont>
    <p:embeddedFont>
      <p:font typeface="Lucida Console" panose="020B0609040504020204" pitchFamily="49" charset="0"/>
      <p:regular r:id="rId19"/>
    </p:embeddedFont>
    <p:embeddedFont>
      <p:font typeface="Lucida Sans Unicode" panose="020B0602030504020204" pitchFamily="34" charset="0"/>
      <p:regular r:id="rId20"/>
    </p:embeddedFont>
    <p:embeddedFont>
      <p:font typeface="Tahoma" panose="020B0604030504040204" pitchFamily="34" charset="0"/>
      <p:regular r:id="rId21"/>
      <p:bold r:id="rId22"/>
    </p:embeddedFont>
    <p:embeddedFont>
      <p:font typeface="Verdana" panose="020B0604030504040204"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8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drive/folders/183LKC2KJys0E755W3UO0OFMtQTdpns4i?usp=sharing"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grpSp>
        <p:nvGrpSpPr>
          <p:cNvPr id="4" name="Group 4"/>
          <p:cNvGrpSpPr/>
          <p:nvPr/>
        </p:nvGrpSpPr>
        <p:grpSpPr>
          <a:xfrm>
            <a:off x="16614648" y="9838944"/>
            <a:ext cx="1609344" cy="384048"/>
            <a:chOff x="0" y="0"/>
            <a:chExt cx="2145792" cy="512064"/>
          </a:xfrm>
        </p:grpSpPr>
        <p:sp>
          <p:nvSpPr>
            <p:cNvPr id="5" name="Freeform 5"/>
            <p:cNvSpPr/>
            <p:nvPr/>
          </p:nvSpPr>
          <p:spPr>
            <a:xfrm>
              <a:off x="0" y="0"/>
              <a:ext cx="2145792" cy="512064"/>
            </a:xfrm>
            <a:custGeom>
              <a:avLst/>
              <a:gdLst/>
              <a:ahLst/>
              <a:cxnLst/>
              <a:rect l="l" t="t" r="r" b="b"/>
              <a:pathLst>
                <a:path w="2145792" h="512064">
                  <a:moveTo>
                    <a:pt x="0" y="0"/>
                  </a:moveTo>
                  <a:lnTo>
                    <a:pt x="2145792" y="0"/>
                  </a:lnTo>
                  <a:lnTo>
                    <a:pt x="2145792" y="512064"/>
                  </a:lnTo>
                  <a:lnTo>
                    <a:pt x="0" y="512064"/>
                  </a:lnTo>
                  <a:lnTo>
                    <a:pt x="0" y="0"/>
                  </a:lnTo>
                  <a:close/>
                </a:path>
              </a:pathLst>
            </a:custGeom>
            <a:blipFill>
              <a:blip r:embed="rId2"/>
              <a:stretch>
                <a:fillRect l="-1398" r="-1398"/>
              </a:stretch>
            </a:blipFill>
          </p:spPr>
        </p:sp>
      </p:grpSp>
      <p:grpSp>
        <p:nvGrpSpPr>
          <p:cNvPr id="6" name="Group 6"/>
          <p:cNvGrpSpPr/>
          <p:nvPr/>
        </p:nvGrpSpPr>
        <p:grpSpPr>
          <a:xfrm>
            <a:off x="0" y="0"/>
            <a:ext cx="18288000" cy="10287000"/>
            <a:chOff x="0" y="0"/>
            <a:chExt cx="24384000" cy="13716000"/>
          </a:xfrm>
        </p:grpSpPr>
        <p:sp>
          <p:nvSpPr>
            <p:cNvPr id="7" name="Freeform 7"/>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8" name="Group 8"/>
          <p:cNvGrpSpPr/>
          <p:nvPr/>
        </p:nvGrpSpPr>
        <p:grpSpPr>
          <a:xfrm>
            <a:off x="0" y="0"/>
            <a:ext cx="18288000" cy="10287000"/>
            <a:chOff x="0" y="0"/>
            <a:chExt cx="24384000" cy="13716000"/>
          </a:xfrm>
        </p:grpSpPr>
        <p:sp>
          <p:nvSpPr>
            <p:cNvPr id="9" name="Freeform 9"/>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alpha val="33333"/>
              </a:srgbClr>
            </a:solidFill>
          </p:spPr>
        </p:sp>
      </p:grpSp>
      <p:sp>
        <p:nvSpPr>
          <p:cNvPr id="10" name="TextBox 10"/>
          <p:cNvSpPr txBox="1"/>
          <p:nvPr/>
        </p:nvSpPr>
        <p:spPr>
          <a:xfrm>
            <a:off x="838200" y="952500"/>
            <a:ext cx="14285595" cy="7771358"/>
          </a:xfrm>
          <a:prstGeom prst="rect">
            <a:avLst/>
          </a:prstGeom>
        </p:spPr>
        <p:txBody>
          <a:bodyPr wrap="square" lIns="0" tIns="0" rIns="0" bIns="0" rtlCol="0" anchor="t">
            <a:spAutoFit/>
          </a:bodyPr>
          <a:lstStyle/>
          <a:p>
            <a:pPr algn="l">
              <a:lnSpc>
                <a:spcPts val="1200"/>
              </a:lnSpc>
            </a:pPr>
            <a:r>
              <a:rPr lang="en-US" sz="1800" dirty="0">
                <a:solidFill>
                  <a:srgbClr val="FFFFFF"/>
                </a:solidFill>
                <a:latin typeface="Verdana"/>
                <a:ea typeface="Verdana"/>
                <a:cs typeface="Verdana"/>
                <a:sym typeface="Verdana"/>
              </a:rPr>
              <a:t>VISUALSIM ARCHITECT STUDY</a:t>
            </a:r>
          </a:p>
          <a:p>
            <a:pPr algn="l">
              <a:lnSpc>
                <a:spcPts val="1200"/>
              </a:lnSpc>
            </a:pPr>
            <a:endParaRPr lang="en-US" sz="1800" dirty="0">
              <a:solidFill>
                <a:srgbClr val="FFFFFF"/>
              </a:solidFill>
              <a:latin typeface="Verdana"/>
              <a:ea typeface="Verdana"/>
              <a:cs typeface="Verdana"/>
              <a:sym typeface="Verdana"/>
            </a:endParaRPr>
          </a:p>
          <a:p>
            <a:pPr algn="l">
              <a:lnSpc>
                <a:spcPts val="10176"/>
              </a:lnSpc>
            </a:pPr>
            <a:r>
              <a:rPr lang="en-US" sz="11100" spc="-794" dirty="0">
                <a:solidFill>
                  <a:srgbClr val="FFFFFF"/>
                </a:solidFill>
                <a:latin typeface="Arial MT Pro"/>
                <a:ea typeface="Arial MT Pro"/>
                <a:cs typeface="Arial MT Pro"/>
                <a:sym typeface="Arial MT Pro"/>
              </a:rPr>
              <a:t>DESIGN-SPACE EXPLORATION OF A QUAD-CORE ARM CORTEX-A53 MEMORY SUBSYSTEM</a:t>
            </a:r>
          </a:p>
          <a:p>
            <a:pPr algn="l">
              <a:lnSpc>
                <a:spcPts val="3600"/>
              </a:lnSpc>
            </a:pPr>
            <a:r>
              <a:rPr lang="en-US" sz="3000" spc="-15" dirty="0" err="1">
                <a:solidFill>
                  <a:srgbClr val="FFFFFF"/>
                </a:solidFill>
                <a:latin typeface="Verdana"/>
                <a:ea typeface="Verdana"/>
                <a:cs typeface="Verdana"/>
                <a:sym typeface="Verdana"/>
              </a:rPr>
              <a:t>VisualSim</a:t>
            </a:r>
            <a:r>
              <a:rPr lang="en-US" sz="3000" spc="-15" dirty="0">
                <a:solidFill>
                  <a:srgbClr val="FFFFFF"/>
                </a:solidFill>
                <a:latin typeface="Verdana"/>
                <a:ea typeface="Verdana"/>
                <a:cs typeface="Verdana"/>
                <a:sym typeface="Verdana"/>
              </a:rPr>
              <a:t> Architect study of cache capacity, system-bus width, and DDR4 speed.</a:t>
            </a:r>
          </a:p>
        </p:txBody>
      </p:sp>
      <p:sp>
        <p:nvSpPr>
          <p:cNvPr id="11" name="TextBox 10">
            <a:extLst>
              <a:ext uri="{FF2B5EF4-FFF2-40B4-BE49-F238E27FC236}">
                <a16:creationId xmlns:a16="http://schemas.microsoft.com/office/drawing/2014/main" id="{E49B3355-223F-6E59-84D8-59EBD0618B11}"/>
              </a:ext>
            </a:extLst>
          </p:cNvPr>
          <p:cNvSpPr txBox="1"/>
          <p:nvPr/>
        </p:nvSpPr>
        <p:spPr>
          <a:xfrm>
            <a:off x="838200" y="9057141"/>
            <a:ext cx="5105400" cy="461665"/>
          </a:xfrm>
          <a:prstGeom prst="rect">
            <a:avLst/>
          </a:prstGeom>
          <a:noFill/>
        </p:spPr>
        <p:txBody>
          <a:bodyPr wrap="square" rtlCol="0">
            <a:spAutoFit/>
          </a:bodyPr>
          <a:lstStyle/>
          <a:p>
            <a:r>
              <a:rPr lang="en-US" sz="2400" b="1" dirty="0">
                <a:solidFill>
                  <a:schemeClr val="bg1"/>
                </a:solidFill>
              </a:rPr>
              <a:t>Team Name: 404 Signal Not found</a:t>
            </a:r>
            <a:endParaRPr lang="en-IN" sz="2400" b="1" dirty="0">
              <a:solidFill>
                <a:schemeClr val="bg1"/>
              </a:solidFill>
            </a:endParaRPr>
          </a:p>
        </p:txBody>
      </p:sp>
      <p:sp>
        <p:nvSpPr>
          <p:cNvPr id="12" name="TextBox 11">
            <a:extLst>
              <a:ext uri="{FF2B5EF4-FFF2-40B4-BE49-F238E27FC236}">
                <a16:creationId xmlns:a16="http://schemas.microsoft.com/office/drawing/2014/main" id="{1E65796E-09B1-E669-8909-9B0566E9F10D}"/>
              </a:ext>
            </a:extLst>
          </p:cNvPr>
          <p:cNvSpPr txBox="1"/>
          <p:nvPr/>
        </p:nvSpPr>
        <p:spPr>
          <a:xfrm>
            <a:off x="8534400" y="9057141"/>
            <a:ext cx="8686800" cy="830997"/>
          </a:xfrm>
          <a:prstGeom prst="rect">
            <a:avLst/>
          </a:prstGeom>
          <a:noFill/>
        </p:spPr>
        <p:txBody>
          <a:bodyPr wrap="square" rtlCol="0">
            <a:spAutoFit/>
          </a:bodyPr>
          <a:lstStyle/>
          <a:p>
            <a:r>
              <a:rPr lang="en-US" sz="2400" b="1" dirty="0">
                <a:solidFill>
                  <a:schemeClr val="bg1"/>
                </a:solidFill>
              </a:rPr>
              <a:t>Team Members : Srujan Pratap Powar ,Arshiya Agarwal ,Minal Pramod Borkar and Aadya Priyadarshi</a:t>
            </a:r>
            <a:endParaRPr lang="en-IN" sz="24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1756410" cy="299723"/>
          </a:xfrm>
          <a:prstGeom prst="rect">
            <a:avLst/>
          </a:prstGeom>
        </p:spPr>
        <p:txBody>
          <a:bodyPr lIns="0" tIns="0" rIns="0" bIns="0" rtlCol="0" anchor="t">
            <a:spAutoFit/>
          </a:bodyPr>
          <a:lstStyle/>
          <a:p>
            <a:pPr algn="l">
              <a:lnSpc>
                <a:spcPts val="2160"/>
              </a:lnSpc>
            </a:pPr>
            <a:r>
              <a:rPr lang="en-US" sz="1800">
                <a:solidFill>
                  <a:srgbClr val="A9C3C7"/>
                </a:solidFill>
                <a:latin typeface="Verdana"/>
                <a:ea typeface="Verdana"/>
                <a:cs typeface="Verdana"/>
                <a:sym typeface="Verdana"/>
              </a:rPr>
              <a:t>SYSTEM VIEW</a:t>
            </a:r>
          </a:p>
        </p:txBody>
      </p:sp>
      <p:sp>
        <p:nvSpPr>
          <p:cNvPr id="5" name="TextBox 5" descr="$PPTXTitle"/>
          <p:cNvSpPr txBox="1"/>
          <p:nvPr/>
        </p:nvSpPr>
        <p:spPr>
          <a:xfrm>
            <a:off x="895350" y="1326499"/>
            <a:ext cx="14991398" cy="1957073"/>
          </a:xfrm>
          <a:prstGeom prst="rect">
            <a:avLst/>
          </a:prstGeom>
        </p:spPr>
        <p:txBody>
          <a:bodyPr lIns="0" tIns="0" rIns="0" bIns="0" rtlCol="0" anchor="t">
            <a:spAutoFit/>
          </a:bodyPr>
          <a:lstStyle/>
          <a:p>
            <a:pPr algn="l">
              <a:lnSpc>
                <a:spcPts val="7845"/>
              </a:lnSpc>
            </a:pPr>
            <a:r>
              <a:rPr lang="en-US" sz="7500" spc="-142">
                <a:solidFill>
                  <a:srgbClr val="F1F7F6"/>
                </a:solidFill>
                <a:latin typeface="Verdana"/>
                <a:ea typeface="Verdana"/>
                <a:cs typeface="Verdana"/>
                <a:sym typeface="Verdana"/>
              </a:rPr>
              <a:t>Memory performance is a system property</a:t>
            </a:r>
          </a:p>
        </p:txBody>
      </p:sp>
      <p:grpSp>
        <p:nvGrpSpPr>
          <p:cNvPr id="6" name="Group 6"/>
          <p:cNvGrpSpPr/>
          <p:nvPr/>
        </p:nvGrpSpPr>
        <p:grpSpPr>
          <a:xfrm>
            <a:off x="879692" y="3685246"/>
            <a:ext cx="8001000" cy="5729288"/>
            <a:chOff x="0" y="0"/>
            <a:chExt cx="10668000" cy="7639050"/>
          </a:xfrm>
        </p:grpSpPr>
        <p:sp>
          <p:nvSpPr>
            <p:cNvPr id="7" name="Freeform 7"/>
            <p:cNvSpPr/>
            <p:nvPr/>
          </p:nvSpPr>
          <p:spPr>
            <a:xfrm>
              <a:off x="0" y="0"/>
              <a:ext cx="10668000" cy="7638288"/>
            </a:xfrm>
            <a:custGeom>
              <a:avLst/>
              <a:gdLst/>
              <a:ahLst/>
              <a:cxnLst/>
              <a:rect l="l" t="t" r="r" b="b"/>
              <a:pathLst>
                <a:path w="10668000" h="7638288">
                  <a:moveTo>
                    <a:pt x="10668000" y="0"/>
                  </a:moveTo>
                  <a:lnTo>
                    <a:pt x="0" y="0"/>
                  </a:lnTo>
                  <a:lnTo>
                    <a:pt x="0" y="7638288"/>
                  </a:lnTo>
                  <a:lnTo>
                    <a:pt x="10668000" y="7638288"/>
                  </a:lnTo>
                  <a:lnTo>
                    <a:pt x="10668000" y="0"/>
                  </a:lnTo>
                  <a:close/>
                </a:path>
              </a:pathLst>
            </a:custGeom>
            <a:solidFill>
              <a:srgbClr val="DDEBED"/>
            </a:solidFill>
          </p:spPr>
        </p:sp>
      </p:grpSp>
      <p:grpSp>
        <p:nvGrpSpPr>
          <p:cNvPr id="8" name="Group 8"/>
          <p:cNvGrpSpPr/>
          <p:nvPr/>
        </p:nvGrpSpPr>
        <p:grpSpPr>
          <a:xfrm>
            <a:off x="1449324" y="4178808"/>
            <a:ext cx="608076" cy="608076"/>
            <a:chOff x="0" y="0"/>
            <a:chExt cx="810768" cy="810768"/>
          </a:xfrm>
        </p:grpSpPr>
        <p:sp>
          <p:nvSpPr>
            <p:cNvPr id="9" name="Freeform 9" descr="preencoded.png"/>
            <p:cNvSpPr/>
            <p:nvPr/>
          </p:nvSpPr>
          <p:spPr>
            <a:xfrm>
              <a:off x="0" y="0"/>
              <a:ext cx="810768" cy="810768"/>
            </a:xfrm>
            <a:custGeom>
              <a:avLst/>
              <a:gdLst/>
              <a:ahLst/>
              <a:cxnLst/>
              <a:rect l="l" t="t" r="r" b="b"/>
              <a:pathLst>
                <a:path w="810768" h="810768">
                  <a:moveTo>
                    <a:pt x="0" y="0"/>
                  </a:moveTo>
                  <a:lnTo>
                    <a:pt x="810768" y="0"/>
                  </a:lnTo>
                  <a:lnTo>
                    <a:pt x="810768" y="810768"/>
                  </a:lnTo>
                  <a:lnTo>
                    <a:pt x="0" y="810768"/>
                  </a:lnTo>
                  <a:lnTo>
                    <a:pt x="0" y="0"/>
                  </a:lnTo>
                  <a:close/>
                </a:path>
              </a:pathLst>
            </a:custGeom>
            <a:blipFill>
              <a:blip r:embed="rId2"/>
              <a:stretch>
                <a:fillRect/>
              </a:stretch>
            </a:blipFill>
          </p:spPr>
        </p:sp>
      </p:grpSp>
      <p:sp>
        <p:nvSpPr>
          <p:cNvPr id="10" name="TextBox 10"/>
          <p:cNvSpPr txBox="1"/>
          <p:nvPr/>
        </p:nvSpPr>
        <p:spPr>
          <a:xfrm>
            <a:off x="1009841" y="4317579"/>
            <a:ext cx="8001000" cy="5719763"/>
          </a:xfrm>
          <a:prstGeom prst="rect">
            <a:avLst/>
          </a:prstGeom>
        </p:spPr>
        <p:txBody>
          <a:bodyPr lIns="0" tIns="0" rIns="0" bIns="0" rtlCol="0" anchor="t">
            <a:spAutoFit/>
          </a:bodyPr>
          <a:lstStyle/>
          <a:p>
            <a:pPr algn="l">
              <a:lnSpc>
                <a:spcPts val="2879"/>
              </a:lnSpc>
            </a:pPr>
            <a:endParaRPr dirty="0"/>
          </a:p>
          <a:p>
            <a:pPr algn="l">
              <a:lnSpc>
                <a:spcPts val="2879"/>
              </a:lnSpc>
            </a:pPr>
            <a:endParaRPr dirty="0"/>
          </a:p>
          <a:p>
            <a:pPr algn="l">
              <a:lnSpc>
                <a:spcPts val="4320"/>
              </a:lnSpc>
            </a:pPr>
            <a:r>
              <a:rPr lang="en-US" sz="3600" spc="-15" dirty="0">
                <a:solidFill>
                  <a:srgbClr val="000000"/>
                </a:solidFill>
                <a:latin typeface="Verdana"/>
                <a:ea typeface="Verdana"/>
                <a:cs typeface="Verdana"/>
                <a:sym typeface="Verdana"/>
              </a:rPr>
              <a:t>Multi-core behavior</a:t>
            </a:r>
          </a:p>
          <a:p>
            <a:pPr algn="l">
              <a:lnSpc>
                <a:spcPts val="3314"/>
              </a:lnSpc>
            </a:pPr>
            <a:r>
              <a:rPr lang="en-US" sz="2400" spc="-45" dirty="0">
                <a:solidFill>
                  <a:srgbClr val="000000"/>
                </a:solidFill>
                <a:latin typeface="Verdana"/>
                <a:ea typeface="Verdana"/>
                <a:cs typeface="Verdana"/>
                <a:sym typeface="Verdana"/>
              </a:rPr>
              <a:t>Multi-core performance depends on cache hit/miss behavior, latency, bandwidth, contention, and memory-controller behavior.</a:t>
            </a:r>
          </a:p>
        </p:txBody>
      </p:sp>
      <p:grpSp>
        <p:nvGrpSpPr>
          <p:cNvPr id="11" name="Group 11"/>
          <p:cNvGrpSpPr/>
          <p:nvPr/>
        </p:nvGrpSpPr>
        <p:grpSpPr>
          <a:xfrm>
            <a:off x="9372600" y="3643884"/>
            <a:ext cx="8001000" cy="5729288"/>
            <a:chOff x="0" y="0"/>
            <a:chExt cx="10668000" cy="7639050"/>
          </a:xfrm>
        </p:grpSpPr>
        <p:sp>
          <p:nvSpPr>
            <p:cNvPr id="12" name="Freeform 12"/>
            <p:cNvSpPr/>
            <p:nvPr/>
          </p:nvSpPr>
          <p:spPr>
            <a:xfrm>
              <a:off x="0" y="0"/>
              <a:ext cx="10668000" cy="7638288"/>
            </a:xfrm>
            <a:custGeom>
              <a:avLst/>
              <a:gdLst/>
              <a:ahLst/>
              <a:cxnLst/>
              <a:rect l="l" t="t" r="r" b="b"/>
              <a:pathLst>
                <a:path w="10668000" h="7638288">
                  <a:moveTo>
                    <a:pt x="10668000" y="0"/>
                  </a:moveTo>
                  <a:lnTo>
                    <a:pt x="0" y="0"/>
                  </a:lnTo>
                  <a:lnTo>
                    <a:pt x="0" y="7638288"/>
                  </a:lnTo>
                  <a:lnTo>
                    <a:pt x="10668000" y="7638288"/>
                  </a:lnTo>
                  <a:lnTo>
                    <a:pt x="10668000" y="0"/>
                  </a:lnTo>
                  <a:close/>
                </a:path>
              </a:pathLst>
            </a:custGeom>
            <a:solidFill>
              <a:srgbClr val="F1F7F6"/>
            </a:solidFill>
          </p:spPr>
        </p:sp>
      </p:grpSp>
      <p:grpSp>
        <p:nvGrpSpPr>
          <p:cNvPr id="13" name="Group 13"/>
          <p:cNvGrpSpPr/>
          <p:nvPr/>
        </p:nvGrpSpPr>
        <p:grpSpPr>
          <a:xfrm>
            <a:off x="9907524" y="4178808"/>
            <a:ext cx="608076" cy="608076"/>
            <a:chOff x="0" y="0"/>
            <a:chExt cx="810768" cy="810768"/>
          </a:xfrm>
        </p:grpSpPr>
        <p:sp>
          <p:nvSpPr>
            <p:cNvPr id="14" name="Freeform 14" descr="preencoded.png"/>
            <p:cNvSpPr/>
            <p:nvPr/>
          </p:nvSpPr>
          <p:spPr>
            <a:xfrm>
              <a:off x="0" y="0"/>
              <a:ext cx="810768" cy="810768"/>
            </a:xfrm>
            <a:custGeom>
              <a:avLst/>
              <a:gdLst/>
              <a:ahLst/>
              <a:cxnLst/>
              <a:rect l="l" t="t" r="r" b="b"/>
              <a:pathLst>
                <a:path w="810768" h="810768">
                  <a:moveTo>
                    <a:pt x="0" y="0"/>
                  </a:moveTo>
                  <a:lnTo>
                    <a:pt x="810768" y="0"/>
                  </a:lnTo>
                  <a:lnTo>
                    <a:pt x="810768" y="810768"/>
                  </a:lnTo>
                  <a:lnTo>
                    <a:pt x="0" y="810768"/>
                  </a:lnTo>
                  <a:lnTo>
                    <a:pt x="0" y="0"/>
                  </a:lnTo>
                  <a:close/>
                </a:path>
              </a:pathLst>
            </a:custGeom>
            <a:blipFill>
              <a:blip r:embed="rId3"/>
              <a:stretch>
                <a:fillRect/>
              </a:stretch>
            </a:blipFill>
          </p:spPr>
        </p:sp>
      </p:grpSp>
      <p:sp>
        <p:nvSpPr>
          <p:cNvPr id="15" name="TextBox 15"/>
          <p:cNvSpPr txBox="1"/>
          <p:nvPr/>
        </p:nvSpPr>
        <p:spPr>
          <a:xfrm>
            <a:off x="9528166" y="4328915"/>
            <a:ext cx="8001000" cy="5719763"/>
          </a:xfrm>
          <a:prstGeom prst="rect">
            <a:avLst/>
          </a:prstGeom>
        </p:spPr>
        <p:txBody>
          <a:bodyPr lIns="0" tIns="0" rIns="0" bIns="0" rtlCol="0" anchor="t">
            <a:spAutoFit/>
          </a:bodyPr>
          <a:lstStyle/>
          <a:p>
            <a:pPr algn="l">
              <a:lnSpc>
                <a:spcPts val="2879"/>
              </a:lnSpc>
            </a:pPr>
            <a:endParaRPr dirty="0"/>
          </a:p>
          <a:p>
            <a:pPr algn="l">
              <a:lnSpc>
                <a:spcPts val="2879"/>
              </a:lnSpc>
            </a:pPr>
            <a:endParaRPr dirty="0"/>
          </a:p>
          <a:p>
            <a:pPr algn="l">
              <a:lnSpc>
                <a:spcPts val="4320"/>
              </a:lnSpc>
            </a:pPr>
            <a:r>
              <a:rPr lang="en-US" sz="3600" spc="-60" dirty="0">
                <a:solidFill>
                  <a:srgbClr val="000000"/>
                </a:solidFill>
                <a:latin typeface="Verdana"/>
                <a:ea typeface="Verdana"/>
                <a:cs typeface="Verdana"/>
                <a:sym typeface="Verdana"/>
              </a:rPr>
              <a:t>Workload first</a:t>
            </a:r>
          </a:p>
          <a:p>
            <a:pPr algn="l">
              <a:lnSpc>
                <a:spcPts val="3314"/>
              </a:lnSpc>
            </a:pPr>
            <a:r>
              <a:rPr lang="en-US" sz="2400" spc="-15" dirty="0">
                <a:solidFill>
                  <a:srgbClr val="000000"/>
                </a:solidFill>
                <a:latin typeface="Verdana"/>
                <a:ea typeface="Verdana"/>
                <a:cs typeface="Verdana"/>
                <a:sym typeface="Verdana"/>
              </a:rPr>
              <a:t>The memory subsystem must be designed around the workload, not processor frequency alone.</a:t>
            </a:r>
          </a:p>
        </p:txBody>
      </p:sp>
      <p:sp>
        <p:nvSpPr>
          <p:cNvPr id="16" name="TextBox 16"/>
          <p:cNvSpPr txBox="1"/>
          <p:nvPr/>
        </p:nvSpPr>
        <p:spPr>
          <a:xfrm>
            <a:off x="17088422" y="9735664"/>
            <a:ext cx="302895"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3215640" cy="299723"/>
          </a:xfrm>
          <a:prstGeom prst="rect">
            <a:avLst/>
          </a:prstGeom>
        </p:spPr>
        <p:txBody>
          <a:bodyPr lIns="0" tIns="0" rIns="0" bIns="0" rtlCol="0" anchor="t">
            <a:spAutoFit/>
          </a:bodyPr>
          <a:lstStyle/>
          <a:p>
            <a:pPr algn="l">
              <a:lnSpc>
                <a:spcPts val="2160"/>
              </a:lnSpc>
            </a:pPr>
            <a:r>
              <a:rPr lang="en-US" sz="1800" spc="75">
                <a:solidFill>
                  <a:srgbClr val="A9C3C7"/>
                </a:solidFill>
                <a:latin typeface="Verdana"/>
                <a:ea typeface="Verdana"/>
                <a:cs typeface="Verdana"/>
                <a:sym typeface="Verdana"/>
              </a:rPr>
              <a:t>EXPLORATION QUESTION</a:t>
            </a:r>
          </a:p>
        </p:txBody>
      </p:sp>
      <p:sp>
        <p:nvSpPr>
          <p:cNvPr id="5" name="TextBox 5" descr="$PPTXTitle"/>
          <p:cNvSpPr txBox="1"/>
          <p:nvPr/>
        </p:nvSpPr>
        <p:spPr>
          <a:xfrm>
            <a:off x="895350" y="1326499"/>
            <a:ext cx="15640050" cy="2000548"/>
          </a:xfrm>
          <a:prstGeom prst="rect">
            <a:avLst/>
          </a:prstGeom>
        </p:spPr>
        <p:txBody>
          <a:bodyPr wrap="square" lIns="0" tIns="0" rIns="0" bIns="0" rtlCol="0" anchor="t">
            <a:spAutoFit/>
          </a:bodyPr>
          <a:lstStyle/>
          <a:p>
            <a:pPr algn="l">
              <a:lnSpc>
                <a:spcPts val="7845"/>
              </a:lnSpc>
            </a:pPr>
            <a:r>
              <a:rPr lang="en-US" sz="7500" spc="-127" dirty="0">
                <a:solidFill>
                  <a:srgbClr val="F1F7F6"/>
                </a:solidFill>
                <a:latin typeface="Verdana"/>
                <a:ea typeface="Verdana"/>
                <a:cs typeface="Verdana"/>
                <a:sym typeface="Verdana"/>
              </a:rPr>
              <a:t>More memory resources do not guarantee proportional gains</a:t>
            </a:r>
          </a:p>
        </p:txBody>
      </p:sp>
      <p:sp>
        <p:nvSpPr>
          <p:cNvPr id="6" name="Freeform 6"/>
          <p:cNvSpPr/>
          <p:nvPr/>
        </p:nvSpPr>
        <p:spPr>
          <a:xfrm>
            <a:off x="867166" y="3920642"/>
            <a:ext cx="8001000" cy="5729288"/>
          </a:xfrm>
          <a:custGeom>
            <a:avLst/>
            <a:gdLst/>
            <a:ahLst/>
            <a:cxnLst/>
            <a:rect l="l" t="t" r="r" b="b"/>
            <a:pathLst>
              <a:path w="8001000" h="5729288">
                <a:moveTo>
                  <a:pt x="0" y="0"/>
                </a:moveTo>
                <a:lnTo>
                  <a:pt x="8001000" y="0"/>
                </a:lnTo>
                <a:lnTo>
                  <a:pt x="8001000" y="5729288"/>
                </a:lnTo>
                <a:lnTo>
                  <a:pt x="0" y="572928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7" name="TextBox 7"/>
          <p:cNvSpPr txBox="1"/>
          <p:nvPr/>
        </p:nvSpPr>
        <p:spPr>
          <a:xfrm>
            <a:off x="969264" y="4076576"/>
            <a:ext cx="7946707" cy="2031997"/>
          </a:xfrm>
          <a:prstGeom prst="rect">
            <a:avLst/>
          </a:prstGeom>
        </p:spPr>
        <p:txBody>
          <a:bodyPr lIns="0" tIns="0" rIns="0" bIns="0" rtlCol="0" anchor="t">
            <a:spAutoFit/>
          </a:bodyPr>
          <a:lstStyle/>
          <a:p>
            <a:pPr algn="l">
              <a:lnSpc>
                <a:spcPts val="2160"/>
              </a:lnSpc>
            </a:pPr>
            <a:r>
              <a:rPr lang="en-US" sz="1800" spc="-14">
                <a:solidFill>
                  <a:srgbClr val="000000"/>
                </a:solidFill>
                <a:latin typeface="Verdana"/>
                <a:ea typeface="Verdana"/>
                <a:cs typeface="Verdana"/>
                <a:sym typeface="Verdana"/>
              </a:rPr>
              <a:t>QUESTION</a:t>
            </a:r>
          </a:p>
          <a:p>
            <a:pPr algn="l">
              <a:lnSpc>
                <a:spcPts val="4194"/>
              </a:lnSpc>
            </a:pPr>
            <a:r>
              <a:rPr lang="en-US" sz="3600" spc="-15">
                <a:solidFill>
                  <a:srgbClr val="000000"/>
                </a:solidFill>
                <a:latin typeface="Verdana"/>
                <a:ea typeface="Verdana"/>
                <a:cs typeface="Verdana"/>
                <a:sym typeface="Verdana"/>
              </a:rPr>
              <a:t>How do L2 capacity, system-bus width, and DDR4 speed affect measured performance?</a:t>
            </a:r>
          </a:p>
        </p:txBody>
      </p:sp>
      <p:sp>
        <p:nvSpPr>
          <p:cNvPr id="8" name="TextBox 8"/>
          <p:cNvSpPr txBox="1"/>
          <p:nvPr/>
        </p:nvSpPr>
        <p:spPr>
          <a:xfrm>
            <a:off x="9889426" y="4041600"/>
            <a:ext cx="6645974" cy="2215030"/>
          </a:xfrm>
          <a:prstGeom prst="rect">
            <a:avLst/>
          </a:prstGeom>
        </p:spPr>
        <p:txBody>
          <a:bodyPr wrap="square" lIns="0" tIns="0" rIns="0" bIns="0" rtlCol="0" anchor="t">
            <a:spAutoFit/>
          </a:bodyPr>
          <a:lstStyle/>
          <a:p>
            <a:pPr algn="l">
              <a:lnSpc>
                <a:spcPts val="2160"/>
              </a:lnSpc>
            </a:pPr>
            <a:r>
              <a:rPr lang="en-US" sz="1800" spc="-14" dirty="0">
                <a:solidFill>
                  <a:srgbClr val="A9C3C7"/>
                </a:solidFill>
                <a:latin typeface="Verdana"/>
                <a:ea typeface="Verdana"/>
                <a:cs typeface="Verdana"/>
                <a:sym typeface="Verdana"/>
              </a:rPr>
              <a:t>OBJECTIVES</a:t>
            </a:r>
          </a:p>
          <a:p>
            <a:pPr marL="453390" lvl="1" indent="-226695" algn="l">
              <a:lnSpc>
                <a:spcPts val="2879"/>
              </a:lnSpc>
              <a:buAutoNum type="arabicPeriod"/>
            </a:pPr>
            <a:r>
              <a:rPr lang="en-US" sz="2400" spc="-15" dirty="0">
                <a:solidFill>
                  <a:srgbClr val="F1F7F6"/>
                </a:solidFill>
                <a:latin typeface="Verdana"/>
                <a:ea typeface="Verdana"/>
                <a:cs typeface="Verdana"/>
                <a:sym typeface="Verdana"/>
              </a:rPr>
              <a:t>Model the subsystem.</a:t>
            </a:r>
          </a:p>
          <a:p>
            <a:pPr marL="453390" lvl="1" indent="-226695" algn="l">
              <a:lnSpc>
                <a:spcPts val="2879"/>
              </a:lnSpc>
              <a:buAutoNum type="arabicPeriod"/>
            </a:pPr>
            <a:r>
              <a:rPr lang="en-US" sz="2400" spc="-15" dirty="0">
                <a:solidFill>
                  <a:srgbClr val="F1F7F6"/>
                </a:solidFill>
                <a:latin typeface="Verdana"/>
                <a:ea typeface="Verdana"/>
                <a:cs typeface="Verdana"/>
                <a:sym typeface="Verdana"/>
              </a:rPr>
              <a:t>Vary the three parameters.</a:t>
            </a:r>
          </a:p>
          <a:p>
            <a:pPr marL="452439" lvl="1" indent="-226220" algn="l">
              <a:lnSpc>
                <a:spcPts val="3315"/>
              </a:lnSpc>
              <a:buAutoNum type="arabicPeriod"/>
            </a:pPr>
            <a:r>
              <a:rPr lang="en-US" sz="2400" spc="-15" dirty="0">
                <a:solidFill>
                  <a:srgbClr val="F1F7F6"/>
                </a:solidFill>
                <a:latin typeface="Verdana"/>
                <a:ea typeface="Verdana"/>
                <a:cs typeface="Verdana"/>
                <a:sym typeface="Verdana"/>
              </a:rPr>
              <a:t>Measure cache/interconnect/DRAM 	behavior.</a:t>
            </a:r>
          </a:p>
          <a:p>
            <a:pPr marL="453390" lvl="1" indent="-226695" algn="l">
              <a:lnSpc>
                <a:spcPts val="2879"/>
              </a:lnSpc>
              <a:buAutoNum type="arabicPeriod"/>
            </a:pPr>
            <a:r>
              <a:rPr lang="en-US" sz="2400" spc="-15" dirty="0">
                <a:solidFill>
                  <a:srgbClr val="F1F7F6"/>
                </a:solidFill>
                <a:latin typeface="Verdana"/>
                <a:ea typeface="Verdana"/>
                <a:cs typeface="Verdana"/>
                <a:sym typeface="Verdana"/>
              </a:rPr>
              <a:t>Identify bottlenecks.</a:t>
            </a:r>
          </a:p>
        </p:txBody>
      </p:sp>
      <p:sp>
        <p:nvSpPr>
          <p:cNvPr id="9" name="TextBox 9"/>
          <p:cNvSpPr txBox="1"/>
          <p:nvPr/>
        </p:nvSpPr>
        <p:spPr>
          <a:xfrm>
            <a:off x="17088422" y="9735664"/>
            <a:ext cx="300990"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1933575" cy="299723"/>
          </a:xfrm>
          <a:prstGeom prst="rect">
            <a:avLst/>
          </a:prstGeom>
        </p:spPr>
        <p:txBody>
          <a:bodyPr lIns="0" tIns="0" rIns="0" bIns="0" rtlCol="0" anchor="t">
            <a:spAutoFit/>
          </a:bodyPr>
          <a:lstStyle/>
          <a:p>
            <a:pPr algn="l">
              <a:lnSpc>
                <a:spcPts val="2160"/>
              </a:lnSpc>
            </a:pPr>
            <a:r>
              <a:rPr lang="en-US" sz="1800" spc="-14">
                <a:solidFill>
                  <a:srgbClr val="A9C3C7"/>
                </a:solidFill>
                <a:latin typeface="Verdana"/>
                <a:ea typeface="Verdana"/>
                <a:cs typeface="Verdana"/>
                <a:sym typeface="Verdana"/>
              </a:rPr>
              <a:t>ARCHITECTURE</a:t>
            </a:r>
          </a:p>
        </p:txBody>
      </p:sp>
      <p:sp>
        <p:nvSpPr>
          <p:cNvPr id="5" name="TextBox 5" descr="$PPTXTitle"/>
          <p:cNvSpPr txBox="1"/>
          <p:nvPr/>
        </p:nvSpPr>
        <p:spPr>
          <a:xfrm>
            <a:off x="895350" y="1326499"/>
            <a:ext cx="14676120" cy="1957073"/>
          </a:xfrm>
          <a:prstGeom prst="rect">
            <a:avLst/>
          </a:prstGeom>
        </p:spPr>
        <p:txBody>
          <a:bodyPr lIns="0" tIns="0" rIns="0" bIns="0" rtlCol="0" anchor="t">
            <a:spAutoFit/>
          </a:bodyPr>
          <a:lstStyle/>
          <a:p>
            <a:pPr algn="l">
              <a:lnSpc>
                <a:spcPts val="7845"/>
              </a:lnSpc>
            </a:pPr>
            <a:r>
              <a:rPr lang="en-US" sz="7500" spc="-262">
                <a:solidFill>
                  <a:srgbClr val="F1F7F6"/>
                </a:solidFill>
                <a:latin typeface="Verdana"/>
                <a:ea typeface="Verdana"/>
                <a:cs typeface="Verdana"/>
                <a:sym typeface="Verdana"/>
              </a:rPr>
              <a:t>Four Cortex-A53 cores share one memory path</a:t>
            </a:r>
          </a:p>
        </p:txBody>
      </p:sp>
      <p:sp>
        <p:nvSpPr>
          <p:cNvPr id="6" name="TextBox 6"/>
          <p:cNvSpPr txBox="1"/>
          <p:nvPr/>
        </p:nvSpPr>
        <p:spPr>
          <a:xfrm>
            <a:off x="895350" y="3660077"/>
            <a:ext cx="16023907" cy="382905"/>
          </a:xfrm>
          <a:prstGeom prst="rect">
            <a:avLst/>
          </a:prstGeom>
        </p:spPr>
        <p:txBody>
          <a:bodyPr lIns="0" tIns="0" rIns="0" bIns="0" rtlCol="0" anchor="t">
            <a:spAutoFit/>
          </a:bodyPr>
          <a:lstStyle/>
          <a:p>
            <a:pPr algn="l">
              <a:lnSpc>
                <a:spcPts val="2879"/>
              </a:lnSpc>
            </a:pPr>
            <a:r>
              <a:rPr lang="en-US" sz="2400" spc="-45">
                <a:solidFill>
                  <a:srgbClr val="F1F7F6"/>
                </a:solidFill>
                <a:latin typeface="Verdana"/>
                <a:ea typeface="Verdana"/>
                <a:cs typeface="Verdana"/>
                <a:sym typeface="Verdana"/>
              </a:rPr>
              <a:t>Core 0, Core 1, Core 2, and Core 3 feed a shared L2 cache, system bus, memory controller, and DDR4 memory.</a:t>
            </a:r>
          </a:p>
        </p:txBody>
      </p:sp>
      <p:sp>
        <p:nvSpPr>
          <p:cNvPr id="11" name="TextBox 11"/>
          <p:cNvSpPr txBox="1"/>
          <p:nvPr/>
        </p:nvSpPr>
        <p:spPr>
          <a:xfrm>
            <a:off x="6400800" y="9133094"/>
            <a:ext cx="5486400" cy="259430"/>
          </a:xfrm>
          <a:prstGeom prst="rect">
            <a:avLst/>
          </a:prstGeom>
        </p:spPr>
        <p:txBody>
          <a:bodyPr wrap="square" lIns="0" tIns="0" rIns="0" bIns="0" rtlCol="0" anchor="t">
            <a:spAutoFit/>
          </a:bodyPr>
          <a:lstStyle/>
          <a:p>
            <a:pPr algn="l">
              <a:lnSpc>
                <a:spcPts val="2160"/>
              </a:lnSpc>
            </a:pPr>
            <a:r>
              <a:rPr lang="en-US" sz="1800" dirty="0">
                <a:solidFill>
                  <a:srgbClr val="A9C3C7"/>
                </a:solidFill>
                <a:latin typeface="Verdana"/>
                <a:ea typeface="Verdana"/>
                <a:cs typeface="Verdana"/>
                <a:sym typeface="Verdana"/>
              </a:rPr>
              <a:t>Supplied System Architecture view</a:t>
            </a:r>
          </a:p>
        </p:txBody>
      </p:sp>
      <p:sp>
        <p:nvSpPr>
          <p:cNvPr id="12" name="TextBox 12"/>
          <p:cNvSpPr txBox="1"/>
          <p:nvPr/>
        </p:nvSpPr>
        <p:spPr>
          <a:xfrm>
            <a:off x="17083850" y="9735664"/>
            <a:ext cx="305753"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04</a:t>
            </a:r>
          </a:p>
        </p:txBody>
      </p:sp>
      <p:pic>
        <p:nvPicPr>
          <p:cNvPr id="14" name="Picture 13" descr="The image depicts a multi-core A53 processor with a shared L2 cache, a system bus with various configurations, and a memory controller featuring DDR4 memory options.&#10;&#10;AI-generated content may be incorrect.">
            <a:extLst>
              <a:ext uri="{FF2B5EF4-FFF2-40B4-BE49-F238E27FC236}">
                <a16:creationId xmlns:a16="http://schemas.microsoft.com/office/drawing/2014/main" id="{EEBAE7ED-323F-AD5D-C04F-D4740653BCB0}"/>
              </a:ext>
            </a:extLst>
          </p:cNvPr>
          <p:cNvPicPr>
            <a:picLocks noChangeAspect="1"/>
          </p:cNvPicPr>
          <p:nvPr/>
        </p:nvPicPr>
        <p:blipFill>
          <a:blip r:embed="rId2"/>
          <a:stretch>
            <a:fillRect/>
          </a:stretch>
        </p:blipFill>
        <p:spPr>
          <a:xfrm>
            <a:off x="3723704" y="4561816"/>
            <a:ext cx="9277827" cy="43499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1113473" cy="299723"/>
          </a:xfrm>
          <a:prstGeom prst="rect">
            <a:avLst/>
          </a:prstGeom>
        </p:spPr>
        <p:txBody>
          <a:bodyPr lIns="0" tIns="0" rIns="0" bIns="0" rtlCol="0" anchor="t">
            <a:spAutoFit/>
          </a:bodyPr>
          <a:lstStyle/>
          <a:p>
            <a:pPr algn="l">
              <a:lnSpc>
                <a:spcPts val="2160"/>
              </a:lnSpc>
            </a:pPr>
            <a:r>
              <a:rPr lang="en-US" sz="1800" spc="59">
                <a:solidFill>
                  <a:srgbClr val="A9C3C7"/>
                </a:solidFill>
                <a:latin typeface="Verdana"/>
                <a:ea typeface="Verdana"/>
                <a:cs typeface="Verdana"/>
                <a:sym typeface="Verdana"/>
              </a:rPr>
              <a:t>METHOD</a:t>
            </a:r>
          </a:p>
        </p:txBody>
      </p:sp>
      <p:sp>
        <p:nvSpPr>
          <p:cNvPr id="5" name="TextBox 5" descr="$PPTXTitle"/>
          <p:cNvSpPr txBox="1"/>
          <p:nvPr/>
        </p:nvSpPr>
        <p:spPr>
          <a:xfrm>
            <a:off x="895350" y="1326499"/>
            <a:ext cx="16338232" cy="1957073"/>
          </a:xfrm>
          <a:prstGeom prst="rect">
            <a:avLst/>
          </a:prstGeom>
        </p:spPr>
        <p:txBody>
          <a:bodyPr lIns="0" tIns="0" rIns="0" bIns="0" rtlCol="0" anchor="t">
            <a:spAutoFit/>
          </a:bodyPr>
          <a:lstStyle/>
          <a:p>
            <a:pPr algn="l">
              <a:lnSpc>
                <a:spcPts val="7845"/>
              </a:lnSpc>
            </a:pPr>
            <a:r>
              <a:rPr lang="en-US" sz="7500" spc="-165">
                <a:solidFill>
                  <a:srgbClr val="F1F7F6"/>
                </a:solidFill>
                <a:latin typeface="Verdana"/>
                <a:ea typeface="Verdana"/>
                <a:cs typeface="Verdana"/>
                <a:sym typeface="Verdana"/>
              </a:rPr>
              <a:t>VisualSim turns architecture choices into measurable evidence</a:t>
            </a:r>
          </a:p>
        </p:txBody>
      </p:sp>
      <p:sp>
        <p:nvSpPr>
          <p:cNvPr id="6" name="TextBox 6"/>
          <p:cNvSpPr txBox="1"/>
          <p:nvPr/>
        </p:nvSpPr>
        <p:spPr>
          <a:xfrm>
            <a:off x="1424330" y="3608765"/>
            <a:ext cx="5439728" cy="3041018"/>
          </a:xfrm>
          <a:prstGeom prst="rect">
            <a:avLst/>
          </a:prstGeom>
        </p:spPr>
        <p:txBody>
          <a:bodyPr lIns="0" tIns="0" rIns="0" bIns="0" rtlCol="0" anchor="t">
            <a:spAutoFit/>
          </a:bodyPr>
          <a:lstStyle/>
          <a:p>
            <a:pPr algn="l">
              <a:lnSpc>
                <a:spcPts val="3240"/>
              </a:lnSpc>
            </a:pPr>
            <a:r>
              <a:rPr lang="en-US" sz="2700" spc="-15">
                <a:solidFill>
                  <a:srgbClr val="F1F7F6"/>
                </a:solidFill>
                <a:latin typeface="Verdana"/>
                <a:ea typeface="Verdana"/>
                <a:cs typeface="Verdana"/>
                <a:sym typeface="Verdana"/>
              </a:rPr>
              <a:t>Configure the architecture.</a:t>
            </a:r>
          </a:p>
          <a:p>
            <a:pPr algn="l">
              <a:lnSpc>
                <a:spcPts val="3240"/>
              </a:lnSpc>
            </a:pPr>
            <a:endParaRPr lang="en-US" sz="2700" spc="-15">
              <a:solidFill>
                <a:srgbClr val="F1F7F6"/>
              </a:solidFill>
              <a:latin typeface="Verdana"/>
              <a:ea typeface="Verdana"/>
              <a:cs typeface="Verdana"/>
              <a:sym typeface="Verdana"/>
            </a:endParaRPr>
          </a:p>
          <a:p>
            <a:pPr algn="l">
              <a:lnSpc>
                <a:spcPts val="3240"/>
              </a:lnSpc>
            </a:pPr>
            <a:endParaRPr lang="en-US" sz="2700" spc="-15">
              <a:solidFill>
                <a:srgbClr val="F1F7F6"/>
              </a:solidFill>
              <a:latin typeface="Verdana"/>
              <a:ea typeface="Verdana"/>
              <a:cs typeface="Verdana"/>
              <a:sym typeface="Verdana"/>
            </a:endParaRPr>
          </a:p>
          <a:p>
            <a:pPr algn="l">
              <a:lnSpc>
                <a:spcPts val="3240"/>
              </a:lnSpc>
            </a:pPr>
            <a:r>
              <a:rPr lang="en-US" sz="2700" spc="-15">
                <a:solidFill>
                  <a:srgbClr val="F1F7F6"/>
                </a:solidFill>
                <a:latin typeface="Verdana"/>
                <a:ea typeface="Verdana"/>
                <a:cs typeface="Verdana"/>
                <a:sym typeface="Verdana"/>
              </a:rPr>
              <a:t>Run the simulation.</a:t>
            </a:r>
          </a:p>
          <a:p>
            <a:pPr algn="l">
              <a:lnSpc>
                <a:spcPts val="3240"/>
              </a:lnSpc>
            </a:pPr>
            <a:endParaRPr lang="en-US" sz="2700" spc="-15">
              <a:solidFill>
                <a:srgbClr val="F1F7F6"/>
              </a:solidFill>
              <a:latin typeface="Verdana"/>
              <a:ea typeface="Verdana"/>
              <a:cs typeface="Verdana"/>
              <a:sym typeface="Verdana"/>
            </a:endParaRPr>
          </a:p>
          <a:p>
            <a:pPr algn="l">
              <a:lnSpc>
                <a:spcPts val="3240"/>
              </a:lnSpc>
            </a:pPr>
            <a:endParaRPr lang="en-US" sz="2700" spc="-15">
              <a:solidFill>
                <a:srgbClr val="F1F7F6"/>
              </a:solidFill>
              <a:latin typeface="Verdana"/>
              <a:ea typeface="Verdana"/>
              <a:cs typeface="Verdana"/>
              <a:sym typeface="Verdana"/>
            </a:endParaRPr>
          </a:p>
          <a:p>
            <a:pPr algn="l">
              <a:lnSpc>
                <a:spcPts val="3240"/>
              </a:lnSpc>
            </a:pPr>
            <a:r>
              <a:rPr lang="en-US" sz="2700" spc="-37">
                <a:solidFill>
                  <a:srgbClr val="F1F7F6"/>
                </a:solidFill>
                <a:latin typeface="Verdana"/>
                <a:ea typeface="Verdana"/>
                <a:cs typeface="Verdana"/>
                <a:sym typeface="Verdana"/>
              </a:rPr>
              <a:t>Generate Architecture Statistics.</a:t>
            </a:r>
          </a:p>
        </p:txBody>
      </p:sp>
      <p:sp>
        <p:nvSpPr>
          <p:cNvPr id="7" name="TextBox 7"/>
          <p:cNvSpPr txBox="1"/>
          <p:nvPr/>
        </p:nvSpPr>
        <p:spPr>
          <a:xfrm>
            <a:off x="1473251" y="7539609"/>
            <a:ext cx="4782503" cy="809625"/>
          </a:xfrm>
          <a:prstGeom prst="rect">
            <a:avLst/>
          </a:prstGeom>
        </p:spPr>
        <p:txBody>
          <a:bodyPr lIns="0" tIns="0" rIns="0" bIns="0" rtlCol="0" anchor="t">
            <a:spAutoFit/>
          </a:bodyPr>
          <a:lstStyle/>
          <a:p>
            <a:pPr algn="l">
              <a:lnSpc>
                <a:spcPts val="3134"/>
              </a:lnSpc>
            </a:pPr>
            <a:r>
              <a:rPr lang="en-US" sz="2700" spc="-15">
                <a:solidFill>
                  <a:srgbClr val="F1F7F6"/>
                </a:solidFill>
                <a:latin typeface="Verdana"/>
                <a:ea typeface="Verdana"/>
                <a:cs typeface="Verdana"/>
                <a:sym typeface="Verdana"/>
              </a:rPr>
              <a:t>Extract metrics and compare configurations.</a:t>
            </a:r>
          </a:p>
        </p:txBody>
      </p:sp>
      <p:sp>
        <p:nvSpPr>
          <p:cNvPr id="10" name="TextBox 10"/>
          <p:cNvSpPr txBox="1"/>
          <p:nvPr/>
        </p:nvSpPr>
        <p:spPr>
          <a:xfrm>
            <a:off x="9677400" y="9322359"/>
            <a:ext cx="6248400" cy="259430"/>
          </a:xfrm>
          <a:prstGeom prst="rect">
            <a:avLst/>
          </a:prstGeom>
        </p:spPr>
        <p:txBody>
          <a:bodyPr wrap="square" lIns="0" tIns="0" rIns="0" bIns="0" rtlCol="0" anchor="t">
            <a:spAutoFit/>
          </a:bodyPr>
          <a:lstStyle/>
          <a:p>
            <a:pPr algn="l">
              <a:lnSpc>
                <a:spcPts val="2160"/>
              </a:lnSpc>
            </a:pPr>
            <a:r>
              <a:rPr lang="en-US" sz="1800" dirty="0">
                <a:solidFill>
                  <a:srgbClr val="A9C3C7"/>
                </a:solidFill>
                <a:latin typeface="Verdana"/>
                <a:ea typeface="Verdana"/>
                <a:cs typeface="Verdana"/>
                <a:sym typeface="Verdana"/>
              </a:rPr>
              <a:t>Actual </a:t>
            </a:r>
            <a:r>
              <a:rPr lang="en-US" sz="1800" dirty="0" err="1">
                <a:solidFill>
                  <a:srgbClr val="A9C3C7"/>
                </a:solidFill>
                <a:latin typeface="Verdana"/>
                <a:ea typeface="Verdana"/>
                <a:cs typeface="Verdana"/>
                <a:sym typeface="Verdana"/>
              </a:rPr>
              <a:t>VisualSim</a:t>
            </a:r>
            <a:r>
              <a:rPr lang="en-US" sz="1800" dirty="0">
                <a:solidFill>
                  <a:srgbClr val="A9C3C7"/>
                </a:solidFill>
                <a:latin typeface="Verdana"/>
                <a:ea typeface="Verdana"/>
                <a:cs typeface="Verdana"/>
                <a:sym typeface="Verdana"/>
              </a:rPr>
              <a:t> model used for the study</a:t>
            </a:r>
          </a:p>
        </p:txBody>
      </p:sp>
      <p:sp>
        <p:nvSpPr>
          <p:cNvPr id="11" name="TextBox 11"/>
          <p:cNvSpPr txBox="1"/>
          <p:nvPr/>
        </p:nvSpPr>
        <p:spPr>
          <a:xfrm>
            <a:off x="895350" y="9064495"/>
            <a:ext cx="3016567" cy="299723"/>
          </a:xfrm>
          <a:prstGeom prst="rect">
            <a:avLst/>
          </a:prstGeom>
        </p:spPr>
        <p:txBody>
          <a:bodyPr lIns="0" tIns="0" rIns="0" bIns="0" rtlCol="0" anchor="t">
            <a:spAutoFit/>
          </a:bodyPr>
          <a:lstStyle/>
          <a:p>
            <a:pPr algn="l">
              <a:lnSpc>
                <a:spcPts val="2160"/>
              </a:lnSpc>
            </a:pPr>
            <a:r>
              <a:rPr lang="en-US" sz="1800" spc="-37">
                <a:solidFill>
                  <a:srgbClr val="A9C3C7"/>
                </a:solidFill>
                <a:latin typeface="Verdana"/>
                <a:ea typeface="Verdana"/>
                <a:cs typeface="Verdana"/>
                <a:sym typeface="Verdana"/>
              </a:rPr>
              <a:t>Simulation duration: 2 ms.</a:t>
            </a:r>
          </a:p>
        </p:txBody>
      </p:sp>
      <p:sp>
        <p:nvSpPr>
          <p:cNvPr id="12" name="TextBox 12"/>
          <p:cNvSpPr txBox="1"/>
          <p:nvPr/>
        </p:nvSpPr>
        <p:spPr>
          <a:xfrm>
            <a:off x="17088422" y="9735664"/>
            <a:ext cx="301942"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05</a:t>
            </a:r>
          </a:p>
        </p:txBody>
      </p:sp>
      <p:pic>
        <p:nvPicPr>
          <p:cNvPr id="14" name="Picture 13" descr="The image displays a complex digital simulation setup for an ARM8 processor, including various components such as processor speed, local bus, power table, and memory controller, along with multiple ports and tasks for testing different functionalities like inlining, loop execution, and data parallel processing.&#10;&#10;AI-generated content may be incorrect.">
            <a:extLst>
              <a:ext uri="{FF2B5EF4-FFF2-40B4-BE49-F238E27FC236}">
                <a16:creationId xmlns:a16="http://schemas.microsoft.com/office/drawing/2014/main" id="{E78FF769-4B1B-B554-DE83-18C228FFD84F}"/>
              </a:ext>
            </a:extLst>
          </p:cNvPr>
          <p:cNvPicPr>
            <a:picLocks noChangeAspect="1"/>
          </p:cNvPicPr>
          <p:nvPr/>
        </p:nvPicPr>
        <p:blipFill>
          <a:blip r:embed="rId2"/>
          <a:stretch>
            <a:fillRect/>
          </a:stretch>
        </p:blipFill>
        <p:spPr>
          <a:xfrm>
            <a:off x="6553200" y="3433573"/>
            <a:ext cx="10535222" cy="56454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2726055" cy="299723"/>
          </a:xfrm>
          <a:prstGeom prst="rect">
            <a:avLst/>
          </a:prstGeom>
        </p:spPr>
        <p:txBody>
          <a:bodyPr lIns="0" tIns="0" rIns="0" bIns="0" rtlCol="0" anchor="t">
            <a:spAutoFit/>
          </a:bodyPr>
          <a:lstStyle/>
          <a:p>
            <a:pPr algn="l">
              <a:lnSpc>
                <a:spcPts val="2160"/>
              </a:lnSpc>
            </a:pPr>
            <a:r>
              <a:rPr lang="en-US" sz="1800" spc="75">
                <a:solidFill>
                  <a:srgbClr val="A9C3C7"/>
                </a:solidFill>
                <a:latin typeface="Verdana"/>
                <a:ea typeface="Verdana"/>
                <a:cs typeface="Verdana"/>
                <a:sym typeface="Verdana"/>
              </a:rPr>
              <a:t>EXPLORATION SPACE</a:t>
            </a:r>
          </a:p>
        </p:txBody>
      </p:sp>
      <p:sp>
        <p:nvSpPr>
          <p:cNvPr id="5" name="TextBox 5" descr="$PPTXTitle"/>
          <p:cNvSpPr txBox="1"/>
          <p:nvPr/>
        </p:nvSpPr>
        <p:spPr>
          <a:xfrm>
            <a:off x="895350" y="1326499"/>
            <a:ext cx="12865418" cy="1957073"/>
          </a:xfrm>
          <a:prstGeom prst="rect">
            <a:avLst/>
          </a:prstGeom>
        </p:spPr>
        <p:txBody>
          <a:bodyPr lIns="0" tIns="0" rIns="0" bIns="0" rtlCol="0" anchor="t">
            <a:spAutoFit/>
          </a:bodyPr>
          <a:lstStyle/>
          <a:p>
            <a:pPr algn="l">
              <a:lnSpc>
                <a:spcPts val="7845"/>
              </a:lnSpc>
            </a:pPr>
            <a:r>
              <a:rPr lang="en-US" sz="7500" spc="-171">
                <a:solidFill>
                  <a:srgbClr val="F1F7F6"/>
                </a:solidFill>
                <a:latin typeface="Verdana"/>
                <a:ea typeface="Verdana"/>
                <a:cs typeface="Verdana"/>
                <a:sym typeface="Verdana"/>
              </a:rPr>
              <a:t>Three design axes define the exploration space</a:t>
            </a:r>
          </a:p>
        </p:txBody>
      </p:sp>
      <p:graphicFrame>
        <p:nvGraphicFramePr>
          <p:cNvPr id="6" name="Table 6"/>
          <p:cNvGraphicFramePr>
            <a:graphicFrameLocks noGrp="1"/>
          </p:cNvGraphicFramePr>
          <p:nvPr/>
        </p:nvGraphicFramePr>
        <p:xfrm>
          <a:off x="904856" y="3616450"/>
          <a:ext cx="16440150" cy="4076701"/>
        </p:xfrm>
        <a:graphic>
          <a:graphicData uri="http://schemas.openxmlformats.org/drawingml/2006/table">
            <a:tbl>
              <a:tblPr/>
              <a:tblGrid>
                <a:gridCol w="4619797">
                  <a:extLst>
                    <a:ext uri="{9D8B030D-6E8A-4147-A177-3AD203B41FA5}">
                      <a16:colId xmlns:a16="http://schemas.microsoft.com/office/drawing/2014/main" val="20000"/>
                    </a:ext>
                  </a:extLst>
                </a:gridCol>
                <a:gridCol w="11820353">
                  <a:extLst>
                    <a:ext uri="{9D8B030D-6E8A-4147-A177-3AD203B41FA5}">
                      <a16:colId xmlns:a16="http://schemas.microsoft.com/office/drawing/2014/main" val="20001"/>
                    </a:ext>
                  </a:extLst>
                </a:gridCol>
              </a:tblGrid>
              <a:tr h="818976">
                <a:tc>
                  <a:txBody>
                    <a:bodyPr/>
                    <a:lstStyle/>
                    <a:p>
                      <a:pPr algn="l">
                        <a:lnSpc>
                          <a:spcPts val="2879"/>
                        </a:lnSpc>
                        <a:defRPr/>
                      </a:pPr>
                      <a:r>
                        <a:rPr lang="en-US" sz="2400" spc="120">
                          <a:solidFill>
                            <a:srgbClr val="F1F7F6"/>
                          </a:solidFill>
                          <a:latin typeface="Verdana"/>
                          <a:ea typeface="Verdana"/>
                          <a:cs typeface="Verdana"/>
                          <a:sym typeface="Verdana"/>
                        </a:rPr>
                        <a:t>PARAMETER</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070F17"/>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90">
                          <a:solidFill>
                            <a:srgbClr val="F1F7F6"/>
                          </a:solidFill>
                          <a:latin typeface="Verdana"/>
                          <a:ea typeface="Verdana"/>
                          <a:cs typeface="Verdana"/>
                          <a:sym typeface="Verdana"/>
                        </a:rPr>
                        <a:t>CONFIGURATIONS</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070F17"/>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0"/>
                  </a:ext>
                </a:extLst>
              </a:tr>
              <a:tr h="818976">
                <a:tc>
                  <a:txBody>
                    <a:bodyPr/>
                    <a:lstStyle/>
                    <a:p>
                      <a:pPr algn="l">
                        <a:lnSpc>
                          <a:spcPts val="2879"/>
                        </a:lnSpc>
                        <a:defRPr/>
                      </a:pPr>
                      <a:r>
                        <a:rPr lang="en-US" sz="2400" spc="-15">
                          <a:solidFill>
                            <a:srgbClr val="F1F7F6"/>
                          </a:solidFill>
                          <a:latin typeface="Verdana"/>
                          <a:ea typeface="Verdana"/>
                          <a:cs typeface="Verdana"/>
                          <a:sym typeface="Verdana"/>
                        </a:rPr>
                        <a:t>L2 cache</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75">
                          <a:solidFill>
                            <a:srgbClr val="F1F7F6"/>
                          </a:solidFill>
                          <a:latin typeface="Verdana"/>
                          <a:ea typeface="Verdana"/>
                          <a:cs typeface="Verdana"/>
                          <a:sym typeface="Verdana"/>
                        </a:rPr>
                        <a:t>256 KB, 1 MB, 2 MB</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1"/>
                  </a:ext>
                </a:extLst>
              </a:tr>
              <a:tr h="818976">
                <a:tc>
                  <a:txBody>
                    <a:bodyPr/>
                    <a:lstStyle/>
                    <a:p>
                      <a:pPr algn="l">
                        <a:lnSpc>
                          <a:spcPts val="2879"/>
                        </a:lnSpc>
                        <a:defRPr/>
                      </a:pPr>
                      <a:r>
                        <a:rPr lang="en-US" sz="2400" spc="-82">
                          <a:solidFill>
                            <a:srgbClr val="F1F7F6"/>
                          </a:solidFill>
                          <a:latin typeface="Verdana"/>
                          <a:ea typeface="Verdana"/>
                          <a:cs typeface="Verdana"/>
                          <a:sym typeface="Verdana"/>
                        </a:rPr>
                        <a:t>System bus</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45">
                          <a:solidFill>
                            <a:srgbClr val="F1F7F6"/>
                          </a:solidFill>
                          <a:latin typeface="Verdana"/>
                          <a:ea typeface="Verdana"/>
                          <a:cs typeface="Verdana"/>
                          <a:sym typeface="Verdana"/>
                        </a:rPr>
                        <a:t>64-bit, 128-bit, 256-bit</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2"/>
                  </a:ext>
                </a:extLst>
              </a:tr>
              <a:tr h="818976">
                <a:tc>
                  <a:txBody>
                    <a:bodyPr/>
                    <a:lstStyle/>
                    <a:p>
                      <a:pPr algn="l">
                        <a:lnSpc>
                          <a:spcPts val="2879"/>
                        </a:lnSpc>
                        <a:defRPr/>
                      </a:pPr>
                      <a:r>
                        <a:rPr lang="en-US" sz="2400" spc="-30">
                          <a:solidFill>
                            <a:srgbClr val="F1F7F6"/>
                          </a:solidFill>
                          <a:latin typeface="Verdana"/>
                          <a:ea typeface="Verdana"/>
                          <a:cs typeface="Verdana"/>
                          <a:sym typeface="Verdana"/>
                        </a:rPr>
                        <a:t>DDR4</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52">
                          <a:solidFill>
                            <a:srgbClr val="F1F7F6"/>
                          </a:solidFill>
                          <a:latin typeface="Verdana"/>
                          <a:ea typeface="Verdana"/>
                          <a:cs typeface="Verdana"/>
                          <a:sym typeface="Verdana"/>
                        </a:rPr>
                        <a:t>3200 MHz, 4266 MHz</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3"/>
                  </a:ext>
                </a:extLst>
              </a:tr>
              <a:tr h="800797">
                <a:tc>
                  <a:txBody>
                    <a:bodyPr/>
                    <a:lstStyle/>
                    <a:p>
                      <a:pPr algn="l">
                        <a:lnSpc>
                          <a:spcPts val="2879"/>
                        </a:lnSpc>
                        <a:defRPr/>
                      </a:pPr>
                      <a:r>
                        <a:rPr lang="en-US" sz="2400" spc="-60">
                          <a:solidFill>
                            <a:srgbClr val="F1F7F6"/>
                          </a:solidFill>
                          <a:latin typeface="Verdana"/>
                          <a:ea typeface="Verdana"/>
                          <a:cs typeface="Verdana"/>
                          <a:sym typeface="Verdana"/>
                        </a:rPr>
                        <a:t>Simulation time</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070F17"/>
                      </a:solidFill>
                      <a:prstDash val="solid"/>
                      <a:round/>
                      <a:headEnd type="none" w="med" len="med"/>
                      <a:tailEnd type="none" w="med" len="med"/>
                    </a:lnB>
                  </a:tcPr>
                </a:tc>
                <a:tc>
                  <a:txBody>
                    <a:bodyPr/>
                    <a:lstStyle/>
                    <a:p>
                      <a:pPr algn="l">
                        <a:lnSpc>
                          <a:spcPts val="2879"/>
                        </a:lnSpc>
                        <a:defRPr/>
                      </a:pPr>
                      <a:r>
                        <a:rPr lang="en-US" sz="2400" spc="-37">
                          <a:solidFill>
                            <a:srgbClr val="F1F7F6"/>
                          </a:solidFill>
                          <a:latin typeface="Verdana"/>
                          <a:ea typeface="Verdana"/>
                          <a:cs typeface="Verdana"/>
                          <a:sym typeface="Verdana"/>
                        </a:rPr>
                        <a:t>2 ms</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070F1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Box 7"/>
          <p:cNvSpPr txBox="1"/>
          <p:nvPr/>
        </p:nvSpPr>
        <p:spPr>
          <a:xfrm>
            <a:off x="17079277" y="9735664"/>
            <a:ext cx="313372"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3438525" cy="299723"/>
          </a:xfrm>
          <a:prstGeom prst="rect">
            <a:avLst/>
          </a:prstGeom>
        </p:spPr>
        <p:txBody>
          <a:bodyPr lIns="0" tIns="0" rIns="0" bIns="0" rtlCol="0" anchor="t">
            <a:spAutoFit/>
          </a:bodyPr>
          <a:lstStyle/>
          <a:p>
            <a:pPr algn="l">
              <a:lnSpc>
                <a:spcPts val="2160"/>
              </a:lnSpc>
            </a:pPr>
            <a:r>
              <a:rPr lang="en-US" sz="1800">
                <a:solidFill>
                  <a:srgbClr val="A9C3C7"/>
                </a:solidFill>
                <a:latin typeface="Verdana"/>
                <a:ea typeface="Verdana"/>
                <a:cs typeface="Verdana"/>
                <a:sym typeface="Verdana"/>
              </a:rPr>
              <a:t>ARCHITECTURE  STATISTICS</a:t>
            </a:r>
          </a:p>
        </p:txBody>
      </p:sp>
      <p:sp>
        <p:nvSpPr>
          <p:cNvPr id="5" name="TextBox 5" descr="$PPTXTitle"/>
          <p:cNvSpPr txBox="1"/>
          <p:nvPr/>
        </p:nvSpPr>
        <p:spPr>
          <a:xfrm>
            <a:off x="895350" y="1326499"/>
            <a:ext cx="14842807" cy="1957073"/>
          </a:xfrm>
          <a:prstGeom prst="rect">
            <a:avLst/>
          </a:prstGeom>
        </p:spPr>
        <p:txBody>
          <a:bodyPr lIns="0" tIns="0" rIns="0" bIns="0" rtlCol="0" anchor="t">
            <a:spAutoFit/>
          </a:bodyPr>
          <a:lstStyle/>
          <a:p>
            <a:pPr algn="l">
              <a:lnSpc>
                <a:spcPts val="7845"/>
              </a:lnSpc>
            </a:pPr>
            <a:r>
              <a:rPr lang="en-US" sz="7500" spc="-240">
                <a:solidFill>
                  <a:srgbClr val="F1F7F6"/>
                </a:solidFill>
                <a:latin typeface="Verdana"/>
                <a:ea typeface="Verdana"/>
                <a:cs typeface="Verdana"/>
                <a:sym typeface="Verdana"/>
              </a:rPr>
              <a:t>Metrics connect local behavior to system impact</a:t>
            </a:r>
          </a:p>
        </p:txBody>
      </p:sp>
      <p:grpSp>
        <p:nvGrpSpPr>
          <p:cNvPr id="6" name="Group 6"/>
          <p:cNvGrpSpPr/>
          <p:nvPr/>
        </p:nvGrpSpPr>
        <p:grpSpPr>
          <a:xfrm>
            <a:off x="914400" y="3643884"/>
            <a:ext cx="5180647" cy="5148262"/>
            <a:chOff x="0" y="0"/>
            <a:chExt cx="6907530" cy="6864350"/>
          </a:xfrm>
        </p:grpSpPr>
        <p:sp>
          <p:nvSpPr>
            <p:cNvPr id="7" name="Freeform 7"/>
            <p:cNvSpPr/>
            <p:nvPr/>
          </p:nvSpPr>
          <p:spPr>
            <a:xfrm>
              <a:off x="0" y="0"/>
              <a:ext cx="6907530" cy="6864350"/>
            </a:xfrm>
            <a:custGeom>
              <a:avLst/>
              <a:gdLst/>
              <a:ahLst/>
              <a:cxnLst/>
              <a:rect l="l" t="t" r="r" b="b"/>
              <a:pathLst>
                <a:path w="6907530" h="6864350">
                  <a:moveTo>
                    <a:pt x="0" y="0"/>
                  </a:moveTo>
                  <a:lnTo>
                    <a:pt x="6907530" y="0"/>
                  </a:lnTo>
                  <a:lnTo>
                    <a:pt x="6907530" y="6864350"/>
                  </a:lnTo>
                  <a:lnTo>
                    <a:pt x="0" y="6864350"/>
                  </a:lnTo>
                  <a:close/>
                </a:path>
              </a:pathLst>
            </a:custGeom>
            <a:solidFill>
              <a:srgbClr val="DDEBED"/>
            </a:solidFill>
          </p:spPr>
        </p:sp>
        <p:sp>
          <p:nvSpPr>
            <p:cNvPr id="8" name="TextBox 8"/>
            <p:cNvSpPr txBox="1"/>
            <p:nvPr/>
          </p:nvSpPr>
          <p:spPr>
            <a:xfrm>
              <a:off x="0" y="9525"/>
              <a:ext cx="6907530" cy="6854825"/>
            </a:xfrm>
            <a:prstGeom prst="rect">
              <a:avLst/>
            </a:prstGeom>
          </p:spPr>
          <p:txBody>
            <a:bodyPr lIns="50800" tIns="50800" rIns="50800" bIns="50800" rtlCol="0" anchor="t"/>
            <a:lstStyle/>
            <a:p>
              <a:pPr algn="l">
                <a:lnSpc>
                  <a:spcPts val="2879"/>
                </a:lnSpc>
              </a:pPr>
              <a:endParaRPr/>
            </a:p>
            <a:p>
              <a:pPr algn="l">
                <a:lnSpc>
                  <a:spcPts val="2160"/>
                </a:lnSpc>
              </a:pPr>
              <a:r>
                <a:rPr lang="en-US" sz="1800" spc="-37">
                  <a:solidFill>
                    <a:srgbClr val="000000"/>
                  </a:solidFill>
                  <a:latin typeface="Verdana"/>
                  <a:ea typeface="Verdana"/>
                  <a:cs typeface="Verdana"/>
                  <a:sym typeface="Verdana"/>
                </a:rPr>
                <a:t>L2</a:t>
              </a:r>
            </a:p>
            <a:p>
              <a:pPr algn="l">
                <a:lnSpc>
                  <a:spcPts val="4320"/>
                </a:lnSpc>
              </a:pPr>
              <a:r>
                <a:rPr lang="en-US" sz="3600" spc="-15">
                  <a:solidFill>
                    <a:srgbClr val="000000"/>
                  </a:solidFill>
                  <a:latin typeface="Verdana"/>
                  <a:ea typeface="Verdana"/>
                  <a:cs typeface="Verdana"/>
                  <a:sym typeface="Verdana"/>
                </a:rPr>
                <a:t>Cache behavior</a:t>
              </a:r>
            </a:p>
            <a:p>
              <a:pPr algn="l">
                <a:lnSpc>
                  <a:spcPts val="2879"/>
                </a:lnSpc>
              </a:pPr>
              <a:r>
                <a:rPr lang="en-US" sz="2400" spc="-15">
                  <a:solidFill>
                    <a:srgbClr val="000000"/>
                  </a:solidFill>
                  <a:latin typeface="Verdana"/>
                  <a:ea typeface="Verdana"/>
                  <a:cs typeface="Verdana"/>
                  <a:sym typeface="Verdana"/>
                </a:rPr>
                <a:t>Hit/miss ratio, latency,</a:t>
              </a:r>
            </a:p>
            <a:p>
              <a:pPr algn="l">
                <a:lnSpc>
                  <a:spcPts val="2879"/>
                </a:lnSpc>
              </a:pPr>
              <a:r>
                <a:rPr lang="en-US" sz="2400" spc="-15">
                  <a:solidFill>
                    <a:srgbClr val="000000"/>
                  </a:solidFill>
                  <a:latin typeface="Verdana"/>
                  <a:ea typeface="Verdana"/>
                  <a:cs typeface="Verdana"/>
                  <a:sym typeface="Verdana"/>
                </a:rPr>
                <a:t>throughput, utilization.</a:t>
              </a:r>
            </a:p>
          </p:txBody>
        </p:sp>
      </p:grpSp>
      <p:grpSp>
        <p:nvGrpSpPr>
          <p:cNvPr id="9" name="Group 9"/>
          <p:cNvGrpSpPr/>
          <p:nvPr/>
        </p:nvGrpSpPr>
        <p:grpSpPr>
          <a:xfrm>
            <a:off x="6551676" y="3643884"/>
            <a:ext cx="5185410" cy="5148262"/>
            <a:chOff x="0" y="0"/>
            <a:chExt cx="6913880" cy="6864350"/>
          </a:xfrm>
        </p:grpSpPr>
        <p:sp>
          <p:nvSpPr>
            <p:cNvPr id="10" name="Freeform 10"/>
            <p:cNvSpPr/>
            <p:nvPr/>
          </p:nvSpPr>
          <p:spPr>
            <a:xfrm>
              <a:off x="0" y="0"/>
              <a:ext cx="6913880" cy="6864350"/>
            </a:xfrm>
            <a:custGeom>
              <a:avLst/>
              <a:gdLst/>
              <a:ahLst/>
              <a:cxnLst/>
              <a:rect l="l" t="t" r="r" b="b"/>
              <a:pathLst>
                <a:path w="6913880" h="6864350">
                  <a:moveTo>
                    <a:pt x="0" y="0"/>
                  </a:moveTo>
                  <a:lnTo>
                    <a:pt x="6913880" y="0"/>
                  </a:lnTo>
                  <a:lnTo>
                    <a:pt x="6913880" y="6864350"/>
                  </a:lnTo>
                  <a:lnTo>
                    <a:pt x="0" y="6864350"/>
                  </a:lnTo>
                  <a:close/>
                </a:path>
              </a:pathLst>
            </a:custGeom>
            <a:solidFill>
              <a:srgbClr val="F1F7F6"/>
            </a:solidFill>
          </p:spPr>
        </p:sp>
        <p:sp>
          <p:nvSpPr>
            <p:cNvPr id="11" name="TextBox 11"/>
            <p:cNvSpPr txBox="1"/>
            <p:nvPr/>
          </p:nvSpPr>
          <p:spPr>
            <a:xfrm>
              <a:off x="0" y="9525"/>
              <a:ext cx="6913880" cy="6854825"/>
            </a:xfrm>
            <a:prstGeom prst="rect">
              <a:avLst/>
            </a:prstGeom>
          </p:spPr>
          <p:txBody>
            <a:bodyPr lIns="50800" tIns="50800" rIns="50800" bIns="50800" rtlCol="0" anchor="t"/>
            <a:lstStyle/>
            <a:p>
              <a:pPr algn="l">
                <a:lnSpc>
                  <a:spcPts val="2879"/>
                </a:lnSpc>
              </a:pPr>
              <a:endParaRPr/>
            </a:p>
            <a:p>
              <a:pPr algn="l">
                <a:lnSpc>
                  <a:spcPts val="2160"/>
                </a:lnSpc>
              </a:pPr>
              <a:r>
                <a:rPr lang="en-US" sz="1800" spc="-11">
                  <a:solidFill>
                    <a:srgbClr val="000000"/>
                  </a:solidFill>
                  <a:latin typeface="Verdana"/>
                  <a:ea typeface="Verdana"/>
                  <a:cs typeface="Verdana"/>
                  <a:sym typeface="Verdana"/>
                </a:rPr>
                <a:t>SYSTEM BUS</a:t>
              </a:r>
            </a:p>
            <a:p>
              <a:pPr algn="l">
                <a:lnSpc>
                  <a:spcPts val="4169"/>
                </a:lnSpc>
              </a:pPr>
              <a:r>
                <a:rPr lang="en-US" sz="3600" spc="-74">
                  <a:solidFill>
                    <a:srgbClr val="000000"/>
                  </a:solidFill>
                  <a:latin typeface="Verdana"/>
                  <a:ea typeface="Verdana"/>
                  <a:cs typeface="Verdana"/>
                  <a:sym typeface="Verdana"/>
                </a:rPr>
                <a:t>Interconnect pressure</a:t>
              </a:r>
            </a:p>
            <a:p>
              <a:pPr algn="l">
                <a:lnSpc>
                  <a:spcPts val="2879"/>
                </a:lnSpc>
              </a:pPr>
              <a:r>
                <a:rPr lang="en-US" sz="2400" spc="-120">
                  <a:solidFill>
                    <a:srgbClr val="000000"/>
                  </a:solidFill>
                  <a:latin typeface="Verdana"/>
                  <a:ea typeface="Verdana"/>
                  <a:cs typeface="Verdana"/>
                  <a:sym typeface="Verdana"/>
                </a:rPr>
                <a:t>Mean, maximum, and</a:t>
              </a:r>
            </a:p>
            <a:p>
              <a:pPr algn="l">
                <a:lnSpc>
                  <a:spcPts val="2879"/>
                </a:lnSpc>
              </a:pPr>
              <a:r>
                <a:rPr lang="en-US" sz="2400" spc="-15">
                  <a:solidFill>
                    <a:srgbClr val="000000"/>
                  </a:solidFill>
                  <a:latin typeface="Verdana"/>
                  <a:ea typeface="Verdana"/>
                  <a:cs typeface="Verdana"/>
                  <a:sym typeface="Verdana"/>
                </a:rPr>
                <a:t>minimum utilization.</a:t>
              </a:r>
            </a:p>
          </p:txBody>
        </p:sp>
      </p:grpSp>
      <p:grpSp>
        <p:nvGrpSpPr>
          <p:cNvPr id="12" name="Group 12"/>
          <p:cNvGrpSpPr/>
          <p:nvPr/>
        </p:nvGrpSpPr>
        <p:grpSpPr>
          <a:xfrm>
            <a:off x="12193524" y="3643884"/>
            <a:ext cx="5180647" cy="5148262"/>
            <a:chOff x="0" y="0"/>
            <a:chExt cx="6907530" cy="6864350"/>
          </a:xfrm>
        </p:grpSpPr>
        <p:sp>
          <p:nvSpPr>
            <p:cNvPr id="13" name="Freeform 13"/>
            <p:cNvSpPr/>
            <p:nvPr/>
          </p:nvSpPr>
          <p:spPr>
            <a:xfrm>
              <a:off x="0" y="0"/>
              <a:ext cx="6907530" cy="6864350"/>
            </a:xfrm>
            <a:custGeom>
              <a:avLst/>
              <a:gdLst/>
              <a:ahLst/>
              <a:cxnLst/>
              <a:rect l="l" t="t" r="r" b="b"/>
              <a:pathLst>
                <a:path w="6907530" h="6864350">
                  <a:moveTo>
                    <a:pt x="0" y="0"/>
                  </a:moveTo>
                  <a:lnTo>
                    <a:pt x="6907530" y="0"/>
                  </a:lnTo>
                  <a:lnTo>
                    <a:pt x="6907530" y="6864350"/>
                  </a:lnTo>
                  <a:lnTo>
                    <a:pt x="0" y="6864350"/>
                  </a:lnTo>
                  <a:close/>
                </a:path>
              </a:pathLst>
            </a:custGeom>
            <a:solidFill>
              <a:srgbClr val="62D9F1"/>
            </a:solidFill>
          </p:spPr>
        </p:sp>
        <p:sp>
          <p:nvSpPr>
            <p:cNvPr id="14" name="TextBox 14"/>
            <p:cNvSpPr txBox="1"/>
            <p:nvPr/>
          </p:nvSpPr>
          <p:spPr>
            <a:xfrm>
              <a:off x="0" y="9525"/>
              <a:ext cx="6907530" cy="6854825"/>
            </a:xfrm>
            <a:prstGeom prst="rect">
              <a:avLst/>
            </a:prstGeom>
          </p:spPr>
          <p:txBody>
            <a:bodyPr lIns="50800" tIns="50800" rIns="50800" bIns="50800" rtlCol="0" anchor="t"/>
            <a:lstStyle/>
            <a:p>
              <a:pPr algn="l">
                <a:lnSpc>
                  <a:spcPts val="2879"/>
                </a:lnSpc>
              </a:pPr>
              <a:endParaRPr/>
            </a:p>
            <a:p>
              <a:pPr algn="l">
                <a:lnSpc>
                  <a:spcPts val="2160"/>
                </a:lnSpc>
              </a:pPr>
              <a:r>
                <a:rPr lang="en-US" sz="1800" spc="52">
                  <a:solidFill>
                    <a:srgbClr val="000000"/>
                  </a:solidFill>
                  <a:latin typeface="Verdana"/>
                  <a:ea typeface="Verdana"/>
                  <a:cs typeface="Verdana"/>
                  <a:sym typeface="Verdana"/>
                </a:rPr>
                <a:t>DRAM</a:t>
              </a:r>
            </a:p>
            <a:p>
              <a:pPr algn="l">
                <a:lnSpc>
                  <a:spcPts val="4320"/>
                </a:lnSpc>
              </a:pPr>
              <a:r>
                <a:rPr lang="en-US" sz="3600" spc="-15">
                  <a:solidFill>
                    <a:srgbClr val="000000"/>
                  </a:solidFill>
                  <a:latin typeface="Verdana"/>
                  <a:ea typeface="Verdana"/>
                  <a:cs typeface="Verdana"/>
                  <a:sym typeface="Verdana"/>
                </a:rPr>
                <a:t>Memory response</a:t>
              </a:r>
            </a:p>
            <a:p>
              <a:pPr algn="l">
                <a:lnSpc>
                  <a:spcPts val="3314"/>
                </a:lnSpc>
              </a:pPr>
              <a:r>
                <a:rPr lang="en-US" sz="2400" spc="-15">
                  <a:solidFill>
                    <a:srgbClr val="000000"/>
                  </a:solidFill>
                  <a:latin typeface="Verdana"/>
                  <a:ea typeface="Verdana"/>
                  <a:cs typeface="Verdana"/>
                  <a:sym typeface="Verdana"/>
                </a:rPr>
                <a:t>Throughput, read/write split, delay, queue usage, and overflow.</a:t>
              </a:r>
            </a:p>
          </p:txBody>
        </p:sp>
      </p:grpSp>
      <p:sp>
        <p:nvSpPr>
          <p:cNvPr id="15" name="TextBox 15"/>
          <p:cNvSpPr txBox="1"/>
          <p:nvPr/>
        </p:nvSpPr>
        <p:spPr>
          <a:xfrm>
            <a:off x="895350" y="9064495"/>
            <a:ext cx="6748462" cy="299723"/>
          </a:xfrm>
          <a:prstGeom prst="rect">
            <a:avLst/>
          </a:prstGeom>
        </p:spPr>
        <p:txBody>
          <a:bodyPr lIns="0" tIns="0" rIns="0" bIns="0" rtlCol="0" anchor="t">
            <a:spAutoFit/>
          </a:bodyPr>
          <a:lstStyle/>
          <a:p>
            <a:pPr algn="l">
              <a:lnSpc>
                <a:spcPts val="2160"/>
              </a:lnSpc>
            </a:pPr>
            <a:r>
              <a:rPr lang="en-US" sz="1800">
                <a:solidFill>
                  <a:srgbClr val="A9C3C7"/>
                </a:solidFill>
                <a:latin typeface="Verdana"/>
                <a:ea typeface="Verdana"/>
                <a:cs typeface="Verdana"/>
                <a:sym typeface="Verdana"/>
              </a:rPr>
              <a:t>Values come from VisualSim Architecture Statistics output.</a:t>
            </a:r>
          </a:p>
        </p:txBody>
      </p:sp>
      <p:sp>
        <p:nvSpPr>
          <p:cNvPr id="16" name="TextBox 16"/>
          <p:cNvSpPr txBox="1"/>
          <p:nvPr/>
        </p:nvSpPr>
        <p:spPr>
          <a:xfrm>
            <a:off x="17097566" y="9735664"/>
            <a:ext cx="295275"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2351722" cy="299723"/>
          </a:xfrm>
          <a:prstGeom prst="rect">
            <a:avLst/>
          </a:prstGeom>
        </p:spPr>
        <p:txBody>
          <a:bodyPr lIns="0" tIns="0" rIns="0" bIns="0" rtlCol="0" anchor="t">
            <a:spAutoFit/>
          </a:bodyPr>
          <a:lstStyle/>
          <a:p>
            <a:pPr algn="l">
              <a:lnSpc>
                <a:spcPts val="2160"/>
              </a:lnSpc>
            </a:pPr>
            <a:r>
              <a:rPr lang="en-US" sz="1800" spc="67">
                <a:solidFill>
                  <a:srgbClr val="A9C3C7"/>
                </a:solidFill>
                <a:latin typeface="Verdana"/>
                <a:ea typeface="Verdana"/>
                <a:cs typeface="Verdana"/>
                <a:sym typeface="Verdana"/>
              </a:rPr>
              <a:t>REFERENCE POINT</a:t>
            </a:r>
          </a:p>
        </p:txBody>
      </p:sp>
      <p:sp>
        <p:nvSpPr>
          <p:cNvPr id="5" name="TextBox 5" descr="$PPTXTitle"/>
          <p:cNvSpPr txBox="1"/>
          <p:nvPr/>
        </p:nvSpPr>
        <p:spPr>
          <a:xfrm>
            <a:off x="895350" y="1343263"/>
            <a:ext cx="15413355" cy="1631318"/>
          </a:xfrm>
          <a:prstGeom prst="rect">
            <a:avLst/>
          </a:prstGeom>
        </p:spPr>
        <p:txBody>
          <a:bodyPr lIns="0" tIns="0" rIns="0" bIns="0" rtlCol="0" anchor="t">
            <a:spAutoFit/>
          </a:bodyPr>
          <a:lstStyle/>
          <a:p>
            <a:pPr algn="l">
              <a:lnSpc>
                <a:spcPts val="6585"/>
              </a:lnSpc>
            </a:pPr>
            <a:r>
              <a:rPr lang="en-US" sz="6300" spc="-142">
                <a:solidFill>
                  <a:srgbClr val="F1F7F6"/>
                </a:solidFill>
                <a:latin typeface="Verdana"/>
                <a:ea typeface="Verdana"/>
                <a:cs typeface="Verdana"/>
                <a:sym typeface="Verdana"/>
              </a:rPr>
              <a:t>The 1 MB, 64-bit, 3200 MHz system is the reference point</a:t>
            </a:r>
          </a:p>
        </p:txBody>
      </p:sp>
      <p:graphicFrame>
        <p:nvGraphicFramePr>
          <p:cNvPr id="6" name="Table 6"/>
          <p:cNvGraphicFramePr>
            <a:graphicFrameLocks noGrp="1"/>
          </p:cNvGraphicFramePr>
          <p:nvPr/>
        </p:nvGraphicFramePr>
        <p:xfrm>
          <a:off x="904856" y="3639120"/>
          <a:ext cx="6191250" cy="4895850"/>
        </p:xfrm>
        <a:graphic>
          <a:graphicData uri="http://schemas.openxmlformats.org/drawingml/2006/table">
            <a:tbl>
              <a:tblPr/>
              <a:tblGrid>
                <a:gridCol w="2728347">
                  <a:extLst>
                    <a:ext uri="{9D8B030D-6E8A-4147-A177-3AD203B41FA5}">
                      <a16:colId xmlns:a16="http://schemas.microsoft.com/office/drawing/2014/main" val="20000"/>
                    </a:ext>
                  </a:extLst>
                </a:gridCol>
                <a:gridCol w="3462903">
                  <a:extLst>
                    <a:ext uri="{9D8B030D-6E8A-4147-A177-3AD203B41FA5}">
                      <a16:colId xmlns:a16="http://schemas.microsoft.com/office/drawing/2014/main" val="20001"/>
                    </a:ext>
                  </a:extLst>
                </a:gridCol>
              </a:tblGrid>
              <a:tr h="819005">
                <a:tc>
                  <a:txBody>
                    <a:bodyPr/>
                    <a:lstStyle/>
                    <a:p>
                      <a:pPr algn="l">
                        <a:lnSpc>
                          <a:spcPts val="2879"/>
                        </a:lnSpc>
                        <a:defRPr/>
                      </a:pPr>
                      <a:r>
                        <a:rPr lang="en-US" sz="2400" spc="120">
                          <a:solidFill>
                            <a:srgbClr val="F1F7F6"/>
                          </a:solidFill>
                          <a:latin typeface="Verdana"/>
                          <a:ea typeface="Verdana"/>
                          <a:cs typeface="Verdana"/>
                          <a:sym typeface="Verdana"/>
                        </a:rPr>
                        <a:t>PARAMETER</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070F17"/>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15">
                          <a:solidFill>
                            <a:srgbClr val="F1F7F6"/>
                          </a:solidFill>
                          <a:latin typeface="Verdana"/>
                          <a:ea typeface="Verdana"/>
                          <a:cs typeface="Verdana"/>
                          <a:sym typeface="Verdana"/>
                        </a:rPr>
                        <a:t>BASELINE</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070F17"/>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0"/>
                  </a:ext>
                </a:extLst>
              </a:tr>
              <a:tr h="819005">
                <a:tc>
                  <a:txBody>
                    <a:bodyPr/>
                    <a:lstStyle/>
                    <a:p>
                      <a:pPr algn="l">
                        <a:lnSpc>
                          <a:spcPts val="2879"/>
                        </a:lnSpc>
                        <a:defRPr/>
                      </a:pPr>
                      <a:r>
                        <a:rPr lang="en-US" sz="2400" spc="-15">
                          <a:solidFill>
                            <a:srgbClr val="F1F7F6"/>
                          </a:solidFill>
                          <a:latin typeface="Verdana"/>
                          <a:ea typeface="Verdana"/>
                          <a:cs typeface="Verdana"/>
                          <a:sym typeface="Verdana"/>
                        </a:rPr>
                        <a:t>Processor</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60">
                          <a:solidFill>
                            <a:srgbClr val="F1F7F6"/>
                          </a:solidFill>
                          <a:latin typeface="Verdana"/>
                          <a:ea typeface="Verdana"/>
                          <a:cs typeface="Verdana"/>
                          <a:sym typeface="Verdana"/>
                        </a:rPr>
                        <a:t>4 × ARM Cortex-A53</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1"/>
                  </a:ext>
                </a:extLst>
              </a:tr>
              <a:tr h="819005">
                <a:tc>
                  <a:txBody>
                    <a:bodyPr/>
                    <a:lstStyle/>
                    <a:p>
                      <a:pPr algn="l">
                        <a:lnSpc>
                          <a:spcPts val="2879"/>
                        </a:lnSpc>
                        <a:defRPr/>
                      </a:pPr>
                      <a:r>
                        <a:rPr lang="en-US" sz="2400" spc="-15">
                          <a:solidFill>
                            <a:srgbClr val="F1F7F6"/>
                          </a:solidFill>
                          <a:latin typeface="Verdana"/>
                          <a:ea typeface="Verdana"/>
                          <a:cs typeface="Verdana"/>
                          <a:sym typeface="Verdana"/>
                        </a:rPr>
                        <a:t>L2 cache</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52">
                          <a:solidFill>
                            <a:srgbClr val="F1F7F6"/>
                          </a:solidFill>
                          <a:latin typeface="Verdana"/>
                          <a:ea typeface="Verdana"/>
                          <a:cs typeface="Verdana"/>
                          <a:sym typeface="Verdana"/>
                        </a:rPr>
                        <a:t>1 MB</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2"/>
                  </a:ext>
                </a:extLst>
              </a:tr>
              <a:tr h="819005">
                <a:tc>
                  <a:txBody>
                    <a:bodyPr/>
                    <a:lstStyle/>
                    <a:p>
                      <a:pPr algn="l">
                        <a:lnSpc>
                          <a:spcPts val="2879"/>
                        </a:lnSpc>
                        <a:defRPr/>
                      </a:pPr>
                      <a:r>
                        <a:rPr lang="en-US" sz="2400" spc="-82">
                          <a:solidFill>
                            <a:srgbClr val="F1F7F6"/>
                          </a:solidFill>
                          <a:latin typeface="Verdana"/>
                          <a:ea typeface="Verdana"/>
                          <a:cs typeface="Verdana"/>
                          <a:sym typeface="Verdana"/>
                        </a:rPr>
                        <a:t>System bus</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spc="-37">
                          <a:solidFill>
                            <a:srgbClr val="F1F7F6"/>
                          </a:solidFill>
                          <a:latin typeface="Verdana"/>
                          <a:ea typeface="Verdana"/>
                          <a:cs typeface="Verdana"/>
                          <a:sym typeface="Verdana"/>
                        </a:rPr>
                        <a:t>64-bit</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3"/>
                  </a:ext>
                </a:extLst>
              </a:tr>
              <a:tr h="819005">
                <a:tc>
                  <a:txBody>
                    <a:bodyPr/>
                    <a:lstStyle/>
                    <a:p>
                      <a:pPr algn="l">
                        <a:lnSpc>
                          <a:spcPts val="2879"/>
                        </a:lnSpc>
                        <a:defRPr/>
                      </a:pPr>
                      <a:r>
                        <a:rPr lang="en-US" sz="2400" spc="-30">
                          <a:solidFill>
                            <a:srgbClr val="F1F7F6"/>
                          </a:solidFill>
                          <a:latin typeface="Verdana"/>
                          <a:ea typeface="Verdana"/>
                          <a:cs typeface="Verdana"/>
                          <a:sym typeface="Verdana"/>
                        </a:rPr>
                        <a:t>DDR4</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tc>
                  <a:txBody>
                    <a:bodyPr/>
                    <a:lstStyle/>
                    <a:p>
                      <a:pPr algn="l">
                        <a:lnSpc>
                          <a:spcPts val="2879"/>
                        </a:lnSpc>
                        <a:defRPr/>
                      </a:pPr>
                      <a:r>
                        <a:rPr lang="en-US" sz="2400">
                          <a:solidFill>
                            <a:srgbClr val="F1F7F6"/>
                          </a:solidFill>
                          <a:latin typeface="Verdana"/>
                          <a:ea typeface="Verdana"/>
                          <a:cs typeface="Verdana"/>
                          <a:sym typeface="Verdana"/>
                        </a:rPr>
                        <a:t>3200 MHz</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434E53"/>
                      </a:solidFill>
                      <a:prstDash val="solid"/>
                      <a:round/>
                      <a:headEnd type="none" w="med" len="med"/>
                      <a:tailEnd type="none" w="med" len="med"/>
                    </a:lnB>
                  </a:tcPr>
                </a:tc>
                <a:extLst>
                  <a:ext uri="{0D108BD9-81ED-4DB2-BD59-A6C34878D82A}">
                    <a16:rowId xmlns:a16="http://schemas.microsoft.com/office/drawing/2014/main" val="10004"/>
                  </a:ext>
                </a:extLst>
              </a:tr>
              <a:tr h="800825">
                <a:tc>
                  <a:txBody>
                    <a:bodyPr/>
                    <a:lstStyle/>
                    <a:p>
                      <a:pPr algn="l">
                        <a:lnSpc>
                          <a:spcPts val="2879"/>
                        </a:lnSpc>
                        <a:defRPr/>
                      </a:pPr>
                      <a:r>
                        <a:rPr lang="en-US" sz="2400" spc="-15">
                          <a:solidFill>
                            <a:srgbClr val="F1F7F6"/>
                          </a:solidFill>
                          <a:latin typeface="Verdana"/>
                          <a:ea typeface="Verdana"/>
                          <a:cs typeface="Verdana"/>
                          <a:sym typeface="Verdana"/>
                        </a:rPr>
                        <a:t>Simulation</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070F17"/>
                      </a:solidFill>
                      <a:prstDash val="solid"/>
                      <a:round/>
                      <a:headEnd type="none" w="med" len="med"/>
                      <a:tailEnd type="none" w="med" len="med"/>
                    </a:lnB>
                  </a:tcPr>
                </a:tc>
                <a:tc>
                  <a:txBody>
                    <a:bodyPr/>
                    <a:lstStyle/>
                    <a:p>
                      <a:pPr algn="l">
                        <a:lnSpc>
                          <a:spcPts val="2879"/>
                        </a:lnSpc>
                        <a:defRPr/>
                      </a:pPr>
                      <a:r>
                        <a:rPr lang="en-US" sz="2400" spc="-37">
                          <a:solidFill>
                            <a:srgbClr val="F1F7F6"/>
                          </a:solidFill>
                          <a:latin typeface="Verdana"/>
                          <a:ea typeface="Verdana"/>
                          <a:cs typeface="Verdana"/>
                          <a:sym typeface="Verdana"/>
                        </a:rPr>
                        <a:t>2 ms</a:t>
                      </a:r>
                      <a:endParaRPr lang="en-US" sz="1100"/>
                    </a:p>
                  </a:txBody>
                  <a:tcPr marL="0" marR="0" marT="0" marB="0">
                    <a:lnL w="12700" cap="flat" cmpd="sng" algn="ctr">
                      <a:solidFill>
                        <a:srgbClr val="070F17"/>
                      </a:solidFill>
                      <a:prstDash val="solid"/>
                      <a:round/>
                      <a:headEnd type="none" w="med" len="med"/>
                      <a:tailEnd type="none" w="med" len="med"/>
                    </a:lnL>
                    <a:lnR w="12700" cap="flat" cmpd="sng" algn="ctr">
                      <a:solidFill>
                        <a:srgbClr val="070F17"/>
                      </a:solidFill>
                      <a:prstDash val="solid"/>
                      <a:round/>
                      <a:headEnd type="none" w="med" len="med"/>
                      <a:tailEnd type="none" w="med" len="med"/>
                    </a:lnR>
                    <a:lnT w="12700" cap="flat" cmpd="sng" algn="ctr">
                      <a:solidFill>
                        <a:srgbClr val="434E53"/>
                      </a:solidFill>
                      <a:prstDash val="solid"/>
                      <a:round/>
                      <a:headEnd type="none" w="med" len="med"/>
                      <a:tailEnd type="none" w="med" len="med"/>
                    </a:lnT>
                    <a:lnB w="12700" cap="flat" cmpd="sng" algn="ctr">
                      <a:solidFill>
                        <a:srgbClr val="070F1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Freeform 7"/>
          <p:cNvSpPr/>
          <p:nvPr/>
        </p:nvSpPr>
        <p:spPr>
          <a:xfrm>
            <a:off x="7589520" y="2976914"/>
            <a:ext cx="4663440" cy="6867525"/>
          </a:xfrm>
          <a:custGeom>
            <a:avLst/>
            <a:gdLst/>
            <a:ahLst/>
            <a:cxnLst/>
            <a:rect l="l" t="t" r="r" b="b"/>
            <a:pathLst>
              <a:path w="4663440" h="6867525">
                <a:moveTo>
                  <a:pt x="0" y="0"/>
                </a:moveTo>
                <a:lnTo>
                  <a:pt x="4663440" y="0"/>
                </a:lnTo>
                <a:lnTo>
                  <a:pt x="4663440" y="6867525"/>
                </a:lnTo>
                <a:lnTo>
                  <a:pt x="0" y="6867525"/>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7589520" y="3305556"/>
            <a:ext cx="4663440" cy="6867525"/>
          </a:xfrm>
          <a:prstGeom prst="rect">
            <a:avLst/>
          </a:prstGeom>
        </p:spPr>
        <p:txBody>
          <a:bodyPr lIns="0" tIns="0" rIns="0" bIns="0" rtlCol="0" anchor="t">
            <a:spAutoFit/>
          </a:bodyPr>
          <a:lstStyle/>
          <a:p>
            <a:pPr algn="l">
              <a:lnSpc>
                <a:spcPts val="2160"/>
              </a:lnSpc>
            </a:pPr>
            <a:endParaRPr/>
          </a:p>
          <a:p>
            <a:pPr algn="l">
              <a:lnSpc>
                <a:spcPts val="2160"/>
              </a:lnSpc>
            </a:pPr>
            <a:endParaRPr/>
          </a:p>
          <a:p>
            <a:pPr algn="l">
              <a:lnSpc>
                <a:spcPts val="1709"/>
              </a:lnSpc>
            </a:pPr>
            <a:r>
              <a:rPr lang="en-US" sz="1800" spc="-14">
                <a:solidFill>
                  <a:srgbClr val="000000"/>
                </a:solidFill>
                <a:latin typeface="Verdana"/>
                <a:ea typeface="Verdana"/>
                <a:cs typeface="Verdana"/>
                <a:sym typeface="Verdana"/>
              </a:rPr>
              <a:t>RECORDED L2 RESULTS</a:t>
            </a:r>
          </a:p>
          <a:p>
            <a:pPr algn="l">
              <a:lnSpc>
                <a:spcPts val="7395"/>
              </a:lnSpc>
            </a:pPr>
            <a:r>
              <a:rPr lang="en-US" sz="7500" spc="-15">
                <a:solidFill>
                  <a:srgbClr val="000000"/>
                </a:solidFill>
                <a:latin typeface="Arial MT Pro"/>
                <a:ea typeface="Arial MT Pro"/>
                <a:cs typeface="Arial MT Pro"/>
                <a:sym typeface="Arial MT Pro"/>
              </a:rPr>
              <a:t>48.1891</a:t>
            </a:r>
          </a:p>
          <a:p>
            <a:pPr algn="l">
              <a:lnSpc>
                <a:spcPts val="7852"/>
              </a:lnSpc>
            </a:pPr>
            <a:r>
              <a:rPr lang="en-US" sz="7500" spc="-75">
                <a:solidFill>
                  <a:srgbClr val="000000"/>
                </a:solidFill>
                <a:latin typeface="Arial MT Pro"/>
                <a:ea typeface="Arial MT Pro"/>
                <a:cs typeface="Arial MT Pro"/>
                <a:sym typeface="Arial MT Pro"/>
              </a:rPr>
              <a:t>%</a:t>
            </a:r>
          </a:p>
          <a:p>
            <a:pPr algn="l">
              <a:lnSpc>
                <a:spcPts val="2160"/>
              </a:lnSpc>
            </a:pPr>
            <a:r>
              <a:rPr lang="en-US" sz="1800" spc="-14">
                <a:solidFill>
                  <a:srgbClr val="000000"/>
                </a:solidFill>
                <a:latin typeface="Verdana"/>
                <a:ea typeface="Verdana"/>
                <a:cs typeface="Verdana"/>
                <a:sym typeface="Verdana"/>
              </a:rPr>
              <a:t>L2 hit ratio</a:t>
            </a:r>
          </a:p>
          <a:p>
            <a:pPr algn="l">
              <a:lnSpc>
                <a:spcPts val="2160"/>
              </a:lnSpc>
            </a:pPr>
            <a:endParaRPr lang="en-US" sz="1800" spc="-14">
              <a:solidFill>
                <a:srgbClr val="000000"/>
              </a:solidFill>
              <a:latin typeface="Verdana"/>
              <a:ea typeface="Verdana"/>
              <a:cs typeface="Verdana"/>
              <a:sym typeface="Verdana"/>
            </a:endParaRPr>
          </a:p>
          <a:p>
            <a:pPr algn="l">
              <a:lnSpc>
                <a:spcPts val="2160"/>
              </a:lnSpc>
            </a:pPr>
            <a:endParaRPr lang="en-US" sz="1800" spc="-14">
              <a:solidFill>
                <a:srgbClr val="000000"/>
              </a:solidFill>
              <a:latin typeface="Verdana"/>
              <a:ea typeface="Verdana"/>
              <a:cs typeface="Verdana"/>
              <a:sym typeface="Verdana"/>
            </a:endParaRPr>
          </a:p>
          <a:p>
            <a:pPr algn="l">
              <a:lnSpc>
                <a:spcPts val="4320"/>
              </a:lnSpc>
            </a:pPr>
            <a:r>
              <a:rPr lang="en-US" sz="3600" spc="-135">
                <a:solidFill>
                  <a:srgbClr val="000000"/>
                </a:solidFill>
                <a:latin typeface="Verdana"/>
                <a:ea typeface="Verdana"/>
                <a:cs typeface="Verdana"/>
                <a:sym typeface="Verdana"/>
              </a:rPr>
              <a:t>94.9896 ns</a:t>
            </a:r>
          </a:p>
          <a:p>
            <a:pPr algn="l">
              <a:lnSpc>
                <a:spcPts val="2160"/>
              </a:lnSpc>
            </a:pPr>
            <a:r>
              <a:rPr lang="en-US" sz="1800" spc="-14">
                <a:solidFill>
                  <a:srgbClr val="000000"/>
                </a:solidFill>
                <a:latin typeface="Verdana"/>
                <a:ea typeface="Verdana"/>
                <a:cs typeface="Verdana"/>
                <a:sym typeface="Verdana"/>
              </a:rPr>
              <a:t>Average latency</a:t>
            </a:r>
          </a:p>
          <a:p>
            <a:pPr algn="l">
              <a:lnSpc>
                <a:spcPts val="4320"/>
              </a:lnSpc>
            </a:pPr>
            <a:r>
              <a:rPr lang="en-US" sz="3600" spc="-15">
                <a:solidFill>
                  <a:srgbClr val="000000"/>
                </a:solidFill>
                <a:latin typeface="Verdana"/>
                <a:ea typeface="Verdana"/>
                <a:cs typeface="Verdana"/>
                <a:sym typeface="Verdana"/>
              </a:rPr>
              <a:t>4.5494%</a:t>
            </a:r>
          </a:p>
          <a:p>
            <a:pPr algn="l">
              <a:lnSpc>
                <a:spcPts val="2160"/>
              </a:lnSpc>
            </a:pPr>
            <a:r>
              <a:rPr lang="en-US" sz="1800" spc="-14">
                <a:solidFill>
                  <a:srgbClr val="000000"/>
                </a:solidFill>
                <a:latin typeface="Verdana"/>
                <a:ea typeface="Verdana"/>
                <a:cs typeface="Verdana"/>
                <a:sym typeface="Verdana"/>
              </a:rPr>
              <a:t>Utilization</a:t>
            </a:r>
          </a:p>
        </p:txBody>
      </p:sp>
      <p:sp>
        <p:nvSpPr>
          <p:cNvPr id="11" name="TextBox 11"/>
          <p:cNvSpPr txBox="1"/>
          <p:nvPr/>
        </p:nvSpPr>
        <p:spPr>
          <a:xfrm>
            <a:off x="12573000" y="9230302"/>
            <a:ext cx="5022723" cy="823687"/>
          </a:xfrm>
          <a:prstGeom prst="rect">
            <a:avLst/>
          </a:prstGeom>
        </p:spPr>
        <p:txBody>
          <a:bodyPr wrap="square" lIns="0" tIns="0" rIns="0" bIns="0" rtlCol="0" anchor="t">
            <a:spAutoFit/>
          </a:bodyPr>
          <a:lstStyle/>
          <a:p>
            <a:pPr>
              <a:lnSpc>
                <a:spcPts val="2160"/>
              </a:lnSpc>
            </a:pPr>
            <a:r>
              <a:rPr lang="en-US" dirty="0">
                <a:solidFill>
                  <a:srgbClr val="A9C3C7"/>
                </a:solidFill>
                <a:latin typeface="Verdana"/>
                <a:ea typeface="Verdana"/>
                <a:cs typeface="Verdana"/>
                <a:sym typeface="Verdana"/>
              </a:rPr>
              <a:t>results of baseline architecture (Initial Analysis)(No modifications in parameters of architecture)</a:t>
            </a:r>
            <a:endParaRPr lang="en-US" sz="1800" dirty="0">
              <a:solidFill>
                <a:srgbClr val="A9C3C7"/>
              </a:solidFill>
              <a:latin typeface="Verdana"/>
              <a:ea typeface="Verdana"/>
              <a:cs typeface="Verdana"/>
              <a:sym typeface="Verdana"/>
            </a:endParaRPr>
          </a:p>
        </p:txBody>
      </p:sp>
      <p:sp>
        <p:nvSpPr>
          <p:cNvPr id="12" name="TextBox 12"/>
          <p:cNvSpPr txBox="1"/>
          <p:nvPr/>
        </p:nvSpPr>
        <p:spPr>
          <a:xfrm>
            <a:off x="17083850" y="9735664"/>
            <a:ext cx="307658"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08</a:t>
            </a:r>
          </a:p>
        </p:txBody>
      </p:sp>
      <p:pic>
        <p:nvPicPr>
          <p:cNvPr id="14" name="Picture 13" descr="The image displays various statistics related to cache performance, including hit and miss ratios, latency, and utilization, for two levels of cache (L2).&#10;&#10;AI-generated content may be incorrect.">
            <a:extLst>
              <a:ext uri="{FF2B5EF4-FFF2-40B4-BE49-F238E27FC236}">
                <a16:creationId xmlns:a16="http://schemas.microsoft.com/office/drawing/2014/main" id="{7FAF26EB-3D5B-E59E-4A4B-F036BDBBBBEA}"/>
              </a:ext>
            </a:extLst>
          </p:cNvPr>
          <p:cNvPicPr>
            <a:picLocks noChangeAspect="1"/>
          </p:cNvPicPr>
          <p:nvPr/>
        </p:nvPicPr>
        <p:blipFill>
          <a:blip r:embed="rId3"/>
          <a:stretch>
            <a:fillRect/>
          </a:stretch>
        </p:blipFill>
        <p:spPr>
          <a:xfrm>
            <a:off x="12267901" y="3008751"/>
            <a:ext cx="5791498" cy="61565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descr="$PPTXTitle"/>
          <p:cNvSpPr txBox="1"/>
          <p:nvPr/>
        </p:nvSpPr>
        <p:spPr>
          <a:xfrm>
            <a:off x="895350" y="921687"/>
            <a:ext cx="13023532" cy="1362713"/>
          </a:xfrm>
          <a:prstGeom prst="rect">
            <a:avLst/>
          </a:prstGeom>
        </p:spPr>
        <p:txBody>
          <a:bodyPr lIns="0" tIns="0" rIns="0" bIns="0" rtlCol="0" anchor="t">
            <a:spAutoFit/>
          </a:bodyPr>
          <a:lstStyle/>
          <a:p>
            <a:pPr algn="l">
              <a:lnSpc>
                <a:spcPts val="5475"/>
              </a:lnSpc>
            </a:pPr>
            <a:r>
              <a:rPr lang="en-US" sz="5250" spc="-149">
                <a:solidFill>
                  <a:srgbClr val="F1F7F6"/>
                </a:solidFill>
                <a:latin typeface="Verdana"/>
                <a:ea typeface="Verdana"/>
                <a:cs typeface="Verdana"/>
                <a:sym typeface="Verdana"/>
              </a:rPr>
              <a:t>Doubling L2 capacity did not improve this workload's cache results</a:t>
            </a:r>
          </a:p>
        </p:txBody>
      </p:sp>
      <p:grpSp>
        <p:nvGrpSpPr>
          <p:cNvPr id="5" name="Group 5"/>
          <p:cNvGrpSpPr/>
          <p:nvPr/>
        </p:nvGrpSpPr>
        <p:grpSpPr>
          <a:xfrm>
            <a:off x="914400" y="3415284"/>
            <a:ext cx="10666476" cy="4572000"/>
            <a:chOff x="0" y="0"/>
            <a:chExt cx="14221968" cy="6096000"/>
          </a:xfrm>
        </p:grpSpPr>
        <p:sp>
          <p:nvSpPr>
            <p:cNvPr id="6" name="Freeform 6" descr="preencoded.png"/>
            <p:cNvSpPr/>
            <p:nvPr/>
          </p:nvSpPr>
          <p:spPr>
            <a:xfrm>
              <a:off x="0" y="0"/>
              <a:ext cx="14221968" cy="6096000"/>
            </a:xfrm>
            <a:custGeom>
              <a:avLst/>
              <a:gdLst/>
              <a:ahLst/>
              <a:cxnLst/>
              <a:rect l="l" t="t" r="r" b="b"/>
              <a:pathLst>
                <a:path w="14221968" h="6096000">
                  <a:moveTo>
                    <a:pt x="0" y="0"/>
                  </a:moveTo>
                  <a:lnTo>
                    <a:pt x="14221968" y="0"/>
                  </a:lnTo>
                  <a:lnTo>
                    <a:pt x="14221968" y="6096000"/>
                  </a:lnTo>
                  <a:lnTo>
                    <a:pt x="0" y="6096000"/>
                  </a:lnTo>
                  <a:lnTo>
                    <a:pt x="0" y="0"/>
                  </a:lnTo>
                  <a:close/>
                </a:path>
              </a:pathLst>
            </a:custGeom>
            <a:blipFill>
              <a:blip r:embed="rId2"/>
              <a:stretch>
                <a:fillRect l="-119" r="-119"/>
              </a:stretch>
            </a:blipFill>
          </p:spPr>
        </p:sp>
      </p:grpSp>
      <p:grpSp>
        <p:nvGrpSpPr>
          <p:cNvPr id="7" name="Group 7"/>
          <p:cNvGrpSpPr/>
          <p:nvPr/>
        </p:nvGrpSpPr>
        <p:grpSpPr>
          <a:xfrm>
            <a:off x="12038076" y="2610612"/>
            <a:ext cx="5335905" cy="6181725"/>
            <a:chOff x="0" y="0"/>
            <a:chExt cx="7114540" cy="8242300"/>
          </a:xfrm>
        </p:grpSpPr>
        <p:sp>
          <p:nvSpPr>
            <p:cNvPr id="8" name="Freeform 8"/>
            <p:cNvSpPr/>
            <p:nvPr/>
          </p:nvSpPr>
          <p:spPr>
            <a:xfrm>
              <a:off x="0" y="0"/>
              <a:ext cx="7114540" cy="8242300"/>
            </a:xfrm>
            <a:custGeom>
              <a:avLst/>
              <a:gdLst/>
              <a:ahLst/>
              <a:cxnLst/>
              <a:rect l="l" t="t" r="r" b="b"/>
              <a:pathLst>
                <a:path w="7114540" h="8242300">
                  <a:moveTo>
                    <a:pt x="0" y="0"/>
                  </a:moveTo>
                  <a:lnTo>
                    <a:pt x="7114540" y="0"/>
                  </a:lnTo>
                  <a:lnTo>
                    <a:pt x="7114540" y="8242300"/>
                  </a:lnTo>
                  <a:lnTo>
                    <a:pt x="0" y="8242300"/>
                  </a:lnTo>
                  <a:close/>
                </a:path>
              </a:pathLst>
            </a:custGeom>
            <a:solidFill>
              <a:srgbClr val="F1F7F6"/>
            </a:solidFill>
          </p:spPr>
        </p:sp>
        <p:sp>
          <p:nvSpPr>
            <p:cNvPr id="9" name="TextBox 9"/>
            <p:cNvSpPr txBox="1"/>
            <p:nvPr/>
          </p:nvSpPr>
          <p:spPr>
            <a:xfrm>
              <a:off x="0" y="0"/>
              <a:ext cx="7114540" cy="8242300"/>
            </a:xfrm>
            <a:prstGeom prst="rect">
              <a:avLst/>
            </a:prstGeom>
          </p:spPr>
          <p:txBody>
            <a:bodyPr lIns="50800" tIns="50800" rIns="50800" bIns="50800" rtlCol="0" anchor="t"/>
            <a:lstStyle/>
            <a:p>
              <a:pPr algn="l">
                <a:lnSpc>
                  <a:spcPts val="2160"/>
                </a:lnSpc>
              </a:pPr>
              <a:endParaRPr/>
            </a:p>
            <a:p>
              <a:pPr algn="l">
                <a:lnSpc>
                  <a:spcPts val="2160"/>
                </a:lnSpc>
              </a:pPr>
              <a:endParaRPr/>
            </a:p>
            <a:p>
              <a:pPr algn="l">
                <a:lnSpc>
                  <a:spcPts val="2160"/>
                </a:lnSpc>
              </a:pPr>
              <a:endParaRPr/>
            </a:p>
            <a:p>
              <a:pPr algn="l">
                <a:lnSpc>
                  <a:spcPts val="1582"/>
                </a:lnSpc>
              </a:pPr>
              <a:r>
                <a:rPr lang="en-US" sz="1800" spc="-14">
                  <a:solidFill>
                    <a:srgbClr val="000000"/>
                  </a:solidFill>
                  <a:latin typeface="Verdana"/>
                  <a:ea typeface="Verdana"/>
                  <a:cs typeface="Verdana"/>
                  <a:sym typeface="Verdana"/>
                </a:rPr>
                <a:t>RECORDED 2 MB RUN</a:t>
              </a:r>
            </a:p>
            <a:p>
              <a:pPr algn="l">
                <a:lnSpc>
                  <a:spcPts val="8422"/>
                </a:lnSpc>
              </a:pPr>
              <a:r>
                <a:rPr lang="en-US" sz="7500" spc="-15">
                  <a:solidFill>
                    <a:srgbClr val="000000"/>
                  </a:solidFill>
                  <a:latin typeface="Arial MT Pro"/>
                  <a:ea typeface="Arial MT Pro"/>
                  <a:cs typeface="Arial MT Pro"/>
                  <a:sym typeface="Arial MT Pro"/>
                </a:rPr>
                <a:t>43.51%</a:t>
              </a:r>
            </a:p>
            <a:p>
              <a:pPr algn="l">
                <a:lnSpc>
                  <a:spcPts val="2160"/>
                </a:lnSpc>
              </a:pPr>
              <a:r>
                <a:rPr lang="en-US" sz="1800" spc="-14">
                  <a:solidFill>
                    <a:srgbClr val="000000"/>
                  </a:solidFill>
                  <a:latin typeface="Verdana"/>
                  <a:ea typeface="Verdana"/>
                  <a:cs typeface="Verdana"/>
                  <a:sym typeface="Verdana"/>
                </a:rPr>
                <a:t>Hit ratio</a:t>
              </a:r>
            </a:p>
            <a:p>
              <a:pPr algn="l">
                <a:lnSpc>
                  <a:spcPts val="4320"/>
                </a:lnSpc>
              </a:pPr>
              <a:r>
                <a:rPr lang="en-US" sz="3600" spc="-270">
                  <a:solidFill>
                    <a:srgbClr val="000000"/>
                  </a:solidFill>
                  <a:latin typeface="Verdana"/>
                  <a:ea typeface="Verdana"/>
                  <a:cs typeface="Verdana"/>
                  <a:sym typeface="Verdana"/>
                </a:rPr>
                <a:t>103.67 ns</a:t>
              </a:r>
            </a:p>
            <a:p>
              <a:pPr algn="l">
                <a:lnSpc>
                  <a:spcPts val="2160"/>
                </a:lnSpc>
              </a:pPr>
              <a:r>
                <a:rPr lang="en-US" sz="1800" spc="-14">
                  <a:solidFill>
                    <a:srgbClr val="000000"/>
                  </a:solidFill>
                  <a:latin typeface="Verdana"/>
                  <a:ea typeface="Verdana"/>
                  <a:cs typeface="Verdana"/>
                  <a:sym typeface="Verdana"/>
                </a:rPr>
                <a:t>Average latency</a:t>
              </a:r>
            </a:p>
            <a:p>
              <a:pPr algn="l">
                <a:lnSpc>
                  <a:spcPts val="4320"/>
                </a:lnSpc>
              </a:pPr>
              <a:r>
                <a:rPr lang="en-US" sz="3600" spc="-15">
                  <a:solidFill>
                    <a:srgbClr val="000000"/>
                  </a:solidFill>
                  <a:latin typeface="Verdana"/>
                  <a:ea typeface="Verdana"/>
                  <a:cs typeface="Verdana"/>
                  <a:sym typeface="Verdana"/>
                </a:rPr>
                <a:t>8.45%</a:t>
              </a:r>
            </a:p>
            <a:p>
              <a:pPr algn="l">
                <a:lnSpc>
                  <a:spcPts val="2160"/>
                </a:lnSpc>
              </a:pPr>
              <a:r>
                <a:rPr lang="en-US" sz="1800" spc="-14">
                  <a:solidFill>
                    <a:srgbClr val="000000"/>
                  </a:solidFill>
                  <a:latin typeface="Verdana"/>
                  <a:ea typeface="Verdana"/>
                  <a:cs typeface="Verdana"/>
                  <a:sym typeface="Verdana"/>
                </a:rPr>
                <a:t>Utilization</a:t>
              </a:r>
            </a:p>
          </p:txBody>
        </p:sp>
      </p:grpSp>
      <p:sp>
        <p:nvSpPr>
          <p:cNvPr id="10" name="TextBox 10"/>
          <p:cNvSpPr txBox="1"/>
          <p:nvPr/>
        </p:nvSpPr>
        <p:spPr>
          <a:xfrm>
            <a:off x="895350" y="9064495"/>
            <a:ext cx="10890885" cy="299723"/>
          </a:xfrm>
          <a:prstGeom prst="rect">
            <a:avLst/>
          </a:prstGeom>
        </p:spPr>
        <p:txBody>
          <a:bodyPr lIns="0" tIns="0" rIns="0" bIns="0" rtlCol="0" anchor="t">
            <a:spAutoFit/>
          </a:bodyPr>
          <a:lstStyle/>
          <a:p>
            <a:pPr algn="l">
              <a:lnSpc>
                <a:spcPts val="2160"/>
              </a:lnSpc>
            </a:pPr>
            <a:r>
              <a:rPr lang="en-US" sz="1800" spc="-14">
                <a:solidFill>
                  <a:srgbClr val="A9C3C7"/>
                </a:solidFill>
                <a:latin typeface="Verdana"/>
                <a:ea typeface="Verdana"/>
                <a:cs typeface="Verdana"/>
                <a:sym typeface="Verdana"/>
              </a:rPr>
              <a:t>Capacity alone cannot overcome access pattern, locality, organization, or replacement behavior.</a:t>
            </a:r>
          </a:p>
        </p:txBody>
      </p:sp>
      <p:sp>
        <p:nvSpPr>
          <p:cNvPr id="11" name="TextBox 11"/>
          <p:cNvSpPr txBox="1"/>
          <p:nvPr/>
        </p:nvSpPr>
        <p:spPr>
          <a:xfrm>
            <a:off x="17079277" y="9735664"/>
            <a:ext cx="311468" cy="277816"/>
          </a:xfrm>
          <a:prstGeom prst="rect">
            <a:avLst/>
          </a:prstGeom>
        </p:spPr>
        <p:txBody>
          <a:bodyPr lIns="0" tIns="0" rIns="0" bIns="0" rtlCol="0" anchor="t">
            <a:spAutoFit/>
          </a:bodyPr>
          <a:lstStyle/>
          <a:p>
            <a:pPr algn="l">
              <a:lnSpc>
                <a:spcPts val="1980"/>
              </a:lnSpc>
            </a:pPr>
            <a:r>
              <a:rPr lang="en-US" sz="1650" spc="-37">
                <a:solidFill>
                  <a:srgbClr val="F1F7F6"/>
                </a:solidFill>
                <a:latin typeface="Verdana"/>
                <a:ea typeface="Verdana"/>
                <a:cs typeface="Verdana"/>
                <a:sym typeface="Verdana"/>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24384000" y="0"/>
                  </a:moveTo>
                  <a:lnTo>
                    <a:pt x="0" y="0"/>
                  </a:lnTo>
                  <a:lnTo>
                    <a:pt x="0" y="13716000"/>
                  </a:lnTo>
                  <a:lnTo>
                    <a:pt x="24384000" y="13716000"/>
                  </a:lnTo>
                  <a:lnTo>
                    <a:pt x="24384000" y="0"/>
                  </a:lnTo>
                  <a:close/>
                </a:path>
              </a:pathLst>
            </a:custGeom>
            <a:solidFill>
              <a:srgbClr val="070F17"/>
            </a:solidFill>
          </p:spPr>
        </p:sp>
      </p:grpSp>
      <p:sp>
        <p:nvSpPr>
          <p:cNvPr id="4" name="TextBox 4"/>
          <p:cNvSpPr txBox="1"/>
          <p:nvPr/>
        </p:nvSpPr>
        <p:spPr>
          <a:xfrm>
            <a:off x="895350" y="903856"/>
            <a:ext cx="3442335" cy="299723"/>
          </a:xfrm>
          <a:prstGeom prst="rect">
            <a:avLst/>
          </a:prstGeom>
        </p:spPr>
        <p:txBody>
          <a:bodyPr lIns="0" tIns="0" rIns="0" bIns="0" rtlCol="0" anchor="t">
            <a:spAutoFit/>
          </a:bodyPr>
          <a:lstStyle/>
          <a:p>
            <a:pPr algn="l">
              <a:lnSpc>
                <a:spcPts val="2160"/>
              </a:lnSpc>
            </a:pPr>
            <a:r>
              <a:rPr lang="en-US" sz="1800" spc="67">
                <a:solidFill>
                  <a:srgbClr val="A9C3C7"/>
                </a:solidFill>
                <a:latin typeface="Verdana"/>
                <a:ea typeface="Verdana"/>
                <a:cs typeface="Verdana"/>
                <a:sym typeface="Verdana"/>
              </a:rPr>
              <a:t>SYSTEM-BUS COMPARISON</a:t>
            </a:r>
          </a:p>
        </p:txBody>
      </p:sp>
      <p:sp>
        <p:nvSpPr>
          <p:cNvPr id="5" name="TextBox 5" descr="$PPTXTitle"/>
          <p:cNvSpPr txBox="1"/>
          <p:nvPr/>
        </p:nvSpPr>
        <p:spPr>
          <a:xfrm>
            <a:off x="895350" y="1338310"/>
            <a:ext cx="13418820" cy="1362713"/>
          </a:xfrm>
          <a:prstGeom prst="rect">
            <a:avLst/>
          </a:prstGeom>
        </p:spPr>
        <p:txBody>
          <a:bodyPr lIns="0" tIns="0" rIns="0" bIns="0" rtlCol="0" anchor="t">
            <a:spAutoFit/>
          </a:bodyPr>
          <a:lstStyle/>
          <a:p>
            <a:pPr algn="l">
              <a:lnSpc>
                <a:spcPts val="5475"/>
              </a:lnSpc>
            </a:pPr>
            <a:r>
              <a:rPr lang="en-US" sz="5250" spc="-14">
                <a:solidFill>
                  <a:srgbClr val="F1F7F6"/>
                </a:solidFill>
                <a:latin typeface="Verdana"/>
                <a:ea typeface="Verdana"/>
                <a:cs typeface="Verdana"/>
                <a:sym typeface="Verdana"/>
              </a:rPr>
              <a:t>Wider buses did not raise measured DRAM throughput</a:t>
            </a:r>
          </a:p>
        </p:txBody>
      </p:sp>
      <p:grpSp>
        <p:nvGrpSpPr>
          <p:cNvPr id="6" name="Group 6"/>
          <p:cNvGrpSpPr/>
          <p:nvPr/>
        </p:nvGrpSpPr>
        <p:grpSpPr>
          <a:xfrm>
            <a:off x="914400" y="4539996"/>
            <a:ext cx="6478524" cy="3515868"/>
            <a:chOff x="0" y="0"/>
            <a:chExt cx="8638032" cy="4687824"/>
          </a:xfrm>
        </p:grpSpPr>
        <p:sp>
          <p:nvSpPr>
            <p:cNvPr id="7" name="Freeform 7" descr="preencoded.png"/>
            <p:cNvSpPr/>
            <p:nvPr/>
          </p:nvSpPr>
          <p:spPr>
            <a:xfrm>
              <a:off x="0" y="0"/>
              <a:ext cx="8638032" cy="4687824"/>
            </a:xfrm>
            <a:custGeom>
              <a:avLst/>
              <a:gdLst/>
              <a:ahLst/>
              <a:cxnLst/>
              <a:rect l="l" t="t" r="r" b="b"/>
              <a:pathLst>
                <a:path w="8638032" h="4687824">
                  <a:moveTo>
                    <a:pt x="0" y="0"/>
                  </a:moveTo>
                  <a:lnTo>
                    <a:pt x="8638032" y="0"/>
                  </a:lnTo>
                  <a:lnTo>
                    <a:pt x="8638032" y="4687824"/>
                  </a:lnTo>
                  <a:lnTo>
                    <a:pt x="0" y="4687824"/>
                  </a:lnTo>
                  <a:lnTo>
                    <a:pt x="0" y="0"/>
                  </a:lnTo>
                  <a:close/>
                </a:path>
              </a:pathLst>
            </a:custGeom>
            <a:blipFill>
              <a:blip r:embed="rId2"/>
              <a:stretch>
                <a:fillRect t="-32" b="-32"/>
              </a:stretch>
            </a:blipFill>
          </p:spPr>
        </p:sp>
      </p:grpSp>
      <p:sp>
        <p:nvSpPr>
          <p:cNvPr id="8" name="Freeform 8"/>
          <p:cNvSpPr/>
          <p:nvPr/>
        </p:nvSpPr>
        <p:spPr>
          <a:xfrm>
            <a:off x="7694052" y="2838364"/>
            <a:ext cx="4403408" cy="6542722"/>
          </a:xfrm>
          <a:custGeom>
            <a:avLst/>
            <a:gdLst/>
            <a:ahLst/>
            <a:cxnLst/>
            <a:rect l="l" t="t" r="r" b="b"/>
            <a:pathLst>
              <a:path w="4403408" h="6542722">
                <a:moveTo>
                  <a:pt x="0" y="0"/>
                </a:moveTo>
                <a:lnTo>
                  <a:pt x="4403408" y="0"/>
                </a:lnTo>
                <a:lnTo>
                  <a:pt x="4403408" y="6542722"/>
                </a:lnTo>
                <a:lnTo>
                  <a:pt x="0" y="6542722"/>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9" name="TextBox 9"/>
          <p:cNvSpPr txBox="1"/>
          <p:nvPr/>
        </p:nvSpPr>
        <p:spPr>
          <a:xfrm>
            <a:off x="7850124" y="3179064"/>
            <a:ext cx="4403408" cy="6390322"/>
          </a:xfrm>
          <a:prstGeom prst="rect">
            <a:avLst/>
          </a:prstGeom>
        </p:spPr>
        <p:txBody>
          <a:bodyPr lIns="0" tIns="0" rIns="0" bIns="0" rtlCol="0" anchor="t">
            <a:spAutoFit/>
          </a:bodyPr>
          <a:lstStyle/>
          <a:p>
            <a:pPr algn="l">
              <a:lnSpc>
                <a:spcPts val="2160"/>
              </a:lnSpc>
            </a:pPr>
            <a:endParaRPr/>
          </a:p>
          <a:p>
            <a:pPr algn="l">
              <a:lnSpc>
                <a:spcPts val="1582"/>
              </a:lnSpc>
            </a:pPr>
            <a:r>
              <a:rPr lang="en-US" sz="1800" spc="97">
                <a:solidFill>
                  <a:srgbClr val="000000"/>
                </a:solidFill>
                <a:latin typeface="Verdana"/>
                <a:ea typeface="Verdana"/>
                <a:cs typeface="Verdana"/>
                <a:sym typeface="Verdana"/>
              </a:rPr>
              <a:t>COMPARABLE RUNS</a:t>
            </a:r>
          </a:p>
          <a:p>
            <a:pPr algn="l">
              <a:lnSpc>
                <a:spcPts val="8422"/>
              </a:lnSpc>
            </a:pPr>
            <a:r>
              <a:rPr lang="en-US" sz="7500" spc="-15">
                <a:solidFill>
                  <a:srgbClr val="000000"/>
                </a:solidFill>
                <a:latin typeface="Arial MT Pro"/>
                <a:ea typeface="Arial MT Pro"/>
                <a:cs typeface="Arial MT Pro"/>
                <a:sym typeface="Arial MT Pro"/>
              </a:rPr>
              <a:t>66.3691</a:t>
            </a:r>
          </a:p>
          <a:p>
            <a:pPr algn="l">
              <a:lnSpc>
                <a:spcPts val="2160"/>
              </a:lnSpc>
            </a:pPr>
            <a:r>
              <a:rPr lang="en-US" sz="1800" spc="-3">
                <a:solidFill>
                  <a:srgbClr val="000000"/>
                </a:solidFill>
                <a:latin typeface="Verdana"/>
                <a:ea typeface="Verdana"/>
                <a:cs typeface="Verdana"/>
                <a:sym typeface="Verdana"/>
              </a:rPr>
              <a:t>DRAM throughput (MB/s)</a:t>
            </a:r>
          </a:p>
          <a:p>
            <a:pPr algn="l">
              <a:lnSpc>
                <a:spcPts val="2160"/>
              </a:lnSpc>
            </a:pPr>
            <a:endParaRPr lang="en-US" sz="1800" spc="-3">
              <a:solidFill>
                <a:srgbClr val="000000"/>
              </a:solidFill>
              <a:latin typeface="Verdana"/>
              <a:ea typeface="Verdana"/>
              <a:cs typeface="Verdana"/>
              <a:sym typeface="Verdana"/>
            </a:endParaRPr>
          </a:p>
          <a:p>
            <a:pPr algn="l">
              <a:lnSpc>
                <a:spcPts val="2160"/>
              </a:lnSpc>
            </a:pPr>
            <a:endParaRPr lang="en-US" sz="1800" spc="-3">
              <a:solidFill>
                <a:srgbClr val="000000"/>
              </a:solidFill>
              <a:latin typeface="Verdana"/>
              <a:ea typeface="Verdana"/>
              <a:cs typeface="Verdana"/>
              <a:sym typeface="Verdana"/>
            </a:endParaRPr>
          </a:p>
          <a:p>
            <a:pPr algn="l">
              <a:lnSpc>
                <a:spcPts val="4320"/>
              </a:lnSpc>
            </a:pPr>
            <a:r>
              <a:rPr lang="en-US" sz="3600" spc="-420">
                <a:solidFill>
                  <a:srgbClr val="000000"/>
                </a:solidFill>
                <a:latin typeface="Verdana"/>
                <a:ea typeface="Verdana"/>
                <a:cs typeface="Verdana"/>
                <a:sym typeface="Verdana"/>
              </a:rPr>
              <a:t>14.19 ns</a:t>
            </a:r>
          </a:p>
          <a:p>
            <a:pPr algn="l">
              <a:lnSpc>
                <a:spcPts val="2160"/>
              </a:lnSpc>
            </a:pPr>
            <a:r>
              <a:rPr lang="en-US" sz="1800" spc="-30">
                <a:solidFill>
                  <a:srgbClr val="000000"/>
                </a:solidFill>
                <a:latin typeface="Verdana"/>
                <a:ea typeface="Verdana"/>
                <a:cs typeface="Verdana"/>
                <a:sym typeface="Verdana"/>
              </a:rPr>
              <a:t>Average DRAM delay in both</a:t>
            </a:r>
          </a:p>
          <a:p>
            <a:pPr algn="l">
              <a:lnSpc>
                <a:spcPts val="2160"/>
              </a:lnSpc>
            </a:pPr>
            <a:r>
              <a:rPr lang="en-US" sz="1800" spc="-30">
                <a:solidFill>
                  <a:srgbClr val="000000"/>
                </a:solidFill>
                <a:latin typeface="Verdana"/>
                <a:ea typeface="Verdana"/>
                <a:cs typeface="Verdana"/>
                <a:sym typeface="Verdana"/>
              </a:rPr>
              <a:t>recorded runs</a:t>
            </a:r>
          </a:p>
          <a:p>
            <a:pPr algn="l">
              <a:lnSpc>
                <a:spcPts val="4320"/>
              </a:lnSpc>
            </a:pPr>
            <a:r>
              <a:rPr lang="en-US" sz="3600" spc="82">
                <a:solidFill>
                  <a:srgbClr val="000000"/>
                </a:solidFill>
                <a:latin typeface="Verdana"/>
                <a:ea typeface="Verdana"/>
                <a:cs typeface="Verdana"/>
                <a:sym typeface="Verdana"/>
              </a:rPr>
              <a:t>0</a:t>
            </a:r>
          </a:p>
          <a:p>
            <a:pPr algn="l">
              <a:lnSpc>
                <a:spcPts val="2160"/>
              </a:lnSpc>
            </a:pPr>
            <a:r>
              <a:rPr lang="en-US" sz="1800" spc="-14">
                <a:solidFill>
                  <a:srgbClr val="000000"/>
                </a:solidFill>
                <a:latin typeface="Verdana"/>
                <a:ea typeface="Verdana"/>
                <a:cs typeface="Verdana"/>
                <a:sym typeface="Verdana"/>
              </a:rPr>
              <a:t>Request overflow in both</a:t>
            </a:r>
          </a:p>
          <a:p>
            <a:pPr algn="l">
              <a:lnSpc>
                <a:spcPts val="2160"/>
              </a:lnSpc>
            </a:pPr>
            <a:r>
              <a:rPr lang="en-US" sz="1800" spc="-14">
                <a:solidFill>
                  <a:srgbClr val="000000"/>
                </a:solidFill>
                <a:latin typeface="Verdana"/>
                <a:ea typeface="Verdana"/>
                <a:cs typeface="Verdana"/>
                <a:sym typeface="Verdana"/>
              </a:rPr>
              <a:t>recorded runs</a:t>
            </a:r>
          </a:p>
        </p:txBody>
      </p:sp>
      <p:sp>
        <p:nvSpPr>
          <p:cNvPr id="16" name="TextBox 16"/>
          <p:cNvSpPr txBox="1"/>
          <p:nvPr/>
        </p:nvSpPr>
        <p:spPr>
          <a:xfrm>
            <a:off x="17120426" y="9735664"/>
            <a:ext cx="273368" cy="277816"/>
          </a:xfrm>
          <a:prstGeom prst="rect">
            <a:avLst/>
          </a:prstGeom>
        </p:spPr>
        <p:txBody>
          <a:bodyPr lIns="0" tIns="0" rIns="0" bIns="0" rtlCol="0" anchor="t">
            <a:spAutoFit/>
          </a:bodyPr>
          <a:lstStyle/>
          <a:p>
            <a:pPr algn="l">
              <a:lnSpc>
                <a:spcPts val="1980"/>
              </a:lnSpc>
            </a:pPr>
            <a:r>
              <a:rPr lang="en-US" sz="1650" spc="-97">
                <a:solidFill>
                  <a:srgbClr val="F1F7F6"/>
                </a:solidFill>
                <a:latin typeface="Verdana"/>
                <a:ea typeface="Verdana"/>
                <a:cs typeface="Verdana"/>
                <a:sym typeface="Verdana"/>
              </a:rPr>
              <a:t>10</a:t>
            </a:r>
          </a:p>
        </p:txBody>
      </p:sp>
      <p:pic>
        <p:nvPicPr>
          <p:cNvPr id="20" name="Picture 19" descr="The image displays a table summarizing the statistics for a task's latency, showing that the maximum, mean, minimum, and standard deviation (SD) are all equal to 3.017604E-6.&#10;&#10;AI-generated content may be incorrect.">
            <a:extLst>
              <a:ext uri="{FF2B5EF4-FFF2-40B4-BE49-F238E27FC236}">
                <a16:creationId xmlns:a16="http://schemas.microsoft.com/office/drawing/2014/main" id="{457C1A3C-1828-F9BD-2810-57F3813A15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54660" y="4939074"/>
            <a:ext cx="5305425" cy="876300"/>
          </a:xfrm>
          <a:prstGeom prst="rect">
            <a:avLst/>
          </a:prstGeom>
        </p:spPr>
      </p:pic>
      <p:pic>
        <p:nvPicPr>
          <p:cNvPr id="22" name="Picture 21" descr="The image displays a technical configuration of an Xilinx Ultrascale trace, showing various statistics for cache memory usage, such as write bandwidth and bus utilization percentages.&#10;&#10;AI-generated content may be incorrect.">
            <a:extLst>
              <a:ext uri="{FF2B5EF4-FFF2-40B4-BE49-F238E27FC236}">
                <a16:creationId xmlns:a16="http://schemas.microsoft.com/office/drawing/2014/main" id="{F1013A3E-73DB-C854-242E-29C1F1D1B9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554661" y="6080021"/>
            <a:ext cx="5305425" cy="14097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90E23"/>
          </a:solidFill>
        </p:spPr>
        <p:txBody>
          <a:bodyPr wrap="square" lIns="0" tIns="0" rIns="0" bIns="0" rtlCol="0"/>
          <a:lstStyle/>
          <a:p>
            <a:endParaRPr sz="2700"/>
          </a:p>
        </p:txBody>
      </p:sp>
      <p:sp>
        <p:nvSpPr>
          <p:cNvPr id="4" name="object 4"/>
          <p:cNvSpPr txBox="1"/>
          <p:nvPr/>
        </p:nvSpPr>
        <p:spPr>
          <a:xfrm>
            <a:off x="895350" y="891158"/>
            <a:ext cx="4200525" cy="262572"/>
          </a:xfrm>
          <a:prstGeom prst="rect">
            <a:avLst/>
          </a:prstGeom>
        </p:spPr>
        <p:txBody>
          <a:bodyPr vert="horz" wrap="square" lIns="0" tIns="20003" rIns="0" bIns="0" rtlCol="0">
            <a:spAutoFit/>
          </a:bodyPr>
          <a:lstStyle/>
          <a:p>
            <a:pPr marL="19050">
              <a:spcBef>
                <a:spcPts val="158"/>
              </a:spcBef>
            </a:pPr>
            <a:r>
              <a:rPr sz="1575" dirty="0">
                <a:solidFill>
                  <a:srgbClr val="A7ACC8"/>
                </a:solidFill>
                <a:latin typeface="Lucida Console"/>
                <a:cs typeface="Lucida Console"/>
              </a:rPr>
              <a:t>L2</a:t>
            </a:r>
            <a:r>
              <a:rPr sz="1575" spc="203" dirty="0">
                <a:solidFill>
                  <a:srgbClr val="A7ACC8"/>
                </a:solidFill>
                <a:latin typeface="Lucida Console"/>
                <a:cs typeface="Lucida Console"/>
              </a:rPr>
              <a:t> </a:t>
            </a:r>
            <a:r>
              <a:rPr sz="1575" dirty="0">
                <a:solidFill>
                  <a:srgbClr val="A7ACC8"/>
                </a:solidFill>
                <a:latin typeface="Lucida Console"/>
                <a:cs typeface="Lucida Console"/>
              </a:rPr>
              <a:t>CAPACITY</a:t>
            </a:r>
            <a:r>
              <a:rPr sz="1575" spc="113" dirty="0">
                <a:solidFill>
                  <a:srgbClr val="A7ACC8"/>
                </a:solidFill>
                <a:latin typeface="Lucida Console"/>
                <a:cs typeface="Lucida Console"/>
              </a:rPr>
              <a:t> </a:t>
            </a:r>
            <a:r>
              <a:rPr sz="1575" dirty="0">
                <a:solidFill>
                  <a:srgbClr val="A7ACC8"/>
                </a:solidFill>
                <a:latin typeface="Lucida Console"/>
                <a:cs typeface="Lucida Console"/>
              </a:rPr>
              <a:t>·</a:t>
            </a:r>
            <a:r>
              <a:rPr sz="1575" spc="233" dirty="0">
                <a:solidFill>
                  <a:srgbClr val="A7ACC8"/>
                </a:solidFill>
                <a:latin typeface="Lucida Console"/>
                <a:cs typeface="Lucida Console"/>
              </a:rPr>
              <a:t> </a:t>
            </a:r>
            <a:r>
              <a:rPr sz="1575" dirty="0">
                <a:solidFill>
                  <a:srgbClr val="A7ACC8"/>
                </a:solidFill>
                <a:latin typeface="Lucida Console"/>
                <a:cs typeface="Lucida Console"/>
              </a:rPr>
              <a:t>RECORDED</a:t>
            </a:r>
            <a:r>
              <a:rPr sz="1575" spc="120" dirty="0">
                <a:solidFill>
                  <a:srgbClr val="A7ACC8"/>
                </a:solidFill>
                <a:latin typeface="Lucida Console"/>
                <a:cs typeface="Lucida Console"/>
              </a:rPr>
              <a:t> </a:t>
            </a:r>
            <a:r>
              <a:rPr sz="1575" spc="-15" dirty="0">
                <a:solidFill>
                  <a:srgbClr val="A7ACC8"/>
                </a:solidFill>
                <a:latin typeface="Lucida Console"/>
                <a:cs typeface="Lucida Console"/>
              </a:rPr>
              <a:t>COMPARISON</a:t>
            </a:r>
            <a:endParaRPr sz="1575">
              <a:latin typeface="Lucida Console"/>
              <a:cs typeface="Lucida Console"/>
            </a:endParaRPr>
          </a:p>
        </p:txBody>
      </p:sp>
      <p:sp>
        <p:nvSpPr>
          <p:cNvPr id="5" name="object 5" descr="$PPTXTitle"/>
          <p:cNvSpPr txBox="1">
            <a:spLocks noGrp="1"/>
          </p:cNvSpPr>
          <p:nvPr>
            <p:ph type="title"/>
          </p:nvPr>
        </p:nvSpPr>
        <p:spPr>
          <a:xfrm>
            <a:off x="895351" y="1116620"/>
            <a:ext cx="13766483" cy="1756443"/>
          </a:xfrm>
          <a:prstGeom prst="rect">
            <a:avLst/>
          </a:prstGeom>
        </p:spPr>
        <p:txBody>
          <a:bodyPr vert="horz" wrap="square" lIns="0" tIns="138113" rIns="0" bIns="0" rtlCol="0" anchor="ctr">
            <a:spAutoFit/>
          </a:bodyPr>
          <a:lstStyle/>
          <a:p>
            <a:pPr marL="19050" marR="7620">
              <a:lnSpc>
                <a:spcPts val="6345"/>
              </a:lnSpc>
              <a:spcBef>
                <a:spcPts val="1088"/>
              </a:spcBef>
            </a:pPr>
            <a:r>
              <a:rPr sz="6000" spc="-210" dirty="0">
                <a:solidFill>
                  <a:srgbClr val="F4F5F9"/>
                </a:solidFill>
              </a:rPr>
              <a:t>L2</a:t>
            </a:r>
            <a:r>
              <a:rPr sz="6000" spc="-758" dirty="0">
                <a:solidFill>
                  <a:srgbClr val="F4F5F9"/>
                </a:solidFill>
              </a:rPr>
              <a:t> </a:t>
            </a:r>
            <a:r>
              <a:rPr sz="6000" dirty="0">
                <a:solidFill>
                  <a:srgbClr val="F4F5F9"/>
                </a:solidFill>
              </a:rPr>
              <a:t>cache</a:t>
            </a:r>
            <a:r>
              <a:rPr sz="6000" spc="-818" dirty="0">
                <a:solidFill>
                  <a:srgbClr val="F4F5F9"/>
                </a:solidFill>
              </a:rPr>
              <a:t> </a:t>
            </a:r>
            <a:r>
              <a:rPr sz="6000" dirty="0">
                <a:solidFill>
                  <a:srgbClr val="F4F5F9"/>
                </a:solidFill>
              </a:rPr>
              <a:t>capacity</a:t>
            </a:r>
            <a:r>
              <a:rPr sz="6000" spc="-848" dirty="0">
                <a:solidFill>
                  <a:srgbClr val="F4F5F9"/>
                </a:solidFill>
              </a:rPr>
              <a:t> </a:t>
            </a:r>
            <a:r>
              <a:rPr sz="6000" spc="-45" dirty="0">
                <a:solidFill>
                  <a:srgbClr val="F4F5F9"/>
                </a:solidFill>
              </a:rPr>
              <a:t>did</a:t>
            </a:r>
            <a:r>
              <a:rPr sz="6000" spc="-750" dirty="0">
                <a:solidFill>
                  <a:srgbClr val="F4F5F9"/>
                </a:solidFill>
              </a:rPr>
              <a:t> </a:t>
            </a:r>
            <a:r>
              <a:rPr sz="6000" dirty="0">
                <a:solidFill>
                  <a:srgbClr val="F4F5F9"/>
                </a:solidFill>
              </a:rPr>
              <a:t>not</a:t>
            </a:r>
            <a:r>
              <a:rPr sz="6000" spc="-780" dirty="0">
                <a:solidFill>
                  <a:srgbClr val="F4F5F9"/>
                </a:solidFill>
              </a:rPr>
              <a:t> </a:t>
            </a:r>
            <a:r>
              <a:rPr sz="6000" spc="-293" dirty="0">
                <a:solidFill>
                  <a:srgbClr val="F4F5F9"/>
                </a:solidFill>
              </a:rPr>
              <a:t>improve</a:t>
            </a:r>
            <a:r>
              <a:rPr sz="6000" spc="-848" dirty="0">
                <a:solidFill>
                  <a:srgbClr val="F4F5F9"/>
                </a:solidFill>
              </a:rPr>
              <a:t> </a:t>
            </a:r>
            <a:r>
              <a:rPr sz="6000" spc="-38" dirty="0">
                <a:solidFill>
                  <a:srgbClr val="F4F5F9"/>
                </a:solidFill>
              </a:rPr>
              <a:t>the </a:t>
            </a:r>
            <a:r>
              <a:rPr sz="6000" spc="-270" dirty="0">
                <a:solidFill>
                  <a:srgbClr val="F4F5F9"/>
                </a:solidFill>
              </a:rPr>
              <a:t>measured</a:t>
            </a:r>
            <a:r>
              <a:rPr sz="6000" spc="-848" dirty="0">
                <a:solidFill>
                  <a:srgbClr val="F4F5F9"/>
                </a:solidFill>
              </a:rPr>
              <a:t> </a:t>
            </a:r>
            <a:r>
              <a:rPr sz="6000" spc="-30" dirty="0">
                <a:solidFill>
                  <a:srgbClr val="F4F5F9"/>
                </a:solidFill>
              </a:rPr>
              <a:t>hit</a:t>
            </a:r>
            <a:r>
              <a:rPr sz="6000" spc="-788" dirty="0">
                <a:solidFill>
                  <a:srgbClr val="F4F5F9"/>
                </a:solidFill>
              </a:rPr>
              <a:t> </a:t>
            </a:r>
            <a:r>
              <a:rPr sz="6000" spc="-30" dirty="0">
                <a:solidFill>
                  <a:srgbClr val="F4F5F9"/>
                </a:solidFill>
              </a:rPr>
              <a:t>rate</a:t>
            </a:r>
            <a:endParaRPr sz="6000" dirty="0"/>
          </a:p>
        </p:txBody>
      </p:sp>
      <p:sp>
        <p:nvSpPr>
          <p:cNvPr id="6" name="object 6"/>
          <p:cNvSpPr/>
          <p:nvPr/>
        </p:nvSpPr>
        <p:spPr>
          <a:xfrm>
            <a:off x="914400" y="3259835"/>
            <a:ext cx="763905" cy="60008"/>
          </a:xfrm>
          <a:custGeom>
            <a:avLst/>
            <a:gdLst/>
            <a:ahLst/>
            <a:cxnLst/>
            <a:rect l="l" t="t" r="r" b="b"/>
            <a:pathLst>
              <a:path w="509269" h="40005">
                <a:moveTo>
                  <a:pt x="489203" y="0"/>
                </a:moveTo>
                <a:lnTo>
                  <a:pt x="19812" y="0"/>
                </a:lnTo>
                <a:lnTo>
                  <a:pt x="12097" y="1559"/>
                </a:lnTo>
                <a:lnTo>
                  <a:pt x="5800" y="5810"/>
                </a:lnTo>
                <a:lnTo>
                  <a:pt x="1556" y="12108"/>
                </a:lnTo>
                <a:lnTo>
                  <a:pt x="0" y="19812"/>
                </a:lnTo>
                <a:lnTo>
                  <a:pt x="1556" y="27515"/>
                </a:lnTo>
                <a:lnTo>
                  <a:pt x="5800" y="33813"/>
                </a:lnTo>
                <a:lnTo>
                  <a:pt x="12097" y="38064"/>
                </a:lnTo>
                <a:lnTo>
                  <a:pt x="19812" y="39624"/>
                </a:lnTo>
                <a:lnTo>
                  <a:pt x="489203" y="39624"/>
                </a:lnTo>
                <a:lnTo>
                  <a:pt x="496918" y="38064"/>
                </a:lnTo>
                <a:lnTo>
                  <a:pt x="503215" y="33813"/>
                </a:lnTo>
                <a:lnTo>
                  <a:pt x="507459" y="27515"/>
                </a:lnTo>
                <a:lnTo>
                  <a:pt x="509016" y="19812"/>
                </a:lnTo>
                <a:lnTo>
                  <a:pt x="507459" y="12108"/>
                </a:lnTo>
                <a:lnTo>
                  <a:pt x="503215" y="5810"/>
                </a:lnTo>
                <a:lnTo>
                  <a:pt x="496918" y="1559"/>
                </a:lnTo>
                <a:lnTo>
                  <a:pt x="489203" y="0"/>
                </a:lnTo>
                <a:close/>
              </a:path>
            </a:pathLst>
          </a:custGeom>
          <a:solidFill>
            <a:srgbClr val="2A3357"/>
          </a:solidFill>
        </p:spPr>
        <p:txBody>
          <a:bodyPr wrap="square" lIns="0" tIns="0" rIns="0" bIns="0" rtlCol="0"/>
          <a:lstStyle/>
          <a:p>
            <a:endParaRPr sz="2700"/>
          </a:p>
        </p:txBody>
      </p:sp>
      <p:graphicFrame>
        <p:nvGraphicFramePr>
          <p:cNvPr id="7" name="object 7"/>
          <p:cNvGraphicFramePr>
            <a:graphicFrameLocks noGrp="1"/>
          </p:cNvGraphicFramePr>
          <p:nvPr>
            <p:extLst>
              <p:ext uri="{D42A27DB-BD31-4B8C-83A1-F6EECF244321}">
                <p14:modId xmlns:p14="http://schemas.microsoft.com/office/powerpoint/2010/main" val="3596613406"/>
              </p:ext>
            </p:extLst>
          </p:nvPr>
        </p:nvGraphicFramePr>
        <p:xfrm>
          <a:off x="933449" y="2873063"/>
          <a:ext cx="16459200" cy="2120265"/>
        </p:xfrm>
        <a:graphic>
          <a:graphicData uri="http://schemas.openxmlformats.org/drawingml/2006/table">
            <a:tbl>
              <a:tblPr firstRow="1" bandRow="1">
                <a:tableStyleId>{2D5ABB26-0587-4C30-8999-92F81FD0307C}</a:tableStyleId>
              </a:tblPr>
              <a:tblGrid>
                <a:gridCol w="2962275">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gridCol w="3621405">
                  <a:extLst>
                    <a:ext uri="{9D8B030D-6E8A-4147-A177-3AD203B41FA5}">
                      <a16:colId xmlns:a16="http://schemas.microsoft.com/office/drawing/2014/main" val="20004"/>
                    </a:ext>
                  </a:extLst>
                </a:gridCol>
              </a:tblGrid>
              <a:tr h="672464">
                <a:tc>
                  <a:txBody>
                    <a:bodyPr/>
                    <a:lstStyle/>
                    <a:p>
                      <a:pPr marL="64135">
                        <a:lnSpc>
                          <a:spcPct val="100000"/>
                        </a:lnSpc>
                        <a:spcBef>
                          <a:spcPts val="894"/>
                        </a:spcBef>
                      </a:pPr>
                      <a:r>
                        <a:rPr sz="2000" spc="-10" dirty="0">
                          <a:solidFill>
                            <a:srgbClr val="A7ACC8"/>
                          </a:solidFill>
                          <a:latin typeface="Lucida Sans Unicode"/>
                          <a:cs typeface="Lucida Sans Unicode"/>
                        </a:rPr>
                        <a:t>Configuration</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4769">
                        <a:lnSpc>
                          <a:spcPct val="100000"/>
                        </a:lnSpc>
                        <a:spcBef>
                          <a:spcPts val="894"/>
                        </a:spcBef>
                      </a:pPr>
                      <a:r>
                        <a:rPr sz="2000" spc="-20" dirty="0">
                          <a:solidFill>
                            <a:srgbClr val="A7ACC8"/>
                          </a:solidFill>
                          <a:latin typeface="Lucida Sans Unicode"/>
                          <a:cs typeface="Lucida Sans Unicode"/>
                        </a:rPr>
                        <a:t>Hit</a:t>
                      </a:r>
                      <a:r>
                        <a:rPr sz="2000" spc="-70" dirty="0">
                          <a:solidFill>
                            <a:srgbClr val="A7ACC8"/>
                          </a:solidFill>
                          <a:latin typeface="Lucida Sans Unicode"/>
                          <a:cs typeface="Lucida Sans Unicode"/>
                        </a:rPr>
                        <a:t> </a:t>
                      </a:r>
                      <a:r>
                        <a:rPr sz="2000" spc="-10" dirty="0">
                          <a:solidFill>
                            <a:srgbClr val="A7ACC8"/>
                          </a:solidFill>
                          <a:latin typeface="Lucida Sans Unicode"/>
                          <a:cs typeface="Lucida Sans Unicode"/>
                        </a:rPr>
                        <a:t>ratio</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4769">
                        <a:lnSpc>
                          <a:spcPct val="100000"/>
                        </a:lnSpc>
                        <a:spcBef>
                          <a:spcPts val="894"/>
                        </a:spcBef>
                      </a:pPr>
                      <a:r>
                        <a:rPr sz="2000" dirty="0">
                          <a:solidFill>
                            <a:srgbClr val="A7ACC8"/>
                          </a:solidFill>
                          <a:latin typeface="Lucida Sans Unicode"/>
                          <a:cs typeface="Lucida Sans Unicode"/>
                        </a:rPr>
                        <a:t>Miss</a:t>
                      </a:r>
                      <a:r>
                        <a:rPr sz="2000" spc="-85" dirty="0">
                          <a:solidFill>
                            <a:srgbClr val="A7ACC8"/>
                          </a:solidFill>
                          <a:latin typeface="Lucida Sans Unicode"/>
                          <a:cs typeface="Lucida Sans Unicode"/>
                        </a:rPr>
                        <a:t> </a:t>
                      </a:r>
                      <a:r>
                        <a:rPr sz="2000" spc="-10" dirty="0">
                          <a:solidFill>
                            <a:srgbClr val="A7ACC8"/>
                          </a:solidFill>
                          <a:latin typeface="Lucida Sans Unicode"/>
                          <a:cs typeface="Lucida Sans Unicode"/>
                        </a:rPr>
                        <a:t>ratio</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5405">
                        <a:lnSpc>
                          <a:spcPct val="100000"/>
                        </a:lnSpc>
                        <a:spcBef>
                          <a:spcPts val="894"/>
                        </a:spcBef>
                      </a:pPr>
                      <a:r>
                        <a:rPr sz="2000" dirty="0">
                          <a:solidFill>
                            <a:srgbClr val="A7ACC8"/>
                          </a:solidFill>
                          <a:latin typeface="Lucida Sans Unicode"/>
                          <a:cs typeface="Lucida Sans Unicode"/>
                        </a:rPr>
                        <a:t>Average</a:t>
                      </a:r>
                      <a:r>
                        <a:rPr sz="2000" spc="100" dirty="0">
                          <a:solidFill>
                            <a:srgbClr val="A7ACC8"/>
                          </a:solidFill>
                          <a:latin typeface="Lucida Sans Unicode"/>
                          <a:cs typeface="Lucida Sans Unicode"/>
                        </a:rPr>
                        <a:t> </a:t>
                      </a:r>
                      <a:r>
                        <a:rPr sz="2000" spc="-10" dirty="0">
                          <a:solidFill>
                            <a:srgbClr val="A7ACC8"/>
                          </a:solidFill>
                          <a:latin typeface="Lucida Sans Unicode"/>
                          <a:cs typeface="Lucida Sans Unicode"/>
                        </a:rPr>
                        <a:t>latency</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6040">
                        <a:lnSpc>
                          <a:spcPct val="100000"/>
                        </a:lnSpc>
                        <a:spcBef>
                          <a:spcPts val="894"/>
                        </a:spcBef>
                      </a:pPr>
                      <a:r>
                        <a:rPr sz="2000" spc="-10" dirty="0">
                          <a:solidFill>
                            <a:srgbClr val="A7ACC8"/>
                          </a:solidFill>
                          <a:latin typeface="Lucida Sans Unicode"/>
                          <a:cs typeface="Lucida Sans Unicode"/>
                        </a:rPr>
                        <a:t>Utilization</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extLst>
                  <a:ext uri="{0D108BD9-81ED-4DB2-BD59-A6C34878D82A}">
                    <a16:rowId xmlns:a16="http://schemas.microsoft.com/office/drawing/2014/main" val="10000"/>
                  </a:ext>
                </a:extLst>
              </a:tr>
              <a:tr h="728663">
                <a:tc>
                  <a:txBody>
                    <a:bodyPr/>
                    <a:lstStyle/>
                    <a:p>
                      <a:pPr marL="64135">
                        <a:lnSpc>
                          <a:spcPct val="100000"/>
                        </a:lnSpc>
                        <a:spcBef>
                          <a:spcPts val="890"/>
                        </a:spcBef>
                      </a:pPr>
                      <a:r>
                        <a:rPr sz="2300" b="1" dirty="0">
                          <a:solidFill>
                            <a:srgbClr val="DDDFED"/>
                          </a:solidFill>
                          <a:latin typeface="Tahoma"/>
                          <a:cs typeface="Tahoma"/>
                        </a:rPr>
                        <a:t>1</a:t>
                      </a:r>
                      <a:r>
                        <a:rPr sz="2300" b="1" spc="25" dirty="0">
                          <a:solidFill>
                            <a:srgbClr val="DDDFED"/>
                          </a:solidFill>
                          <a:latin typeface="Tahoma"/>
                          <a:cs typeface="Tahoma"/>
                        </a:rPr>
                        <a:t> </a:t>
                      </a:r>
                      <a:r>
                        <a:rPr sz="2300" b="1" spc="-75" dirty="0">
                          <a:solidFill>
                            <a:srgbClr val="DDDFED"/>
                          </a:solidFill>
                          <a:latin typeface="Tahoma"/>
                          <a:cs typeface="Tahoma"/>
                        </a:rPr>
                        <a:t>MB</a:t>
                      </a:r>
                      <a:r>
                        <a:rPr sz="2300" b="1" spc="-10" dirty="0">
                          <a:solidFill>
                            <a:srgbClr val="DDDFED"/>
                          </a:solidFill>
                          <a:latin typeface="Tahoma"/>
                          <a:cs typeface="Tahoma"/>
                        </a:rPr>
                        <a:t> baseline</a:t>
                      </a:r>
                      <a:endParaRPr sz="2300" dirty="0">
                        <a:latin typeface="Tahoma"/>
                        <a:cs typeface="Tahoma"/>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4769">
                        <a:lnSpc>
                          <a:spcPct val="100000"/>
                        </a:lnSpc>
                        <a:spcBef>
                          <a:spcPts val="890"/>
                        </a:spcBef>
                      </a:pPr>
                      <a:r>
                        <a:rPr sz="2300" spc="-10" dirty="0">
                          <a:solidFill>
                            <a:srgbClr val="DDDFED"/>
                          </a:solidFill>
                          <a:latin typeface="Lucida Sans Unicode"/>
                          <a:cs typeface="Lucida Sans Unicode"/>
                        </a:rPr>
                        <a:t>48.1891%</a:t>
                      </a:r>
                      <a:endParaRPr sz="2300">
                        <a:latin typeface="Lucida Sans Unicode"/>
                        <a:cs typeface="Lucida Sans Unicode"/>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4769">
                        <a:lnSpc>
                          <a:spcPct val="100000"/>
                        </a:lnSpc>
                        <a:spcBef>
                          <a:spcPts val="890"/>
                        </a:spcBef>
                      </a:pPr>
                      <a:r>
                        <a:rPr sz="2300" spc="-10" dirty="0">
                          <a:solidFill>
                            <a:srgbClr val="DDDFED"/>
                          </a:solidFill>
                          <a:latin typeface="Lucida Sans Unicode"/>
                          <a:cs typeface="Lucida Sans Unicode"/>
                        </a:rPr>
                        <a:t>51.8109%</a:t>
                      </a:r>
                      <a:endParaRPr sz="2300">
                        <a:latin typeface="Lucida Sans Unicode"/>
                        <a:cs typeface="Lucida Sans Unicode"/>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5405">
                        <a:lnSpc>
                          <a:spcPct val="100000"/>
                        </a:lnSpc>
                        <a:spcBef>
                          <a:spcPts val="890"/>
                        </a:spcBef>
                      </a:pPr>
                      <a:r>
                        <a:rPr sz="2300" dirty="0">
                          <a:solidFill>
                            <a:srgbClr val="DDDFED"/>
                          </a:solidFill>
                          <a:latin typeface="Lucida Sans Unicode"/>
                          <a:cs typeface="Lucida Sans Unicode"/>
                        </a:rPr>
                        <a:t>94.9896</a:t>
                      </a:r>
                      <a:r>
                        <a:rPr sz="2300" spc="-65" dirty="0">
                          <a:solidFill>
                            <a:srgbClr val="DDDFED"/>
                          </a:solidFill>
                          <a:latin typeface="Lucida Sans Unicode"/>
                          <a:cs typeface="Lucida Sans Unicode"/>
                        </a:rPr>
                        <a:t> </a:t>
                      </a:r>
                      <a:r>
                        <a:rPr sz="2300" spc="-25" dirty="0">
                          <a:solidFill>
                            <a:srgbClr val="DDDFED"/>
                          </a:solidFill>
                          <a:latin typeface="Lucida Sans Unicode"/>
                          <a:cs typeface="Lucida Sans Unicode"/>
                        </a:rPr>
                        <a:t>ns</a:t>
                      </a:r>
                      <a:endParaRPr sz="2300">
                        <a:latin typeface="Lucida Sans Unicode"/>
                        <a:cs typeface="Lucida Sans Unicode"/>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6040">
                        <a:lnSpc>
                          <a:spcPct val="100000"/>
                        </a:lnSpc>
                        <a:spcBef>
                          <a:spcPts val="890"/>
                        </a:spcBef>
                      </a:pPr>
                      <a:r>
                        <a:rPr sz="2300" spc="-10" dirty="0">
                          <a:solidFill>
                            <a:srgbClr val="DDDFED"/>
                          </a:solidFill>
                          <a:latin typeface="Lucida Sans Unicode"/>
                          <a:cs typeface="Lucida Sans Unicode"/>
                        </a:rPr>
                        <a:t>4.5494%</a:t>
                      </a:r>
                      <a:endParaRPr sz="2300">
                        <a:latin typeface="Lucida Sans Unicode"/>
                        <a:cs typeface="Lucida Sans Unicode"/>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extLst>
                  <a:ext uri="{0D108BD9-81ED-4DB2-BD59-A6C34878D82A}">
                    <a16:rowId xmlns:a16="http://schemas.microsoft.com/office/drawing/2014/main" val="10001"/>
                  </a:ext>
                </a:extLst>
              </a:tr>
              <a:tr h="719138">
                <a:tc>
                  <a:txBody>
                    <a:bodyPr/>
                    <a:lstStyle/>
                    <a:p>
                      <a:pPr marL="64135">
                        <a:lnSpc>
                          <a:spcPct val="100000"/>
                        </a:lnSpc>
                        <a:spcBef>
                          <a:spcPts val="865"/>
                        </a:spcBef>
                      </a:pPr>
                      <a:r>
                        <a:rPr sz="2300" b="1" dirty="0">
                          <a:solidFill>
                            <a:srgbClr val="DDDFED"/>
                          </a:solidFill>
                          <a:latin typeface="Tahoma"/>
                          <a:cs typeface="Tahoma"/>
                        </a:rPr>
                        <a:t>2</a:t>
                      </a:r>
                      <a:r>
                        <a:rPr sz="2300" b="1" spc="25" dirty="0">
                          <a:solidFill>
                            <a:srgbClr val="DDDFED"/>
                          </a:solidFill>
                          <a:latin typeface="Tahoma"/>
                          <a:cs typeface="Tahoma"/>
                        </a:rPr>
                        <a:t> </a:t>
                      </a:r>
                      <a:r>
                        <a:rPr sz="2300" b="1" spc="-75" dirty="0">
                          <a:solidFill>
                            <a:srgbClr val="DDDFED"/>
                          </a:solidFill>
                          <a:latin typeface="Tahoma"/>
                          <a:cs typeface="Tahoma"/>
                        </a:rPr>
                        <a:t>MB</a:t>
                      </a:r>
                      <a:r>
                        <a:rPr sz="2300" b="1" spc="-20" dirty="0">
                          <a:solidFill>
                            <a:srgbClr val="DDDFED"/>
                          </a:solidFill>
                          <a:latin typeface="Tahoma"/>
                          <a:cs typeface="Tahoma"/>
                        </a:rPr>
                        <a:t> </a:t>
                      </a:r>
                      <a:r>
                        <a:rPr sz="2300" b="1" spc="-40" dirty="0">
                          <a:solidFill>
                            <a:srgbClr val="DDDFED"/>
                          </a:solidFill>
                          <a:latin typeface="Tahoma"/>
                          <a:cs typeface="Tahoma"/>
                        </a:rPr>
                        <a:t>recorded</a:t>
                      </a:r>
                      <a:r>
                        <a:rPr sz="2300" b="1" spc="-45" dirty="0">
                          <a:solidFill>
                            <a:srgbClr val="DDDFED"/>
                          </a:solidFill>
                          <a:latin typeface="Tahoma"/>
                          <a:cs typeface="Tahoma"/>
                        </a:rPr>
                        <a:t> </a:t>
                      </a:r>
                      <a:r>
                        <a:rPr sz="2300" b="1" spc="-25" dirty="0">
                          <a:solidFill>
                            <a:srgbClr val="DDDFED"/>
                          </a:solidFill>
                          <a:latin typeface="Tahoma"/>
                          <a:cs typeface="Tahoma"/>
                        </a:rPr>
                        <a:t>run</a:t>
                      </a:r>
                      <a:endParaRPr sz="2300" dirty="0">
                        <a:latin typeface="Tahoma"/>
                        <a:cs typeface="Tahoma"/>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4769">
                        <a:lnSpc>
                          <a:spcPct val="100000"/>
                        </a:lnSpc>
                        <a:spcBef>
                          <a:spcPts val="865"/>
                        </a:spcBef>
                      </a:pPr>
                      <a:r>
                        <a:rPr sz="2300" spc="-10" dirty="0">
                          <a:solidFill>
                            <a:srgbClr val="DDDFED"/>
                          </a:solidFill>
                          <a:latin typeface="Lucida Sans Unicode"/>
                          <a:cs typeface="Lucida Sans Unicode"/>
                        </a:rPr>
                        <a:t>43.51%</a:t>
                      </a:r>
                      <a:endParaRPr sz="2300">
                        <a:latin typeface="Lucida Sans Unicode"/>
                        <a:cs typeface="Lucida Sans Unicode"/>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4769">
                        <a:lnSpc>
                          <a:spcPct val="100000"/>
                        </a:lnSpc>
                        <a:spcBef>
                          <a:spcPts val="865"/>
                        </a:spcBef>
                      </a:pPr>
                      <a:r>
                        <a:rPr sz="2300" spc="-10" dirty="0">
                          <a:solidFill>
                            <a:srgbClr val="DDDFED"/>
                          </a:solidFill>
                          <a:latin typeface="Lucida Sans Unicode"/>
                          <a:cs typeface="Lucida Sans Unicode"/>
                        </a:rPr>
                        <a:t>56.49%</a:t>
                      </a:r>
                      <a:endParaRPr sz="2300">
                        <a:latin typeface="Lucida Sans Unicode"/>
                        <a:cs typeface="Lucida Sans Unicode"/>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5405">
                        <a:lnSpc>
                          <a:spcPct val="100000"/>
                        </a:lnSpc>
                        <a:spcBef>
                          <a:spcPts val="865"/>
                        </a:spcBef>
                      </a:pPr>
                      <a:r>
                        <a:rPr sz="2300" dirty="0">
                          <a:solidFill>
                            <a:srgbClr val="DDDFED"/>
                          </a:solidFill>
                          <a:latin typeface="Lucida Sans Unicode"/>
                          <a:cs typeface="Lucida Sans Unicode"/>
                        </a:rPr>
                        <a:t>103.67</a:t>
                      </a:r>
                      <a:r>
                        <a:rPr sz="2300" spc="-65" dirty="0">
                          <a:solidFill>
                            <a:srgbClr val="DDDFED"/>
                          </a:solidFill>
                          <a:latin typeface="Lucida Sans Unicode"/>
                          <a:cs typeface="Lucida Sans Unicode"/>
                        </a:rPr>
                        <a:t> </a:t>
                      </a:r>
                      <a:r>
                        <a:rPr sz="2300" spc="-25" dirty="0">
                          <a:solidFill>
                            <a:srgbClr val="DDDFED"/>
                          </a:solidFill>
                          <a:latin typeface="Lucida Sans Unicode"/>
                          <a:cs typeface="Lucida Sans Unicode"/>
                        </a:rPr>
                        <a:t>ns</a:t>
                      </a:r>
                      <a:endParaRPr sz="2300">
                        <a:latin typeface="Lucida Sans Unicode"/>
                        <a:cs typeface="Lucida Sans Unicode"/>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6040">
                        <a:lnSpc>
                          <a:spcPct val="100000"/>
                        </a:lnSpc>
                        <a:spcBef>
                          <a:spcPts val="865"/>
                        </a:spcBef>
                      </a:pPr>
                      <a:r>
                        <a:rPr sz="2300" spc="40" dirty="0">
                          <a:solidFill>
                            <a:srgbClr val="DDDFED"/>
                          </a:solidFill>
                          <a:latin typeface="Lucida Sans Unicode"/>
                          <a:cs typeface="Lucida Sans Unicode"/>
                        </a:rPr>
                        <a:t>8.45%</a:t>
                      </a:r>
                      <a:endParaRPr sz="2300" dirty="0">
                        <a:latin typeface="Lucida Sans Unicode"/>
                        <a:cs typeface="Lucida Sans Unicode"/>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extLst>
                  <a:ext uri="{0D108BD9-81ED-4DB2-BD59-A6C34878D82A}">
                    <a16:rowId xmlns:a16="http://schemas.microsoft.com/office/drawing/2014/main" val="10002"/>
                  </a:ext>
                </a:extLst>
              </a:tr>
            </a:tbl>
          </a:graphicData>
        </a:graphic>
      </p:graphicFrame>
      <p:sp>
        <p:nvSpPr>
          <p:cNvPr id="8" name="object 8"/>
          <p:cNvSpPr txBox="1"/>
          <p:nvPr/>
        </p:nvSpPr>
        <p:spPr>
          <a:xfrm>
            <a:off x="921067" y="5106948"/>
            <a:ext cx="8222933" cy="273152"/>
          </a:xfrm>
          <a:prstGeom prst="rect">
            <a:avLst/>
          </a:prstGeom>
        </p:spPr>
        <p:txBody>
          <a:bodyPr vert="horz" wrap="square" lIns="0" tIns="19050" rIns="0" bIns="0" rtlCol="0">
            <a:spAutoFit/>
          </a:bodyPr>
          <a:lstStyle/>
          <a:p>
            <a:pPr marL="19050">
              <a:spcBef>
                <a:spcPts val="150"/>
              </a:spcBef>
            </a:pPr>
            <a:r>
              <a:rPr sz="1650" spc="-15" dirty="0">
                <a:solidFill>
                  <a:srgbClr val="A7ACC8"/>
                </a:solidFill>
                <a:latin typeface="Lucida Sans Unicode"/>
                <a:cs typeface="Lucida Sans Unicode"/>
              </a:rPr>
              <a:t>For</a:t>
            </a:r>
            <a:r>
              <a:rPr sz="1650" spc="-38" dirty="0">
                <a:solidFill>
                  <a:srgbClr val="A7ACC8"/>
                </a:solidFill>
                <a:latin typeface="Lucida Sans Unicode"/>
                <a:cs typeface="Lucida Sans Unicode"/>
              </a:rPr>
              <a:t> </a:t>
            </a:r>
            <a:r>
              <a:rPr sz="1650" spc="-53" dirty="0">
                <a:solidFill>
                  <a:srgbClr val="A7ACC8"/>
                </a:solidFill>
                <a:latin typeface="Lucida Sans Unicode"/>
                <a:cs typeface="Lucida Sans Unicode"/>
              </a:rPr>
              <a:t>this</a:t>
            </a:r>
            <a:r>
              <a:rPr sz="1650" spc="-38" dirty="0">
                <a:solidFill>
                  <a:srgbClr val="A7ACC8"/>
                </a:solidFill>
                <a:latin typeface="Lucida Sans Unicode"/>
                <a:cs typeface="Lucida Sans Unicode"/>
              </a:rPr>
              <a:t> </a:t>
            </a:r>
            <a:r>
              <a:rPr sz="1650" spc="-53" dirty="0">
                <a:solidFill>
                  <a:srgbClr val="A7ACC8"/>
                </a:solidFill>
                <a:latin typeface="Lucida Sans Unicode"/>
                <a:cs typeface="Lucida Sans Unicode"/>
              </a:rPr>
              <a:t>workload,</a:t>
            </a:r>
            <a:r>
              <a:rPr sz="1650" spc="-23" dirty="0">
                <a:solidFill>
                  <a:srgbClr val="A7ACC8"/>
                </a:solidFill>
                <a:latin typeface="Lucida Sans Unicode"/>
                <a:cs typeface="Lucida Sans Unicode"/>
              </a:rPr>
              <a:t> </a:t>
            </a:r>
            <a:r>
              <a:rPr sz="1650" spc="-30" dirty="0">
                <a:solidFill>
                  <a:srgbClr val="A7ACC8"/>
                </a:solidFill>
                <a:latin typeface="Lucida Sans Unicode"/>
                <a:cs typeface="Lucida Sans Unicode"/>
              </a:rPr>
              <a:t>more </a:t>
            </a:r>
            <a:r>
              <a:rPr sz="1650" dirty="0">
                <a:solidFill>
                  <a:srgbClr val="A7ACC8"/>
                </a:solidFill>
                <a:latin typeface="Lucida Sans Unicode"/>
                <a:cs typeface="Lucida Sans Unicode"/>
              </a:rPr>
              <a:t>capacity</a:t>
            </a:r>
            <a:r>
              <a:rPr sz="1650" spc="-83" dirty="0">
                <a:solidFill>
                  <a:srgbClr val="A7ACC8"/>
                </a:solidFill>
                <a:latin typeface="Lucida Sans Unicode"/>
                <a:cs typeface="Lucida Sans Unicode"/>
              </a:rPr>
              <a:t> </a:t>
            </a:r>
            <a:r>
              <a:rPr sz="1650" spc="-60" dirty="0">
                <a:solidFill>
                  <a:srgbClr val="A7ACC8"/>
                </a:solidFill>
                <a:latin typeface="Lucida Sans Unicode"/>
                <a:cs typeface="Lucida Sans Unicode"/>
              </a:rPr>
              <a:t>did</a:t>
            </a:r>
            <a:r>
              <a:rPr sz="1650" spc="-68" dirty="0">
                <a:solidFill>
                  <a:srgbClr val="A7ACC8"/>
                </a:solidFill>
                <a:latin typeface="Lucida Sans Unicode"/>
                <a:cs typeface="Lucida Sans Unicode"/>
              </a:rPr>
              <a:t> </a:t>
            </a:r>
            <a:r>
              <a:rPr sz="1650" spc="-53" dirty="0">
                <a:solidFill>
                  <a:srgbClr val="A7ACC8"/>
                </a:solidFill>
                <a:latin typeface="Lucida Sans Unicode"/>
                <a:cs typeface="Lucida Sans Unicode"/>
              </a:rPr>
              <a:t>not</a:t>
            </a:r>
            <a:r>
              <a:rPr sz="1650" spc="-23" dirty="0">
                <a:solidFill>
                  <a:srgbClr val="A7ACC8"/>
                </a:solidFill>
                <a:latin typeface="Lucida Sans Unicode"/>
                <a:cs typeface="Lucida Sans Unicode"/>
              </a:rPr>
              <a:t> </a:t>
            </a:r>
            <a:r>
              <a:rPr sz="1650" spc="-45" dirty="0">
                <a:solidFill>
                  <a:srgbClr val="A7ACC8"/>
                </a:solidFill>
                <a:latin typeface="Lucida Sans Unicode"/>
                <a:cs typeface="Lucida Sans Unicode"/>
              </a:rPr>
              <a:t>automatically</a:t>
            </a:r>
            <a:r>
              <a:rPr sz="1650" spc="-83" dirty="0">
                <a:solidFill>
                  <a:srgbClr val="A7ACC8"/>
                </a:solidFill>
                <a:latin typeface="Lucida Sans Unicode"/>
                <a:cs typeface="Lucida Sans Unicode"/>
              </a:rPr>
              <a:t> </a:t>
            </a:r>
            <a:r>
              <a:rPr sz="1650" spc="-38" dirty="0">
                <a:solidFill>
                  <a:srgbClr val="A7ACC8"/>
                </a:solidFill>
                <a:latin typeface="Lucida Sans Unicode"/>
                <a:cs typeface="Lucida Sans Unicode"/>
              </a:rPr>
              <a:t>improve</a:t>
            </a:r>
            <a:r>
              <a:rPr sz="1650" spc="-30" dirty="0">
                <a:solidFill>
                  <a:srgbClr val="A7ACC8"/>
                </a:solidFill>
                <a:latin typeface="Lucida Sans Unicode"/>
                <a:cs typeface="Lucida Sans Unicode"/>
              </a:rPr>
              <a:t> </a:t>
            </a:r>
            <a:r>
              <a:rPr sz="1650" dirty="0">
                <a:solidFill>
                  <a:srgbClr val="A7ACC8"/>
                </a:solidFill>
                <a:latin typeface="Lucida Sans Unicode"/>
                <a:cs typeface="Lucida Sans Unicode"/>
              </a:rPr>
              <a:t>cache</a:t>
            </a:r>
            <a:r>
              <a:rPr sz="1650" spc="-68" dirty="0">
                <a:solidFill>
                  <a:srgbClr val="A7ACC8"/>
                </a:solidFill>
                <a:latin typeface="Lucida Sans Unicode"/>
                <a:cs typeface="Lucida Sans Unicode"/>
              </a:rPr>
              <a:t> </a:t>
            </a:r>
            <a:r>
              <a:rPr sz="1650" spc="-15" dirty="0">
                <a:solidFill>
                  <a:srgbClr val="A7ACC8"/>
                </a:solidFill>
                <a:latin typeface="Lucida Sans Unicode"/>
                <a:cs typeface="Lucida Sans Unicode"/>
              </a:rPr>
              <a:t>performance.</a:t>
            </a:r>
            <a:endParaRPr sz="1650" dirty="0">
              <a:latin typeface="Lucida Sans Unicode"/>
              <a:cs typeface="Lucida Sans Unicode"/>
            </a:endParaRPr>
          </a:p>
        </p:txBody>
      </p:sp>
      <p:pic>
        <p:nvPicPr>
          <p:cNvPr id="10" name="Picture 9" descr="This image displays various metrics related to DRAM performance, including total requests, completed requests, read/write bytes, and queue usage.&#10;&#10;AI-generated content may be incorrect.">
            <a:extLst>
              <a:ext uri="{FF2B5EF4-FFF2-40B4-BE49-F238E27FC236}">
                <a16:creationId xmlns:a16="http://schemas.microsoft.com/office/drawing/2014/main" id="{C8ED9C79-22C8-BBE2-DACA-C76D5F25C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350" y="5528688"/>
            <a:ext cx="16459200" cy="45183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90E23"/>
          </a:solidFill>
        </p:spPr>
        <p:txBody>
          <a:bodyPr wrap="square" lIns="0" tIns="0" rIns="0" bIns="0" rtlCol="0"/>
          <a:lstStyle/>
          <a:p>
            <a:endParaRPr sz="2700"/>
          </a:p>
        </p:txBody>
      </p:sp>
      <p:sp>
        <p:nvSpPr>
          <p:cNvPr id="4" name="object 4"/>
          <p:cNvSpPr txBox="1"/>
          <p:nvPr/>
        </p:nvSpPr>
        <p:spPr>
          <a:xfrm>
            <a:off x="895351" y="891158"/>
            <a:ext cx="3948113" cy="262572"/>
          </a:xfrm>
          <a:prstGeom prst="rect">
            <a:avLst/>
          </a:prstGeom>
        </p:spPr>
        <p:txBody>
          <a:bodyPr vert="horz" wrap="square" lIns="0" tIns="20003" rIns="0" bIns="0" rtlCol="0">
            <a:spAutoFit/>
          </a:bodyPr>
          <a:lstStyle/>
          <a:p>
            <a:pPr marL="19050">
              <a:spcBef>
                <a:spcPts val="158"/>
              </a:spcBef>
            </a:pPr>
            <a:r>
              <a:rPr sz="1575" dirty="0">
                <a:solidFill>
                  <a:srgbClr val="A7ACC8"/>
                </a:solidFill>
                <a:latin typeface="Lucida Console"/>
                <a:cs typeface="Lucida Console"/>
              </a:rPr>
              <a:t>BUS</a:t>
            </a:r>
            <a:r>
              <a:rPr sz="1575" spc="188" dirty="0">
                <a:solidFill>
                  <a:srgbClr val="A7ACC8"/>
                </a:solidFill>
                <a:latin typeface="Lucida Console"/>
                <a:cs typeface="Lucida Console"/>
              </a:rPr>
              <a:t> </a:t>
            </a:r>
            <a:r>
              <a:rPr sz="1575" dirty="0">
                <a:solidFill>
                  <a:srgbClr val="A7ACC8"/>
                </a:solidFill>
                <a:latin typeface="Lucida Console"/>
                <a:cs typeface="Lucida Console"/>
              </a:rPr>
              <a:t>WIDTH</a:t>
            </a:r>
            <a:r>
              <a:rPr sz="1575" spc="98" dirty="0">
                <a:solidFill>
                  <a:srgbClr val="A7ACC8"/>
                </a:solidFill>
                <a:latin typeface="Lucida Console"/>
                <a:cs typeface="Lucida Console"/>
              </a:rPr>
              <a:t> </a:t>
            </a:r>
            <a:r>
              <a:rPr sz="1575" dirty="0">
                <a:solidFill>
                  <a:srgbClr val="A7ACC8"/>
                </a:solidFill>
                <a:latin typeface="Lucida Console"/>
                <a:cs typeface="Lucida Console"/>
              </a:rPr>
              <a:t>·</a:t>
            </a:r>
            <a:r>
              <a:rPr sz="1575" spc="225" dirty="0">
                <a:solidFill>
                  <a:srgbClr val="A7ACC8"/>
                </a:solidFill>
                <a:latin typeface="Lucida Console"/>
                <a:cs typeface="Lucida Console"/>
              </a:rPr>
              <a:t> </a:t>
            </a:r>
            <a:r>
              <a:rPr sz="1575" dirty="0">
                <a:solidFill>
                  <a:srgbClr val="A7ACC8"/>
                </a:solidFill>
                <a:latin typeface="Lucida Console"/>
                <a:cs typeface="Lucida Console"/>
              </a:rPr>
              <a:t>RECORDED</a:t>
            </a:r>
            <a:r>
              <a:rPr sz="1575" spc="98" dirty="0">
                <a:solidFill>
                  <a:srgbClr val="A7ACC8"/>
                </a:solidFill>
                <a:latin typeface="Lucida Console"/>
                <a:cs typeface="Lucida Console"/>
              </a:rPr>
              <a:t> </a:t>
            </a:r>
            <a:r>
              <a:rPr sz="1575" spc="-15" dirty="0">
                <a:solidFill>
                  <a:srgbClr val="A7ACC8"/>
                </a:solidFill>
                <a:latin typeface="Lucida Console"/>
                <a:cs typeface="Lucida Console"/>
              </a:rPr>
              <a:t>COMPARISON</a:t>
            </a:r>
            <a:endParaRPr sz="1575">
              <a:latin typeface="Lucida Console"/>
              <a:cs typeface="Lucida Console"/>
            </a:endParaRPr>
          </a:p>
        </p:txBody>
      </p:sp>
      <p:sp>
        <p:nvSpPr>
          <p:cNvPr id="5" name="object 5" descr="$PPTXTitle"/>
          <p:cNvSpPr txBox="1">
            <a:spLocks noGrp="1"/>
          </p:cNvSpPr>
          <p:nvPr>
            <p:ph type="title"/>
          </p:nvPr>
        </p:nvSpPr>
        <p:spPr>
          <a:xfrm>
            <a:off x="895351" y="1116620"/>
            <a:ext cx="14968538" cy="1756443"/>
          </a:xfrm>
          <a:prstGeom prst="rect">
            <a:avLst/>
          </a:prstGeom>
        </p:spPr>
        <p:txBody>
          <a:bodyPr vert="horz" wrap="square" lIns="0" tIns="138113" rIns="0" bIns="0" rtlCol="0" anchor="ctr">
            <a:spAutoFit/>
          </a:bodyPr>
          <a:lstStyle/>
          <a:p>
            <a:pPr marL="19050" marR="7620">
              <a:lnSpc>
                <a:spcPts val="6345"/>
              </a:lnSpc>
              <a:spcBef>
                <a:spcPts val="1088"/>
              </a:spcBef>
            </a:pPr>
            <a:r>
              <a:rPr lang="en-US" sz="6000" spc="-285" dirty="0">
                <a:solidFill>
                  <a:srgbClr val="F4F5F9"/>
                </a:solidFill>
              </a:rPr>
              <a:t>Recorded bus-width runs showed no DRAM </a:t>
            </a:r>
            <a:r>
              <a:rPr lang="en-US" sz="6000" spc="-285" dirty="0" err="1">
                <a:solidFill>
                  <a:srgbClr val="F4F5F9"/>
                </a:solidFill>
              </a:rPr>
              <a:t>throughtput</a:t>
            </a:r>
            <a:r>
              <a:rPr lang="en-US" sz="6000" spc="-285" dirty="0">
                <a:solidFill>
                  <a:srgbClr val="F4F5F9"/>
                </a:solidFill>
              </a:rPr>
              <a:t> increase</a:t>
            </a:r>
            <a:endParaRPr sz="6000" dirty="0"/>
          </a:p>
        </p:txBody>
      </p:sp>
      <p:sp>
        <p:nvSpPr>
          <p:cNvPr id="6" name="object 6"/>
          <p:cNvSpPr/>
          <p:nvPr/>
        </p:nvSpPr>
        <p:spPr>
          <a:xfrm>
            <a:off x="914400" y="3259835"/>
            <a:ext cx="763905" cy="60008"/>
          </a:xfrm>
          <a:custGeom>
            <a:avLst/>
            <a:gdLst/>
            <a:ahLst/>
            <a:cxnLst/>
            <a:rect l="l" t="t" r="r" b="b"/>
            <a:pathLst>
              <a:path w="509269" h="40005">
                <a:moveTo>
                  <a:pt x="489203" y="0"/>
                </a:moveTo>
                <a:lnTo>
                  <a:pt x="19812" y="0"/>
                </a:lnTo>
                <a:lnTo>
                  <a:pt x="12097" y="1559"/>
                </a:lnTo>
                <a:lnTo>
                  <a:pt x="5800" y="5810"/>
                </a:lnTo>
                <a:lnTo>
                  <a:pt x="1556" y="12108"/>
                </a:lnTo>
                <a:lnTo>
                  <a:pt x="0" y="19812"/>
                </a:lnTo>
                <a:lnTo>
                  <a:pt x="1556" y="27515"/>
                </a:lnTo>
                <a:lnTo>
                  <a:pt x="5800" y="33813"/>
                </a:lnTo>
                <a:lnTo>
                  <a:pt x="12097" y="38064"/>
                </a:lnTo>
                <a:lnTo>
                  <a:pt x="19812" y="39624"/>
                </a:lnTo>
                <a:lnTo>
                  <a:pt x="489203" y="39624"/>
                </a:lnTo>
                <a:lnTo>
                  <a:pt x="496918" y="38064"/>
                </a:lnTo>
                <a:lnTo>
                  <a:pt x="503215" y="33813"/>
                </a:lnTo>
                <a:lnTo>
                  <a:pt x="507459" y="27515"/>
                </a:lnTo>
                <a:lnTo>
                  <a:pt x="509016" y="19812"/>
                </a:lnTo>
                <a:lnTo>
                  <a:pt x="507459" y="12108"/>
                </a:lnTo>
                <a:lnTo>
                  <a:pt x="503215" y="5810"/>
                </a:lnTo>
                <a:lnTo>
                  <a:pt x="496918" y="1559"/>
                </a:lnTo>
                <a:lnTo>
                  <a:pt x="489203" y="0"/>
                </a:lnTo>
                <a:close/>
              </a:path>
            </a:pathLst>
          </a:custGeom>
          <a:solidFill>
            <a:srgbClr val="2A3357"/>
          </a:solidFill>
        </p:spPr>
        <p:txBody>
          <a:bodyPr wrap="square" lIns="0" tIns="0" rIns="0" bIns="0" rtlCol="0"/>
          <a:lstStyle/>
          <a:p>
            <a:endParaRPr sz="2700"/>
          </a:p>
        </p:txBody>
      </p:sp>
      <p:graphicFrame>
        <p:nvGraphicFramePr>
          <p:cNvPr id="7" name="object 7"/>
          <p:cNvGraphicFramePr>
            <a:graphicFrameLocks noGrp="1"/>
          </p:cNvGraphicFramePr>
          <p:nvPr/>
        </p:nvGraphicFramePr>
        <p:xfrm>
          <a:off x="904856" y="3646169"/>
          <a:ext cx="16458249" cy="2120265"/>
        </p:xfrm>
        <a:graphic>
          <a:graphicData uri="http://schemas.openxmlformats.org/drawingml/2006/table">
            <a:tbl>
              <a:tblPr firstRow="1" bandRow="1">
                <a:tableStyleId>{2D5ABB26-0587-4C30-8999-92F81FD0307C}</a:tableStyleId>
              </a:tblPr>
              <a:tblGrid>
                <a:gridCol w="2962275">
                  <a:extLst>
                    <a:ext uri="{9D8B030D-6E8A-4147-A177-3AD203B41FA5}">
                      <a16:colId xmlns:a16="http://schemas.microsoft.com/office/drawing/2014/main" val="20000"/>
                    </a:ext>
                  </a:extLst>
                </a:gridCol>
                <a:gridCol w="3950018">
                  <a:extLst>
                    <a:ext uri="{9D8B030D-6E8A-4147-A177-3AD203B41FA5}">
                      <a16:colId xmlns:a16="http://schemas.microsoft.com/office/drawing/2014/main" val="20001"/>
                    </a:ext>
                  </a:extLst>
                </a:gridCol>
                <a:gridCol w="3950018">
                  <a:extLst>
                    <a:ext uri="{9D8B030D-6E8A-4147-A177-3AD203B41FA5}">
                      <a16:colId xmlns:a16="http://schemas.microsoft.com/office/drawing/2014/main" val="20002"/>
                    </a:ext>
                  </a:extLst>
                </a:gridCol>
                <a:gridCol w="5595938">
                  <a:extLst>
                    <a:ext uri="{9D8B030D-6E8A-4147-A177-3AD203B41FA5}">
                      <a16:colId xmlns:a16="http://schemas.microsoft.com/office/drawing/2014/main" val="20003"/>
                    </a:ext>
                  </a:extLst>
                </a:gridCol>
              </a:tblGrid>
              <a:tr h="672464">
                <a:tc>
                  <a:txBody>
                    <a:bodyPr/>
                    <a:lstStyle/>
                    <a:p>
                      <a:pPr marL="64135">
                        <a:lnSpc>
                          <a:spcPct val="100000"/>
                        </a:lnSpc>
                        <a:spcBef>
                          <a:spcPts val="894"/>
                        </a:spcBef>
                      </a:pPr>
                      <a:r>
                        <a:rPr sz="2000" dirty="0">
                          <a:solidFill>
                            <a:srgbClr val="A7ACC8"/>
                          </a:solidFill>
                          <a:latin typeface="Lucida Sans Unicode"/>
                          <a:cs typeface="Lucida Sans Unicode"/>
                        </a:rPr>
                        <a:t>Bus</a:t>
                      </a:r>
                      <a:r>
                        <a:rPr sz="2000" spc="-50" dirty="0">
                          <a:solidFill>
                            <a:srgbClr val="A7ACC8"/>
                          </a:solidFill>
                          <a:latin typeface="Lucida Sans Unicode"/>
                          <a:cs typeface="Lucida Sans Unicode"/>
                        </a:rPr>
                        <a:t> </a:t>
                      </a:r>
                      <a:r>
                        <a:rPr sz="2000" spc="-10" dirty="0">
                          <a:solidFill>
                            <a:srgbClr val="A7ACC8"/>
                          </a:solidFill>
                          <a:latin typeface="Lucida Sans Unicode"/>
                          <a:cs typeface="Lucida Sans Unicode"/>
                        </a:rPr>
                        <a:t>width</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4769">
                        <a:lnSpc>
                          <a:spcPct val="100000"/>
                        </a:lnSpc>
                        <a:spcBef>
                          <a:spcPts val="894"/>
                        </a:spcBef>
                      </a:pPr>
                      <a:r>
                        <a:rPr sz="2000" dirty="0">
                          <a:solidFill>
                            <a:srgbClr val="A7ACC8"/>
                          </a:solidFill>
                          <a:latin typeface="Lucida Sans Unicode"/>
                          <a:cs typeface="Lucida Sans Unicode"/>
                        </a:rPr>
                        <a:t>L2</a:t>
                      </a:r>
                      <a:r>
                        <a:rPr sz="2000" spc="-30" dirty="0">
                          <a:solidFill>
                            <a:srgbClr val="A7ACC8"/>
                          </a:solidFill>
                          <a:latin typeface="Lucida Sans Unicode"/>
                          <a:cs typeface="Lucida Sans Unicode"/>
                        </a:rPr>
                        <a:t> </a:t>
                      </a:r>
                      <a:r>
                        <a:rPr sz="2000" spc="-10" dirty="0">
                          <a:solidFill>
                            <a:srgbClr val="A7ACC8"/>
                          </a:solidFill>
                          <a:latin typeface="Lucida Sans Unicode"/>
                          <a:cs typeface="Lucida Sans Unicode"/>
                        </a:rPr>
                        <a:t>hit</a:t>
                      </a:r>
                      <a:r>
                        <a:rPr sz="2000" spc="-5" dirty="0">
                          <a:solidFill>
                            <a:srgbClr val="A7ACC8"/>
                          </a:solidFill>
                          <a:latin typeface="Lucida Sans Unicode"/>
                          <a:cs typeface="Lucida Sans Unicode"/>
                        </a:rPr>
                        <a:t> </a:t>
                      </a:r>
                      <a:r>
                        <a:rPr sz="2000" spc="-10" dirty="0">
                          <a:solidFill>
                            <a:srgbClr val="A7ACC8"/>
                          </a:solidFill>
                          <a:latin typeface="Lucida Sans Unicode"/>
                          <a:cs typeface="Lucida Sans Unicode"/>
                        </a:rPr>
                        <a:t>ratio</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5405">
                        <a:lnSpc>
                          <a:spcPct val="100000"/>
                        </a:lnSpc>
                        <a:spcBef>
                          <a:spcPts val="894"/>
                        </a:spcBef>
                      </a:pPr>
                      <a:r>
                        <a:rPr sz="2000" dirty="0">
                          <a:solidFill>
                            <a:srgbClr val="A7ACC8"/>
                          </a:solidFill>
                          <a:latin typeface="Lucida Sans Unicode"/>
                          <a:cs typeface="Lucida Sans Unicode"/>
                        </a:rPr>
                        <a:t>L2</a:t>
                      </a:r>
                      <a:r>
                        <a:rPr sz="2000" spc="50" dirty="0">
                          <a:solidFill>
                            <a:srgbClr val="A7ACC8"/>
                          </a:solidFill>
                          <a:latin typeface="Lucida Sans Unicode"/>
                          <a:cs typeface="Lucida Sans Unicode"/>
                        </a:rPr>
                        <a:t> </a:t>
                      </a:r>
                      <a:r>
                        <a:rPr sz="2000" spc="-10" dirty="0">
                          <a:solidFill>
                            <a:srgbClr val="A7ACC8"/>
                          </a:solidFill>
                          <a:latin typeface="Lucida Sans Unicode"/>
                          <a:cs typeface="Lucida Sans Unicode"/>
                        </a:rPr>
                        <a:t>latency</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5405">
                        <a:lnSpc>
                          <a:spcPct val="100000"/>
                        </a:lnSpc>
                        <a:spcBef>
                          <a:spcPts val="894"/>
                        </a:spcBef>
                      </a:pPr>
                      <a:r>
                        <a:rPr sz="2000" dirty="0">
                          <a:solidFill>
                            <a:srgbClr val="A7ACC8"/>
                          </a:solidFill>
                          <a:latin typeface="Lucida Sans Unicode"/>
                          <a:cs typeface="Lucida Sans Unicode"/>
                        </a:rPr>
                        <a:t>Mean</a:t>
                      </a:r>
                      <a:r>
                        <a:rPr sz="2000" spc="-30" dirty="0">
                          <a:solidFill>
                            <a:srgbClr val="A7ACC8"/>
                          </a:solidFill>
                          <a:latin typeface="Lucida Sans Unicode"/>
                          <a:cs typeface="Lucida Sans Unicode"/>
                        </a:rPr>
                        <a:t> </a:t>
                      </a:r>
                      <a:r>
                        <a:rPr sz="2000" dirty="0">
                          <a:solidFill>
                            <a:srgbClr val="A7ACC8"/>
                          </a:solidFill>
                          <a:latin typeface="Lucida Sans Unicode"/>
                          <a:cs typeface="Lucida Sans Unicode"/>
                        </a:rPr>
                        <a:t>bus</a:t>
                      </a:r>
                      <a:r>
                        <a:rPr sz="2000" spc="-60" dirty="0">
                          <a:solidFill>
                            <a:srgbClr val="A7ACC8"/>
                          </a:solidFill>
                          <a:latin typeface="Lucida Sans Unicode"/>
                          <a:cs typeface="Lucida Sans Unicode"/>
                        </a:rPr>
                        <a:t> </a:t>
                      </a:r>
                      <a:r>
                        <a:rPr sz="2000" spc="-10" dirty="0">
                          <a:solidFill>
                            <a:srgbClr val="A7ACC8"/>
                          </a:solidFill>
                          <a:latin typeface="Lucida Sans Unicode"/>
                          <a:cs typeface="Lucida Sans Unicode"/>
                        </a:rPr>
                        <a:t>utilization</a:t>
                      </a:r>
                      <a:endParaRPr sz="20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extLst>
                  <a:ext uri="{0D108BD9-81ED-4DB2-BD59-A6C34878D82A}">
                    <a16:rowId xmlns:a16="http://schemas.microsoft.com/office/drawing/2014/main" val="10000"/>
                  </a:ext>
                </a:extLst>
              </a:tr>
              <a:tr h="728663">
                <a:tc>
                  <a:txBody>
                    <a:bodyPr/>
                    <a:lstStyle/>
                    <a:p>
                      <a:pPr marL="64135">
                        <a:lnSpc>
                          <a:spcPct val="100000"/>
                        </a:lnSpc>
                        <a:spcBef>
                          <a:spcPts val="890"/>
                        </a:spcBef>
                      </a:pPr>
                      <a:r>
                        <a:rPr sz="2300" b="1" spc="55" dirty="0">
                          <a:solidFill>
                            <a:srgbClr val="DDDFED"/>
                          </a:solidFill>
                          <a:latin typeface="Tahoma"/>
                          <a:cs typeface="Tahoma"/>
                        </a:rPr>
                        <a:t>128-</a:t>
                      </a:r>
                      <a:r>
                        <a:rPr sz="2300" b="1" spc="-25" dirty="0">
                          <a:solidFill>
                            <a:srgbClr val="DDDFED"/>
                          </a:solidFill>
                          <a:latin typeface="Tahoma"/>
                          <a:cs typeface="Tahoma"/>
                        </a:rPr>
                        <a:t>bit</a:t>
                      </a:r>
                      <a:endParaRPr sz="2300">
                        <a:latin typeface="Tahoma"/>
                        <a:cs typeface="Tahoma"/>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4769">
                        <a:lnSpc>
                          <a:spcPct val="100000"/>
                        </a:lnSpc>
                        <a:spcBef>
                          <a:spcPts val="890"/>
                        </a:spcBef>
                      </a:pPr>
                      <a:r>
                        <a:rPr sz="2300" spc="-10" dirty="0">
                          <a:solidFill>
                            <a:srgbClr val="DDDFED"/>
                          </a:solidFill>
                          <a:latin typeface="Lucida Sans Unicode"/>
                          <a:cs typeface="Lucida Sans Unicode"/>
                        </a:rPr>
                        <a:t>48.4821%</a:t>
                      </a:r>
                      <a:endParaRPr sz="2300">
                        <a:latin typeface="Lucida Sans Unicode"/>
                        <a:cs typeface="Lucida Sans Unicode"/>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5405">
                        <a:lnSpc>
                          <a:spcPct val="100000"/>
                        </a:lnSpc>
                        <a:spcBef>
                          <a:spcPts val="890"/>
                        </a:spcBef>
                      </a:pPr>
                      <a:r>
                        <a:rPr sz="2300" dirty="0">
                          <a:solidFill>
                            <a:srgbClr val="DDDFED"/>
                          </a:solidFill>
                          <a:latin typeface="Lucida Sans Unicode"/>
                          <a:cs typeface="Lucida Sans Unicode"/>
                        </a:rPr>
                        <a:t>92.7396</a:t>
                      </a:r>
                      <a:r>
                        <a:rPr sz="2300" spc="-65" dirty="0">
                          <a:solidFill>
                            <a:srgbClr val="DDDFED"/>
                          </a:solidFill>
                          <a:latin typeface="Lucida Sans Unicode"/>
                          <a:cs typeface="Lucida Sans Unicode"/>
                        </a:rPr>
                        <a:t> </a:t>
                      </a:r>
                      <a:r>
                        <a:rPr sz="2300" spc="-25" dirty="0">
                          <a:solidFill>
                            <a:srgbClr val="DDDFED"/>
                          </a:solidFill>
                          <a:latin typeface="Lucida Sans Unicode"/>
                          <a:cs typeface="Lucida Sans Unicode"/>
                        </a:rPr>
                        <a:t>ns</a:t>
                      </a:r>
                      <a:endParaRPr sz="2300">
                        <a:latin typeface="Lucida Sans Unicode"/>
                        <a:cs typeface="Lucida Sans Unicode"/>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5405">
                        <a:lnSpc>
                          <a:spcPct val="100000"/>
                        </a:lnSpc>
                        <a:spcBef>
                          <a:spcPts val="890"/>
                        </a:spcBef>
                      </a:pPr>
                      <a:r>
                        <a:rPr sz="2300" spc="-10" dirty="0">
                          <a:solidFill>
                            <a:srgbClr val="DDDFED"/>
                          </a:solidFill>
                          <a:latin typeface="Lucida Sans Unicode"/>
                          <a:cs typeface="Lucida Sans Unicode"/>
                        </a:rPr>
                        <a:t>2.7175%</a:t>
                      </a:r>
                      <a:endParaRPr sz="2300">
                        <a:latin typeface="Lucida Sans Unicode"/>
                        <a:cs typeface="Lucida Sans Unicode"/>
                      </a:endParaRPr>
                    </a:p>
                  </a:txBody>
                  <a:tcPr marL="0" marR="0" marT="169545"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extLst>
                  <a:ext uri="{0D108BD9-81ED-4DB2-BD59-A6C34878D82A}">
                    <a16:rowId xmlns:a16="http://schemas.microsoft.com/office/drawing/2014/main" val="10001"/>
                  </a:ext>
                </a:extLst>
              </a:tr>
              <a:tr h="719138">
                <a:tc>
                  <a:txBody>
                    <a:bodyPr/>
                    <a:lstStyle/>
                    <a:p>
                      <a:pPr marL="64135">
                        <a:lnSpc>
                          <a:spcPct val="100000"/>
                        </a:lnSpc>
                        <a:spcBef>
                          <a:spcPts val="865"/>
                        </a:spcBef>
                      </a:pPr>
                      <a:r>
                        <a:rPr sz="2300" b="1" spc="55" dirty="0">
                          <a:solidFill>
                            <a:srgbClr val="DDDFED"/>
                          </a:solidFill>
                          <a:latin typeface="Tahoma"/>
                          <a:cs typeface="Tahoma"/>
                        </a:rPr>
                        <a:t>256-</a:t>
                      </a:r>
                      <a:r>
                        <a:rPr sz="2300" b="1" spc="-25" dirty="0">
                          <a:solidFill>
                            <a:srgbClr val="DDDFED"/>
                          </a:solidFill>
                          <a:latin typeface="Tahoma"/>
                          <a:cs typeface="Tahoma"/>
                        </a:rPr>
                        <a:t>bit</a:t>
                      </a:r>
                      <a:endParaRPr sz="2300">
                        <a:latin typeface="Tahoma"/>
                        <a:cs typeface="Tahoma"/>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4769">
                        <a:lnSpc>
                          <a:spcPct val="100000"/>
                        </a:lnSpc>
                        <a:spcBef>
                          <a:spcPts val="865"/>
                        </a:spcBef>
                      </a:pPr>
                      <a:r>
                        <a:rPr sz="2300" spc="-10" dirty="0">
                          <a:solidFill>
                            <a:srgbClr val="DDDFED"/>
                          </a:solidFill>
                          <a:latin typeface="Lucida Sans Unicode"/>
                          <a:cs typeface="Lucida Sans Unicode"/>
                        </a:rPr>
                        <a:t>44.0054%</a:t>
                      </a:r>
                      <a:endParaRPr sz="2300">
                        <a:latin typeface="Lucida Sans Unicode"/>
                        <a:cs typeface="Lucida Sans Unicode"/>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5405">
                        <a:lnSpc>
                          <a:spcPct val="100000"/>
                        </a:lnSpc>
                        <a:spcBef>
                          <a:spcPts val="865"/>
                        </a:spcBef>
                      </a:pPr>
                      <a:r>
                        <a:rPr sz="2300" dirty="0">
                          <a:solidFill>
                            <a:srgbClr val="DDDFED"/>
                          </a:solidFill>
                          <a:latin typeface="Lucida Sans Unicode"/>
                          <a:cs typeface="Lucida Sans Unicode"/>
                        </a:rPr>
                        <a:t>101.00</a:t>
                      </a:r>
                      <a:r>
                        <a:rPr sz="2300" spc="-65" dirty="0">
                          <a:solidFill>
                            <a:srgbClr val="DDDFED"/>
                          </a:solidFill>
                          <a:latin typeface="Lucida Sans Unicode"/>
                          <a:cs typeface="Lucida Sans Unicode"/>
                        </a:rPr>
                        <a:t> </a:t>
                      </a:r>
                      <a:r>
                        <a:rPr sz="2300" spc="-25" dirty="0">
                          <a:solidFill>
                            <a:srgbClr val="DDDFED"/>
                          </a:solidFill>
                          <a:latin typeface="Lucida Sans Unicode"/>
                          <a:cs typeface="Lucida Sans Unicode"/>
                        </a:rPr>
                        <a:t>ns</a:t>
                      </a:r>
                      <a:endParaRPr sz="2300">
                        <a:latin typeface="Lucida Sans Unicode"/>
                        <a:cs typeface="Lucida Sans Unicode"/>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5405">
                        <a:lnSpc>
                          <a:spcPct val="100000"/>
                        </a:lnSpc>
                        <a:spcBef>
                          <a:spcPts val="865"/>
                        </a:spcBef>
                      </a:pPr>
                      <a:r>
                        <a:rPr sz="2300" spc="-10" dirty="0">
                          <a:solidFill>
                            <a:srgbClr val="DDDFED"/>
                          </a:solidFill>
                          <a:latin typeface="Lucida Sans Unicode"/>
                          <a:cs typeface="Lucida Sans Unicode"/>
                        </a:rPr>
                        <a:t>4.8933%</a:t>
                      </a:r>
                      <a:endParaRPr sz="2300">
                        <a:latin typeface="Lucida Sans Unicode"/>
                        <a:cs typeface="Lucida Sans Unicode"/>
                      </a:endParaRPr>
                    </a:p>
                  </a:txBody>
                  <a:tcPr marL="0" marR="0" marT="164783"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extLst>
                  <a:ext uri="{0D108BD9-81ED-4DB2-BD59-A6C34878D82A}">
                    <a16:rowId xmlns:a16="http://schemas.microsoft.com/office/drawing/2014/main" val="10002"/>
                  </a:ext>
                </a:extLst>
              </a:tr>
            </a:tbl>
          </a:graphicData>
        </a:graphic>
      </p:graphicFrame>
      <p:sp>
        <p:nvSpPr>
          <p:cNvPr id="8" name="object 8"/>
          <p:cNvSpPr txBox="1"/>
          <p:nvPr/>
        </p:nvSpPr>
        <p:spPr>
          <a:xfrm>
            <a:off x="914400" y="6044183"/>
            <a:ext cx="7886700" cy="1688604"/>
          </a:xfrm>
          <a:prstGeom prst="rect">
            <a:avLst/>
          </a:prstGeom>
          <a:solidFill>
            <a:srgbClr val="131C3D"/>
          </a:solidFill>
        </p:spPr>
        <p:txBody>
          <a:bodyPr vert="horz" wrap="square" lIns="0" tIns="149543" rIns="0" bIns="0" rtlCol="0">
            <a:spAutoFit/>
          </a:bodyPr>
          <a:lstStyle/>
          <a:p>
            <a:pPr>
              <a:spcBef>
                <a:spcPts val="1178"/>
              </a:spcBef>
            </a:pPr>
            <a:endParaRPr sz="1575">
              <a:latin typeface="Times New Roman"/>
              <a:cs typeface="Times New Roman"/>
            </a:endParaRPr>
          </a:p>
          <a:p>
            <a:pPr marL="381000">
              <a:lnSpc>
                <a:spcPts val="1695"/>
              </a:lnSpc>
            </a:pPr>
            <a:r>
              <a:rPr sz="1575" dirty="0">
                <a:solidFill>
                  <a:srgbClr val="DDDFED"/>
                </a:solidFill>
                <a:latin typeface="Lucida Console"/>
                <a:cs typeface="Lucida Console"/>
              </a:rPr>
              <a:t>MEASURED</a:t>
            </a:r>
            <a:r>
              <a:rPr sz="1575" spc="135" dirty="0">
                <a:solidFill>
                  <a:srgbClr val="DDDFED"/>
                </a:solidFill>
                <a:latin typeface="Lucida Console"/>
                <a:cs typeface="Lucida Console"/>
              </a:rPr>
              <a:t> </a:t>
            </a:r>
            <a:r>
              <a:rPr sz="1575" dirty="0">
                <a:solidFill>
                  <a:srgbClr val="DDDFED"/>
                </a:solidFill>
                <a:latin typeface="Lucida Console"/>
                <a:cs typeface="Lucida Console"/>
              </a:rPr>
              <a:t>DRAM</a:t>
            </a:r>
            <a:r>
              <a:rPr sz="1575" spc="180" dirty="0">
                <a:solidFill>
                  <a:srgbClr val="DDDFED"/>
                </a:solidFill>
                <a:latin typeface="Lucida Console"/>
                <a:cs typeface="Lucida Console"/>
              </a:rPr>
              <a:t> </a:t>
            </a:r>
            <a:r>
              <a:rPr sz="1575" spc="-15" dirty="0">
                <a:solidFill>
                  <a:srgbClr val="DDDFED"/>
                </a:solidFill>
                <a:latin typeface="Lucida Console"/>
                <a:cs typeface="Lucida Console"/>
              </a:rPr>
              <a:t>THROUGHPUT</a:t>
            </a:r>
            <a:endParaRPr sz="1575">
              <a:latin typeface="Lucida Console"/>
              <a:cs typeface="Lucida Console"/>
            </a:endParaRPr>
          </a:p>
          <a:p>
            <a:pPr marL="381000">
              <a:lnSpc>
                <a:spcPts val="8445"/>
              </a:lnSpc>
            </a:pPr>
            <a:r>
              <a:rPr sz="7200" spc="-698" dirty="0">
                <a:solidFill>
                  <a:srgbClr val="DDDFED"/>
                </a:solidFill>
                <a:latin typeface="Verdana"/>
                <a:cs typeface="Verdana"/>
              </a:rPr>
              <a:t>66.3691</a:t>
            </a:r>
            <a:r>
              <a:rPr sz="7200" spc="-1245" dirty="0">
                <a:solidFill>
                  <a:srgbClr val="DDDFED"/>
                </a:solidFill>
                <a:latin typeface="Verdana"/>
                <a:cs typeface="Verdana"/>
              </a:rPr>
              <a:t> </a:t>
            </a:r>
            <a:r>
              <a:rPr sz="7200" spc="-30" dirty="0">
                <a:solidFill>
                  <a:srgbClr val="DDDFED"/>
                </a:solidFill>
                <a:latin typeface="Verdana"/>
                <a:cs typeface="Verdana"/>
              </a:rPr>
              <a:t>MB/s</a:t>
            </a:r>
            <a:endParaRPr sz="7200">
              <a:latin typeface="Verdana"/>
              <a:cs typeface="Verdana"/>
            </a:endParaRPr>
          </a:p>
        </p:txBody>
      </p:sp>
      <p:sp>
        <p:nvSpPr>
          <p:cNvPr id="9" name="object 9"/>
          <p:cNvSpPr txBox="1"/>
          <p:nvPr/>
        </p:nvSpPr>
        <p:spPr>
          <a:xfrm>
            <a:off x="9470135" y="6616899"/>
            <a:ext cx="7301865" cy="1476366"/>
          </a:xfrm>
          <a:prstGeom prst="rect">
            <a:avLst/>
          </a:prstGeom>
        </p:spPr>
        <p:txBody>
          <a:bodyPr vert="horz" wrap="square" lIns="0" tIns="90488" rIns="0" bIns="0" rtlCol="0">
            <a:spAutoFit/>
          </a:bodyPr>
          <a:lstStyle/>
          <a:p>
            <a:pPr marL="19050">
              <a:spcBef>
                <a:spcPts val="713"/>
              </a:spcBef>
            </a:pPr>
            <a:r>
              <a:rPr lang="en-US" sz="2250" spc="-38" dirty="0">
                <a:solidFill>
                  <a:srgbClr val="DDDFED"/>
                </a:solidFill>
                <a:latin typeface="Lucida Sans Unicode"/>
                <a:cs typeface="Lucida Sans Unicode"/>
              </a:rPr>
              <a:t>Both recorded configurations produced approximately 66.37 MB/s DRAM throughput, indicating that wider bus width did not translate into higher measured throughput in these runs.</a:t>
            </a:r>
            <a:endParaRPr sz="2250" dirty="0">
              <a:latin typeface="Lucida Sans Unicode"/>
              <a:cs typeface="Lucida Sans Unicod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90E23"/>
          </a:solidFill>
        </p:spPr>
        <p:txBody>
          <a:bodyPr wrap="square" lIns="0" tIns="0" rIns="0" bIns="0" rtlCol="0"/>
          <a:lstStyle/>
          <a:p>
            <a:endParaRPr sz="2700"/>
          </a:p>
        </p:txBody>
      </p:sp>
      <p:sp>
        <p:nvSpPr>
          <p:cNvPr id="4" name="object 4"/>
          <p:cNvSpPr txBox="1"/>
          <p:nvPr/>
        </p:nvSpPr>
        <p:spPr>
          <a:xfrm>
            <a:off x="895350" y="891158"/>
            <a:ext cx="4324350" cy="262572"/>
          </a:xfrm>
          <a:prstGeom prst="rect">
            <a:avLst/>
          </a:prstGeom>
        </p:spPr>
        <p:txBody>
          <a:bodyPr vert="horz" wrap="square" lIns="0" tIns="20003" rIns="0" bIns="0" rtlCol="0">
            <a:spAutoFit/>
          </a:bodyPr>
          <a:lstStyle/>
          <a:p>
            <a:pPr marL="19050">
              <a:spcBef>
                <a:spcPts val="158"/>
              </a:spcBef>
            </a:pPr>
            <a:r>
              <a:rPr sz="1575" dirty="0">
                <a:solidFill>
                  <a:srgbClr val="A7ACC8"/>
                </a:solidFill>
                <a:latin typeface="Lucida Console"/>
                <a:cs typeface="Lucida Console"/>
              </a:rPr>
              <a:t>DDR4</a:t>
            </a:r>
            <a:r>
              <a:rPr sz="1575" spc="203" dirty="0">
                <a:solidFill>
                  <a:srgbClr val="A7ACC8"/>
                </a:solidFill>
                <a:latin typeface="Lucida Console"/>
                <a:cs typeface="Lucida Console"/>
              </a:rPr>
              <a:t> </a:t>
            </a:r>
            <a:r>
              <a:rPr sz="1575" dirty="0">
                <a:solidFill>
                  <a:srgbClr val="A7ACC8"/>
                </a:solidFill>
                <a:latin typeface="Lucida Console"/>
                <a:cs typeface="Lucida Console"/>
              </a:rPr>
              <a:t>FREQUENCY</a:t>
            </a:r>
            <a:r>
              <a:rPr sz="1575" spc="165" dirty="0">
                <a:solidFill>
                  <a:srgbClr val="A7ACC8"/>
                </a:solidFill>
                <a:latin typeface="Lucida Console"/>
                <a:cs typeface="Lucida Console"/>
              </a:rPr>
              <a:t> </a:t>
            </a:r>
            <a:r>
              <a:rPr sz="1575" dirty="0">
                <a:solidFill>
                  <a:srgbClr val="A7ACC8"/>
                </a:solidFill>
                <a:latin typeface="Lucida Console"/>
                <a:cs typeface="Lucida Console"/>
              </a:rPr>
              <a:t>·</a:t>
            </a:r>
            <a:r>
              <a:rPr sz="1575" spc="255" dirty="0">
                <a:solidFill>
                  <a:srgbClr val="A7ACC8"/>
                </a:solidFill>
                <a:latin typeface="Lucida Console"/>
                <a:cs typeface="Lucida Console"/>
              </a:rPr>
              <a:t> </a:t>
            </a:r>
            <a:r>
              <a:rPr sz="1575" dirty="0">
                <a:solidFill>
                  <a:srgbClr val="A7ACC8"/>
                </a:solidFill>
                <a:latin typeface="Lucida Console"/>
                <a:cs typeface="Lucida Console"/>
              </a:rPr>
              <a:t>WORKLOAD</a:t>
            </a:r>
            <a:r>
              <a:rPr sz="1575" spc="120" dirty="0">
                <a:solidFill>
                  <a:srgbClr val="A7ACC8"/>
                </a:solidFill>
                <a:latin typeface="Lucida Console"/>
                <a:cs typeface="Lucida Console"/>
              </a:rPr>
              <a:t> </a:t>
            </a:r>
            <a:r>
              <a:rPr sz="1575" spc="-15" dirty="0">
                <a:solidFill>
                  <a:srgbClr val="A7ACC8"/>
                </a:solidFill>
                <a:latin typeface="Lucida Console"/>
                <a:cs typeface="Lucida Console"/>
              </a:rPr>
              <a:t>RESPONSE</a:t>
            </a:r>
            <a:endParaRPr sz="1575">
              <a:latin typeface="Lucida Console"/>
              <a:cs typeface="Lucida Console"/>
            </a:endParaRPr>
          </a:p>
        </p:txBody>
      </p:sp>
      <p:sp>
        <p:nvSpPr>
          <p:cNvPr id="5" name="object 5" descr="$PPTXTitle"/>
          <p:cNvSpPr txBox="1">
            <a:spLocks noGrp="1"/>
          </p:cNvSpPr>
          <p:nvPr>
            <p:ph type="title"/>
          </p:nvPr>
        </p:nvSpPr>
        <p:spPr>
          <a:xfrm>
            <a:off x="895350" y="1116620"/>
            <a:ext cx="15901988" cy="1756443"/>
          </a:xfrm>
          <a:prstGeom prst="rect">
            <a:avLst/>
          </a:prstGeom>
        </p:spPr>
        <p:txBody>
          <a:bodyPr vert="horz" wrap="square" lIns="0" tIns="138113" rIns="0" bIns="0" rtlCol="0" anchor="ctr">
            <a:spAutoFit/>
          </a:bodyPr>
          <a:lstStyle/>
          <a:p>
            <a:pPr marL="19050" marR="7620">
              <a:lnSpc>
                <a:spcPts val="6345"/>
              </a:lnSpc>
              <a:spcBef>
                <a:spcPts val="1088"/>
              </a:spcBef>
            </a:pPr>
            <a:r>
              <a:rPr sz="6000" spc="-270" dirty="0">
                <a:solidFill>
                  <a:srgbClr val="F4F5F9"/>
                </a:solidFill>
              </a:rPr>
              <a:t>Higher</a:t>
            </a:r>
            <a:r>
              <a:rPr sz="6000" spc="-863" dirty="0">
                <a:solidFill>
                  <a:srgbClr val="F4F5F9"/>
                </a:solidFill>
              </a:rPr>
              <a:t> </a:t>
            </a:r>
            <a:r>
              <a:rPr lang="en-US" sz="6000" spc="-863" dirty="0">
                <a:solidFill>
                  <a:srgbClr val="F4F5F9"/>
                </a:solidFill>
              </a:rPr>
              <a:t> </a:t>
            </a:r>
            <a:r>
              <a:rPr sz="6000" spc="-525" dirty="0">
                <a:solidFill>
                  <a:srgbClr val="F4F5F9"/>
                </a:solidFill>
              </a:rPr>
              <a:t>DDR4</a:t>
            </a:r>
            <a:r>
              <a:rPr lang="en-US" sz="6000" spc="-525" dirty="0">
                <a:solidFill>
                  <a:srgbClr val="F4F5F9"/>
                </a:solidFill>
              </a:rPr>
              <a:t> </a:t>
            </a:r>
            <a:r>
              <a:rPr sz="6000" spc="-840" dirty="0">
                <a:solidFill>
                  <a:srgbClr val="F4F5F9"/>
                </a:solidFill>
              </a:rPr>
              <a:t> </a:t>
            </a:r>
            <a:r>
              <a:rPr sz="6000" spc="-53" dirty="0">
                <a:solidFill>
                  <a:srgbClr val="F4F5F9"/>
                </a:solidFill>
              </a:rPr>
              <a:t>frequency</a:t>
            </a:r>
            <a:r>
              <a:rPr sz="6000" spc="-885" dirty="0">
                <a:solidFill>
                  <a:srgbClr val="F4F5F9"/>
                </a:solidFill>
              </a:rPr>
              <a:t> </a:t>
            </a:r>
            <a:r>
              <a:rPr sz="6000" spc="-135" dirty="0">
                <a:solidFill>
                  <a:srgbClr val="F4F5F9"/>
                </a:solidFill>
              </a:rPr>
              <a:t>had</a:t>
            </a:r>
            <a:r>
              <a:rPr sz="6000" spc="-795" dirty="0">
                <a:solidFill>
                  <a:srgbClr val="F4F5F9"/>
                </a:solidFill>
              </a:rPr>
              <a:t> </a:t>
            </a:r>
            <a:r>
              <a:rPr lang="en-US" sz="6000" spc="-795" dirty="0">
                <a:solidFill>
                  <a:srgbClr val="F4F5F9"/>
                </a:solidFill>
              </a:rPr>
              <a:t> </a:t>
            </a:r>
            <a:r>
              <a:rPr sz="6000" spc="-98" dirty="0">
                <a:solidFill>
                  <a:srgbClr val="F4F5F9"/>
                </a:solidFill>
              </a:rPr>
              <a:t>only</a:t>
            </a:r>
            <a:r>
              <a:rPr lang="en-US" sz="6000" spc="-98" dirty="0">
                <a:solidFill>
                  <a:srgbClr val="F4F5F9"/>
                </a:solidFill>
              </a:rPr>
              <a:t> </a:t>
            </a:r>
            <a:r>
              <a:rPr sz="6000" spc="-855" dirty="0">
                <a:solidFill>
                  <a:srgbClr val="F4F5F9"/>
                </a:solidFill>
              </a:rPr>
              <a:t> </a:t>
            </a:r>
            <a:r>
              <a:rPr sz="6000" spc="-233" dirty="0">
                <a:solidFill>
                  <a:srgbClr val="F4F5F9"/>
                </a:solidFill>
              </a:rPr>
              <a:t>marginal </a:t>
            </a:r>
            <a:r>
              <a:rPr sz="6000" spc="-210" dirty="0">
                <a:solidFill>
                  <a:srgbClr val="F4F5F9"/>
                </a:solidFill>
              </a:rPr>
              <a:t>workload</a:t>
            </a:r>
            <a:r>
              <a:rPr sz="6000" spc="-810" dirty="0">
                <a:solidFill>
                  <a:srgbClr val="F4F5F9"/>
                </a:solidFill>
              </a:rPr>
              <a:t> </a:t>
            </a:r>
            <a:r>
              <a:rPr sz="6000" spc="-15" dirty="0">
                <a:solidFill>
                  <a:srgbClr val="F4F5F9"/>
                </a:solidFill>
              </a:rPr>
              <a:t>impact</a:t>
            </a:r>
            <a:endParaRPr sz="6000" dirty="0"/>
          </a:p>
        </p:txBody>
      </p:sp>
      <p:sp>
        <p:nvSpPr>
          <p:cNvPr id="6" name="object 6"/>
          <p:cNvSpPr/>
          <p:nvPr/>
        </p:nvSpPr>
        <p:spPr>
          <a:xfrm>
            <a:off x="914400" y="3259835"/>
            <a:ext cx="763905" cy="60008"/>
          </a:xfrm>
          <a:custGeom>
            <a:avLst/>
            <a:gdLst/>
            <a:ahLst/>
            <a:cxnLst/>
            <a:rect l="l" t="t" r="r" b="b"/>
            <a:pathLst>
              <a:path w="509269" h="40005">
                <a:moveTo>
                  <a:pt x="489203" y="0"/>
                </a:moveTo>
                <a:lnTo>
                  <a:pt x="19812" y="0"/>
                </a:lnTo>
                <a:lnTo>
                  <a:pt x="12097" y="1559"/>
                </a:lnTo>
                <a:lnTo>
                  <a:pt x="5800" y="5810"/>
                </a:lnTo>
                <a:lnTo>
                  <a:pt x="1556" y="12108"/>
                </a:lnTo>
                <a:lnTo>
                  <a:pt x="0" y="19812"/>
                </a:lnTo>
                <a:lnTo>
                  <a:pt x="1556" y="27515"/>
                </a:lnTo>
                <a:lnTo>
                  <a:pt x="5800" y="33813"/>
                </a:lnTo>
                <a:lnTo>
                  <a:pt x="12097" y="38064"/>
                </a:lnTo>
                <a:lnTo>
                  <a:pt x="19812" y="39624"/>
                </a:lnTo>
                <a:lnTo>
                  <a:pt x="489203" y="39624"/>
                </a:lnTo>
                <a:lnTo>
                  <a:pt x="496918" y="38064"/>
                </a:lnTo>
                <a:lnTo>
                  <a:pt x="503215" y="33813"/>
                </a:lnTo>
                <a:lnTo>
                  <a:pt x="507459" y="27515"/>
                </a:lnTo>
                <a:lnTo>
                  <a:pt x="509016" y="19812"/>
                </a:lnTo>
                <a:lnTo>
                  <a:pt x="507459" y="12108"/>
                </a:lnTo>
                <a:lnTo>
                  <a:pt x="503215" y="5810"/>
                </a:lnTo>
                <a:lnTo>
                  <a:pt x="496918" y="1559"/>
                </a:lnTo>
                <a:lnTo>
                  <a:pt x="489203" y="0"/>
                </a:lnTo>
                <a:close/>
              </a:path>
            </a:pathLst>
          </a:custGeom>
          <a:solidFill>
            <a:srgbClr val="2A3357"/>
          </a:solidFill>
        </p:spPr>
        <p:txBody>
          <a:bodyPr wrap="square" lIns="0" tIns="0" rIns="0" bIns="0" rtlCol="0"/>
          <a:lstStyle/>
          <a:p>
            <a:endParaRPr sz="2700"/>
          </a:p>
        </p:txBody>
      </p:sp>
      <p:graphicFrame>
        <p:nvGraphicFramePr>
          <p:cNvPr id="7" name="object 7"/>
          <p:cNvGraphicFramePr>
            <a:graphicFrameLocks noGrp="1"/>
          </p:cNvGraphicFramePr>
          <p:nvPr/>
        </p:nvGraphicFramePr>
        <p:xfrm>
          <a:off x="904856" y="4970336"/>
          <a:ext cx="16461105" cy="2120265"/>
        </p:xfrm>
        <a:graphic>
          <a:graphicData uri="http://schemas.openxmlformats.org/drawingml/2006/table">
            <a:tbl>
              <a:tblPr firstRow="1" bandRow="1">
                <a:tableStyleId>{2D5ABB26-0587-4C30-8999-92F81FD0307C}</a:tableStyleId>
              </a:tblPr>
              <a:tblGrid>
                <a:gridCol w="3291840">
                  <a:extLst>
                    <a:ext uri="{9D8B030D-6E8A-4147-A177-3AD203B41FA5}">
                      <a16:colId xmlns:a16="http://schemas.microsoft.com/office/drawing/2014/main" val="20000"/>
                    </a:ext>
                  </a:extLst>
                </a:gridCol>
                <a:gridCol w="5267325">
                  <a:extLst>
                    <a:ext uri="{9D8B030D-6E8A-4147-A177-3AD203B41FA5}">
                      <a16:colId xmlns:a16="http://schemas.microsoft.com/office/drawing/2014/main" val="20001"/>
                    </a:ext>
                  </a:extLst>
                </a:gridCol>
                <a:gridCol w="4444365">
                  <a:extLst>
                    <a:ext uri="{9D8B030D-6E8A-4147-A177-3AD203B41FA5}">
                      <a16:colId xmlns:a16="http://schemas.microsoft.com/office/drawing/2014/main" val="20002"/>
                    </a:ext>
                  </a:extLst>
                </a:gridCol>
                <a:gridCol w="3457575">
                  <a:extLst>
                    <a:ext uri="{9D8B030D-6E8A-4147-A177-3AD203B41FA5}">
                      <a16:colId xmlns:a16="http://schemas.microsoft.com/office/drawing/2014/main" val="20003"/>
                    </a:ext>
                  </a:extLst>
                </a:gridCol>
              </a:tblGrid>
              <a:tr h="672464">
                <a:tc>
                  <a:txBody>
                    <a:bodyPr/>
                    <a:lstStyle/>
                    <a:p>
                      <a:pPr marL="64135">
                        <a:lnSpc>
                          <a:spcPct val="100000"/>
                        </a:lnSpc>
                        <a:spcBef>
                          <a:spcPts val="900"/>
                        </a:spcBef>
                      </a:pPr>
                      <a:r>
                        <a:rPr sz="2000" dirty="0">
                          <a:solidFill>
                            <a:srgbClr val="A7ACC8"/>
                          </a:solidFill>
                          <a:latin typeface="Lucida Sans Unicode"/>
                          <a:cs typeface="Lucida Sans Unicode"/>
                        </a:rPr>
                        <a:t>DDR4</a:t>
                      </a:r>
                      <a:r>
                        <a:rPr sz="2000" spc="-55" dirty="0">
                          <a:solidFill>
                            <a:srgbClr val="A7ACC8"/>
                          </a:solidFill>
                          <a:latin typeface="Lucida Sans Unicode"/>
                          <a:cs typeface="Lucida Sans Unicode"/>
                        </a:rPr>
                        <a:t> </a:t>
                      </a:r>
                      <a:r>
                        <a:rPr sz="2000" spc="-10" dirty="0">
                          <a:solidFill>
                            <a:srgbClr val="A7ACC8"/>
                          </a:solidFill>
                          <a:latin typeface="Lucida Sans Unicode"/>
                          <a:cs typeface="Lucida Sans Unicode"/>
                        </a:rPr>
                        <a:t>frequency</a:t>
                      </a:r>
                      <a:endParaRPr sz="2000">
                        <a:latin typeface="Lucida Sans Unicode"/>
                        <a:cs typeface="Lucida Sans Unicode"/>
                      </a:endParaRPr>
                    </a:p>
                  </a:txBody>
                  <a:tcPr marL="0" marR="0" marT="171450"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4135">
                        <a:lnSpc>
                          <a:spcPct val="100000"/>
                        </a:lnSpc>
                        <a:spcBef>
                          <a:spcPts val="900"/>
                        </a:spcBef>
                      </a:pPr>
                      <a:r>
                        <a:rPr sz="2000" dirty="0">
                          <a:solidFill>
                            <a:srgbClr val="A7ACC8"/>
                          </a:solidFill>
                          <a:latin typeface="Lucida Sans Unicode"/>
                          <a:cs typeface="Lucida Sans Unicode"/>
                        </a:rPr>
                        <a:t>DRAM</a:t>
                      </a:r>
                      <a:r>
                        <a:rPr sz="2000" spc="-20" dirty="0">
                          <a:solidFill>
                            <a:srgbClr val="A7ACC8"/>
                          </a:solidFill>
                          <a:latin typeface="Lucida Sans Unicode"/>
                          <a:cs typeface="Lucida Sans Unicode"/>
                        </a:rPr>
                        <a:t> </a:t>
                      </a:r>
                      <a:r>
                        <a:rPr sz="2000" spc="-10" dirty="0">
                          <a:solidFill>
                            <a:srgbClr val="A7ACC8"/>
                          </a:solidFill>
                          <a:latin typeface="Lucida Sans Unicode"/>
                          <a:cs typeface="Lucida Sans Unicode"/>
                        </a:rPr>
                        <a:t>throughput</a:t>
                      </a:r>
                      <a:endParaRPr sz="2000">
                        <a:latin typeface="Lucida Sans Unicode"/>
                        <a:cs typeface="Lucida Sans Unicode"/>
                      </a:endParaRPr>
                    </a:p>
                  </a:txBody>
                  <a:tcPr marL="0" marR="0" marT="171450"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5405">
                        <a:lnSpc>
                          <a:spcPct val="100000"/>
                        </a:lnSpc>
                        <a:spcBef>
                          <a:spcPts val="900"/>
                        </a:spcBef>
                      </a:pPr>
                      <a:r>
                        <a:rPr sz="2000" dirty="0">
                          <a:solidFill>
                            <a:srgbClr val="A7ACC8"/>
                          </a:solidFill>
                          <a:latin typeface="Lucida Sans Unicode"/>
                          <a:cs typeface="Lucida Sans Unicode"/>
                        </a:rPr>
                        <a:t>Average</a:t>
                      </a:r>
                      <a:r>
                        <a:rPr sz="2000" spc="100" dirty="0">
                          <a:solidFill>
                            <a:srgbClr val="A7ACC8"/>
                          </a:solidFill>
                          <a:latin typeface="Lucida Sans Unicode"/>
                          <a:cs typeface="Lucida Sans Unicode"/>
                        </a:rPr>
                        <a:t> </a:t>
                      </a:r>
                      <a:r>
                        <a:rPr sz="2000" spc="-20" dirty="0">
                          <a:solidFill>
                            <a:srgbClr val="A7ACC8"/>
                          </a:solidFill>
                          <a:latin typeface="Lucida Sans Unicode"/>
                          <a:cs typeface="Lucida Sans Unicode"/>
                        </a:rPr>
                        <a:t>delay</a:t>
                      </a:r>
                      <a:endParaRPr sz="2000">
                        <a:latin typeface="Lucida Sans Unicode"/>
                        <a:cs typeface="Lucida Sans Unicode"/>
                      </a:endParaRPr>
                    </a:p>
                  </a:txBody>
                  <a:tcPr marL="0" marR="0" marT="171450"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tc>
                  <a:txBody>
                    <a:bodyPr/>
                    <a:lstStyle/>
                    <a:p>
                      <a:pPr marL="66040">
                        <a:lnSpc>
                          <a:spcPct val="100000"/>
                        </a:lnSpc>
                        <a:spcBef>
                          <a:spcPts val="900"/>
                        </a:spcBef>
                      </a:pPr>
                      <a:r>
                        <a:rPr sz="2000" spc="-25" dirty="0">
                          <a:solidFill>
                            <a:srgbClr val="A7ACC8"/>
                          </a:solidFill>
                          <a:latin typeface="Lucida Sans Unicode"/>
                          <a:cs typeface="Lucida Sans Unicode"/>
                        </a:rPr>
                        <a:t>Maximum</a:t>
                      </a:r>
                      <a:r>
                        <a:rPr sz="2000" spc="-65" dirty="0">
                          <a:solidFill>
                            <a:srgbClr val="A7ACC8"/>
                          </a:solidFill>
                          <a:latin typeface="Lucida Sans Unicode"/>
                          <a:cs typeface="Lucida Sans Unicode"/>
                        </a:rPr>
                        <a:t> </a:t>
                      </a:r>
                      <a:r>
                        <a:rPr sz="2000" spc="-20" dirty="0">
                          <a:solidFill>
                            <a:srgbClr val="A7ACC8"/>
                          </a:solidFill>
                          <a:latin typeface="Lucida Sans Unicode"/>
                          <a:cs typeface="Lucida Sans Unicode"/>
                        </a:rPr>
                        <a:t>queue</a:t>
                      </a:r>
                      <a:endParaRPr sz="2000">
                        <a:latin typeface="Lucida Sans Unicode"/>
                        <a:cs typeface="Lucida Sans Unicode"/>
                      </a:endParaRPr>
                    </a:p>
                  </a:txBody>
                  <a:tcPr marL="0" marR="0" marT="171450" marB="0">
                    <a:lnL w="12700">
                      <a:solidFill>
                        <a:srgbClr val="090E23"/>
                      </a:solidFill>
                      <a:prstDash val="solid"/>
                    </a:lnL>
                    <a:lnR w="12700">
                      <a:solidFill>
                        <a:srgbClr val="090E23"/>
                      </a:solidFill>
                      <a:prstDash val="solid"/>
                    </a:lnR>
                    <a:lnT w="12700">
                      <a:solidFill>
                        <a:srgbClr val="090E23"/>
                      </a:solidFill>
                      <a:prstDash val="solid"/>
                    </a:lnT>
                    <a:lnB w="12700">
                      <a:solidFill>
                        <a:srgbClr val="2A3357"/>
                      </a:solidFill>
                      <a:prstDash val="solid"/>
                    </a:lnB>
                  </a:tcPr>
                </a:tc>
                <a:extLst>
                  <a:ext uri="{0D108BD9-81ED-4DB2-BD59-A6C34878D82A}">
                    <a16:rowId xmlns:a16="http://schemas.microsoft.com/office/drawing/2014/main" val="10000"/>
                  </a:ext>
                </a:extLst>
              </a:tr>
              <a:tr h="728663">
                <a:tc>
                  <a:txBody>
                    <a:bodyPr/>
                    <a:lstStyle/>
                    <a:p>
                      <a:pPr marL="64135">
                        <a:lnSpc>
                          <a:spcPct val="100000"/>
                        </a:lnSpc>
                        <a:spcBef>
                          <a:spcPts val="894"/>
                        </a:spcBef>
                      </a:pPr>
                      <a:r>
                        <a:rPr sz="2300" dirty="0">
                          <a:solidFill>
                            <a:srgbClr val="DDDFED"/>
                          </a:solidFill>
                          <a:latin typeface="Lucida Sans Unicode"/>
                          <a:cs typeface="Lucida Sans Unicode"/>
                        </a:rPr>
                        <a:t>3200</a:t>
                      </a:r>
                      <a:r>
                        <a:rPr sz="2300" spc="70" dirty="0">
                          <a:solidFill>
                            <a:srgbClr val="DDDFED"/>
                          </a:solidFill>
                          <a:latin typeface="Lucida Sans Unicode"/>
                          <a:cs typeface="Lucida Sans Unicode"/>
                        </a:rPr>
                        <a:t> </a:t>
                      </a:r>
                      <a:r>
                        <a:rPr sz="2300" spc="-25" dirty="0">
                          <a:solidFill>
                            <a:srgbClr val="DDDFED"/>
                          </a:solidFill>
                          <a:latin typeface="Lucida Sans Unicode"/>
                          <a:cs typeface="Lucida Sans Unicode"/>
                        </a:rPr>
                        <a:t>MHz</a:t>
                      </a:r>
                      <a:endParaRPr sz="23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4135">
                        <a:lnSpc>
                          <a:spcPct val="100000"/>
                        </a:lnSpc>
                        <a:spcBef>
                          <a:spcPts val="894"/>
                        </a:spcBef>
                      </a:pPr>
                      <a:r>
                        <a:rPr sz="2300" dirty="0">
                          <a:solidFill>
                            <a:srgbClr val="DDDFED"/>
                          </a:solidFill>
                          <a:latin typeface="Lucida Sans Unicode"/>
                          <a:cs typeface="Lucida Sans Unicode"/>
                        </a:rPr>
                        <a:t>66.3372</a:t>
                      </a:r>
                      <a:r>
                        <a:rPr sz="2300" spc="-75" dirty="0">
                          <a:solidFill>
                            <a:srgbClr val="DDDFED"/>
                          </a:solidFill>
                          <a:latin typeface="Lucida Sans Unicode"/>
                          <a:cs typeface="Lucida Sans Unicode"/>
                        </a:rPr>
                        <a:t> </a:t>
                      </a:r>
                      <a:r>
                        <a:rPr sz="2300" spc="-20" dirty="0">
                          <a:solidFill>
                            <a:srgbClr val="DDDFED"/>
                          </a:solidFill>
                          <a:latin typeface="Lucida Sans Unicode"/>
                          <a:cs typeface="Lucida Sans Unicode"/>
                        </a:rPr>
                        <a:t>MB/s</a:t>
                      </a:r>
                      <a:endParaRPr sz="23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5405">
                        <a:lnSpc>
                          <a:spcPct val="100000"/>
                        </a:lnSpc>
                        <a:spcBef>
                          <a:spcPts val="894"/>
                        </a:spcBef>
                      </a:pPr>
                      <a:r>
                        <a:rPr sz="2300" dirty="0">
                          <a:solidFill>
                            <a:srgbClr val="DDDFED"/>
                          </a:solidFill>
                          <a:latin typeface="Lucida Sans Unicode"/>
                          <a:cs typeface="Lucida Sans Unicode"/>
                        </a:rPr>
                        <a:t>14.1920</a:t>
                      </a:r>
                      <a:r>
                        <a:rPr sz="2300" spc="-40" dirty="0">
                          <a:solidFill>
                            <a:srgbClr val="DDDFED"/>
                          </a:solidFill>
                          <a:latin typeface="Lucida Sans Unicode"/>
                          <a:cs typeface="Lucida Sans Unicode"/>
                        </a:rPr>
                        <a:t> </a:t>
                      </a:r>
                      <a:r>
                        <a:rPr sz="2300" spc="-25" dirty="0">
                          <a:solidFill>
                            <a:srgbClr val="DDDFED"/>
                          </a:solidFill>
                          <a:latin typeface="Lucida Sans Unicode"/>
                          <a:cs typeface="Lucida Sans Unicode"/>
                        </a:rPr>
                        <a:t>ns</a:t>
                      </a:r>
                      <a:endParaRPr sz="23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tc>
                  <a:txBody>
                    <a:bodyPr/>
                    <a:lstStyle/>
                    <a:p>
                      <a:pPr marL="66040">
                        <a:lnSpc>
                          <a:spcPct val="100000"/>
                        </a:lnSpc>
                        <a:spcBef>
                          <a:spcPts val="894"/>
                        </a:spcBef>
                      </a:pPr>
                      <a:r>
                        <a:rPr sz="2300" spc="-25" dirty="0">
                          <a:solidFill>
                            <a:srgbClr val="DDDFED"/>
                          </a:solidFill>
                          <a:latin typeface="Lucida Sans Unicode"/>
                          <a:cs typeface="Lucida Sans Unicode"/>
                        </a:rPr>
                        <a:t>75</a:t>
                      </a:r>
                      <a:endParaRPr sz="2300">
                        <a:latin typeface="Lucida Sans Unicode"/>
                        <a:cs typeface="Lucida Sans Unicode"/>
                      </a:endParaRPr>
                    </a:p>
                  </a:txBody>
                  <a:tcPr marL="0" marR="0" marT="170496" marB="0">
                    <a:lnL w="12700">
                      <a:solidFill>
                        <a:srgbClr val="090E23"/>
                      </a:solidFill>
                      <a:prstDash val="solid"/>
                    </a:lnL>
                    <a:lnR w="12700">
                      <a:solidFill>
                        <a:srgbClr val="090E23"/>
                      </a:solidFill>
                      <a:prstDash val="solid"/>
                    </a:lnR>
                    <a:lnT w="12700">
                      <a:solidFill>
                        <a:srgbClr val="2A3357"/>
                      </a:solidFill>
                      <a:prstDash val="solid"/>
                    </a:lnT>
                    <a:lnB w="12700">
                      <a:solidFill>
                        <a:srgbClr val="2A3357"/>
                      </a:solidFill>
                      <a:prstDash val="solid"/>
                    </a:lnB>
                  </a:tcPr>
                </a:tc>
                <a:extLst>
                  <a:ext uri="{0D108BD9-81ED-4DB2-BD59-A6C34878D82A}">
                    <a16:rowId xmlns:a16="http://schemas.microsoft.com/office/drawing/2014/main" val="10001"/>
                  </a:ext>
                </a:extLst>
              </a:tr>
              <a:tr h="719138">
                <a:tc>
                  <a:txBody>
                    <a:bodyPr/>
                    <a:lstStyle/>
                    <a:p>
                      <a:pPr marL="64135">
                        <a:lnSpc>
                          <a:spcPct val="100000"/>
                        </a:lnSpc>
                        <a:spcBef>
                          <a:spcPts val="869"/>
                        </a:spcBef>
                      </a:pPr>
                      <a:r>
                        <a:rPr sz="2300" dirty="0">
                          <a:solidFill>
                            <a:srgbClr val="DDDFED"/>
                          </a:solidFill>
                          <a:latin typeface="Lucida Sans Unicode"/>
                          <a:cs typeface="Lucida Sans Unicode"/>
                        </a:rPr>
                        <a:t>4266</a:t>
                      </a:r>
                      <a:r>
                        <a:rPr sz="2300" spc="70" dirty="0">
                          <a:solidFill>
                            <a:srgbClr val="DDDFED"/>
                          </a:solidFill>
                          <a:latin typeface="Lucida Sans Unicode"/>
                          <a:cs typeface="Lucida Sans Unicode"/>
                        </a:rPr>
                        <a:t> </a:t>
                      </a:r>
                      <a:r>
                        <a:rPr sz="2300" spc="-25" dirty="0">
                          <a:solidFill>
                            <a:srgbClr val="DDDFED"/>
                          </a:solidFill>
                          <a:latin typeface="Lucida Sans Unicode"/>
                          <a:cs typeface="Lucida Sans Unicode"/>
                        </a:rPr>
                        <a:t>MHz</a:t>
                      </a:r>
                      <a:endParaRPr sz="2300">
                        <a:latin typeface="Lucida Sans Unicode"/>
                        <a:cs typeface="Lucida Sans Unicode"/>
                      </a:endParaRPr>
                    </a:p>
                  </a:txBody>
                  <a:tcPr marL="0" marR="0" marT="165734"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4135">
                        <a:lnSpc>
                          <a:spcPct val="100000"/>
                        </a:lnSpc>
                        <a:spcBef>
                          <a:spcPts val="869"/>
                        </a:spcBef>
                      </a:pPr>
                      <a:r>
                        <a:rPr sz="2300" spc="-40" dirty="0">
                          <a:solidFill>
                            <a:srgbClr val="DDDFED"/>
                          </a:solidFill>
                          <a:latin typeface="Lucida Sans Unicode"/>
                          <a:cs typeface="Lucida Sans Unicode"/>
                        </a:rPr>
                        <a:t>approximately</a:t>
                      </a:r>
                      <a:r>
                        <a:rPr sz="2300" spc="50" dirty="0">
                          <a:solidFill>
                            <a:srgbClr val="DDDFED"/>
                          </a:solidFill>
                          <a:latin typeface="Lucida Sans Unicode"/>
                          <a:cs typeface="Lucida Sans Unicode"/>
                        </a:rPr>
                        <a:t> </a:t>
                      </a:r>
                      <a:r>
                        <a:rPr sz="2300" dirty="0">
                          <a:solidFill>
                            <a:srgbClr val="DDDFED"/>
                          </a:solidFill>
                          <a:latin typeface="Lucida Sans Unicode"/>
                          <a:cs typeface="Lucida Sans Unicode"/>
                        </a:rPr>
                        <a:t>66.37–66.40</a:t>
                      </a:r>
                      <a:r>
                        <a:rPr sz="2300" spc="100" dirty="0">
                          <a:solidFill>
                            <a:srgbClr val="DDDFED"/>
                          </a:solidFill>
                          <a:latin typeface="Lucida Sans Unicode"/>
                          <a:cs typeface="Lucida Sans Unicode"/>
                        </a:rPr>
                        <a:t> </a:t>
                      </a:r>
                      <a:r>
                        <a:rPr sz="2300" spc="-20" dirty="0">
                          <a:solidFill>
                            <a:srgbClr val="DDDFED"/>
                          </a:solidFill>
                          <a:latin typeface="Lucida Sans Unicode"/>
                          <a:cs typeface="Lucida Sans Unicode"/>
                        </a:rPr>
                        <a:t>MB/s</a:t>
                      </a:r>
                      <a:endParaRPr sz="2300">
                        <a:latin typeface="Lucida Sans Unicode"/>
                        <a:cs typeface="Lucida Sans Unicode"/>
                      </a:endParaRPr>
                    </a:p>
                  </a:txBody>
                  <a:tcPr marL="0" marR="0" marT="165734"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5405">
                        <a:lnSpc>
                          <a:spcPct val="100000"/>
                        </a:lnSpc>
                        <a:spcBef>
                          <a:spcPts val="869"/>
                        </a:spcBef>
                      </a:pPr>
                      <a:r>
                        <a:rPr sz="2300" spc="-40" dirty="0">
                          <a:solidFill>
                            <a:srgbClr val="DDDFED"/>
                          </a:solidFill>
                          <a:latin typeface="Lucida Sans Unicode"/>
                          <a:cs typeface="Lucida Sans Unicode"/>
                        </a:rPr>
                        <a:t>approximately</a:t>
                      </a:r>
                      <a:r>
                        <a:rPr sz="2300" spc="-60" dirty="0">
                          <a:solidFill>
                            <a:srgbClr val="DDDFED"/>
                          </a:solidFill>
                          <a:latin typeface="Lucida Sans Unicode"/>
                          <a:cs typeface="Lucida Sans Unicode"/>
                        </a:rPr>
                        <a:t> </a:t>
                      </a:r>
                      <a:r>
                        <a:rPr sz="2300" dirty="0">
                          <a:solidFill>
                            <a:srgbClr val="DDDFED"/>
                          </a:solidFill>
                          <a:latin typeface="Lucida Sans Unicode"/>
                          <a:cs typeface="Lucida Sans Unicode"/>
                        </a:rPr>
                        <a:t>14.19</a:t>
                      </a:r>
                      <a:r>
                        <a:rPr sz="2300" spc="-20" dirty="0">
                          <a:solidFill>
                            <a:srgbClr val="DDDFED"/>
                          </a:solidFill>
                          <a:latin typeface="Lucida Sans Unicode"/>
                          <a:cs typeface="Lucida Sans Unicode"/>
                        </a:rPr>
                        <a:t> </a:t>
                      </a:r>
                      <a:r>
                        <a:rPr sz="2300" spc="-25" dirty="0">
                          <a:solidFill>
                            <a:srgbClr val="DDDFED"/>
                          </a:solidFill>
                          <a:latin typeface="Lucida Sans Unicode"/>
                          <a:cs typeface="Lucida Sans Unicode"/>
                        </a:rPr>
                        <a:t>ns</a:t>
                      </a:r>
                      <a:endParaRPr sz="2300">
                        <a:latin typeface="Lucida Sans Unicode"/>
                        <a:cs typeface="Lucida Sans Unicode"/>
                      </a:endParaRPr>
                    </a:p>
                  </a:txBody>
                  <a:tcPr marL="0" marR="0" marT="165734"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tc>
                  <a:txBody>
                    <a:bodyPr/>
                    <a:lstStyle/>
                    <a:p>
                      <a:pPr marL="66040">
                        <a:lnSpc>
                          <a:spcPct val="100000"/>
                        </a:lnSpc>
                        <a:spcBef>
                          <a:spcPts val="869"/>
                        </a:spcBef>
                      </a:pPr>
                      <a:r>
                        <a:rPr sz="2300" spc="-40" dirty="0">
                          <a:solidFill>
                            <a:srgbClr val="DDDFED"/>
                          </a:solidFill>
                          <a:latin typeface="Lucida Sans Unicode"/>
                          <a:cs typeface="Lucida Sans Unicode"/>
                        </a:rPr>
                        <a:t>approximately</a:t>
                      </a:r>
                      <a:r>
                        <a:rPr sz="2300" spc="-30" dirty="0">
                          <a:solidFill>
                            <a:srgbClr val="DDDFED"/>
                          </a:solidFill>
                          <a:latin typeface="Lucida Sans Unicode"/>
                          <a:cs typeface="Lucida Sans Unicode"/>
                        </a:rPr>
                        <a:t> </a:t>
                      </a:r>
                      <a:r>
                        <a:rPr sz="2300" spc="120" dirty="0">
                          <a:solidFill>
                            <a:srgbClr val="DDDFED"/>
                          </a:solidFill>
                          <a:latin typeface="Lucida Sans Unicode"/>
                          <a:cs typeface="Lucida Sans Unicode"/>
                        </a:rPr>
                        <a:t>76–</a:t>
                      </a:r>
                      <a:r>
                        <a:rPr sz="2300" spc="-25" dirty="0">
                          <a:solidFill>
                            <a:srgbClr val="DDDFED"/>
                          </a:solidFill>
                          <a:latin typeface="Lucida Sans Unicode"/>
                          <a:cs typeface="Lucida Sans Unicode"/>
                        </a:rPr>
                        <a:t>77</a:t>
                      </a:r>
                      <a:endParaRPr sz="2300">
                        <a:latin typeface="Lucida Sans Unicode"/>
                        <a:cs typeface="Lucida Sans Unicode"/>
                      </a:endParaRPr>
                    </a:p>
                  </a:txBody>
                  <a:tcPr marL="0" marR="0" marT="165734" marB="0">
                    <a:lnL w="12700">
                      <a:solidFill>
                        <a:srgbClr val="090E23"/>
                      </a:solidFill>
                      <a:prstDash val="solid"/>
                    </a:lnL>
                    <a:lnR w="12700">
                      <a:solidFill>
                        <a:srgbClr val="090E23"/>
                      </a:solidFill>
                      <a:prstDash val="solid"/>
                    </a:lnR>
                    <a:lnT w="12700">
                      <a:solidFill>
                        <a:srgbClr val="2A3357"/>
                      </a:solidFill>
                      <a:prstDash val="solid"/>
                    </a:lnT>
                    <a:lnB w="12700">
                      <a:solidFill>
                        <a:srgbClr val="090E23"/>
                      </a:solidFill>
                      <a:prstDash val="solid"/>
                    </a:lnB>
                  </a:tcPr>
                </a:tc>
                <a:extLst>
                  <a:ext uri="{0D108BD9-81ED-4DB2-BD59-A6C34878D82A}">
                    <a16:rowId xmlns:a16="http://schemas.microsoft.com/office/drawing/2014/main" val="10002"/>
                  </a:ext>
                </a:extLst>
              </a:tr>
            </a:tbl>
          </a:graphicData>
        </a:graphic>
      </p:graphicFrame>
      <p:sp>
        <p:nvSpPr>
          <p:cNvPr id="8" name="object 8"/>
          <p:cNvSpPr txBox="1"/>
          <p:nvPr/>
        </p:nvSpPr>
        <p:spPr>
          <a:xfrm>
            <a:off x="895351" y="7374370"/>
            <a:ext cx="15901988" cy="368371"/>
          </a:xfrm>
          <a:prstGeom prst="rect">
            <a:avLst/>
          </a:prstGeom>
        </p:spPr>
        <p:txBody>
          <a:bodyPr vert="horz" wrap="square" lIns="0" tIns="21908" rIns="0" bIns="0" rtlCol="0">
            <a:spAutoFit/>
          </a:bodyPr>
          <a:lstStyle/>
          <a:p>
            <a:pPr marL="19050">
              <a:spcBef>
                <a:spcPts val="173"/>
              </a:spcBef>
            </a:pPr>
            <a:r>
              <a:rPr sz="2250" spc="-98" dirty="0">
                <a:solidFill>
                  <a:srgbClr val="DDDFED"/>
                </a:solidFill>
                <a:latin typeface="Lucida Sans Unicode"/>
                <a:cs typeface="Lucida Sans Unicode"/>
              </a:rPr>
              <a:t>Nominal</a:t>
            </a:r>
            <a:r>
              <a:rPr sz="2250" spc="-105" dirty="0">
                <a:solidFill>
                  <a:srgbClr val="DDDFED"/>
                </a:solidFill>
                <a:latin typeface="Lucida Sans Unicode"/>
                <a:cs typeface="Lucida Sans Unicode"/>
              </a:rPr>
              <a:t> </a:t>
            </a:r>
            <a:r>
              <a:rPr sz="2250" spc="-68" dirty="0">
                <a:solidFill>
                  <a:srgbClr val="DDDFED"/>
                </a:solidFill>
                <a:latin typeface="Lucida Sans Unicode"/>
                <a:cs typeface="Lucida Sans Unicode"/>
              </a:rPr>
              <a:t>DDR</a:t>
            </a:r>
            <a:r>
              <a:rPr sz="2250" spc="-45" dirty="0">
                <a:solidFill>
                  <a:srgbClr val="DDDFED"/>
                </a:solidFill>
                <a:latin typeface="Lucida Sans Unicode"/>
                <a:cs typeface="Lucida Sans Unicode"/>
              </a:rPr>
              <a:t> </a:t>
            </a:r>
            <a:r>
              <a:rPr sz="2250" spc="-15" dirty="0">
                <a:solidFill>
                  <a:srgbClr val="DDDFED"/>
                </a:solidFill>
                <a:latin typeface="Lucida Sans Unicode"/>
                <a:cs typeface="Lucida Sans Unicode"/>
              </a:rPr>
              <a:t>frequency</a:t>
            </a:r>
            <a:r>
              <a:rPr sz="2250" spc="-105" dirty="0">
                <a:solidFill>
                  <a:srgbClr val="DDDFED"/>
                </a:solidFill>
                <a:latin typeface="Lucida Sans Unicode"/>
                <a:cs typeface="Lucida Sans Unicode"/>
              </a:rPr>
              <a:t> </a:t>
            </a:r>
            <a:r>
              <a:rPr sz="2250" spc="-38" dirty="0">
                <a:solidFill>
                  <a:srgbClr val="DDDFED"/>
                </a:solidFill>
                <a:latin typeface="Lucida Sans Unicode"/>
                <a:cs typeface="Lucida Sans Unicode"/>
              </a:rPr>
              <a:t>increased</a:t>
            </a:r>
            <a:r>
              <a:rPr sz="2250" spc="-98" dirty="0">
                <a:solidFill>
                  <a:srgbClr val="DDDFED"/>
                </a:solidFill>
                <a:latin typeface="Lucida Sans Unicode"/>
                <a:cs typeface="Lucida Sans Unicode"/>
              </a:rPr>
              <a:t> </a:t>
            </a:r>
            <a:r>
              <a:rPr sz="2250" dirty="0">
                <a:solidFill>
                  <a:srgbClr val="DDDFED"/>
                </a:solidFill>
                <a:latin typeface="Lucida Sans Unicode"/>
                <a:cs typeface="Lucida Sans Unicode"/>
              </a:rPr>
              <a:t>by</a:t>
            </a:r>
            <a:r>
              <a:rPr sz="2250" spc="-30" dirty="0">
                <a:solidFill>
                  <a:srgbClr val="DDDFED"/>
                </a:solidFill>
                <a:latin typeface="Lucida Sans Unicode"/>
                <a:cs typeface="Lucida Sans Unicode"/>
              </a:rPr>
              <a:t> </a:t>
            </a:r>
            <a:r>
              <a:rPr sz="2250" spc="-68" dirty="0">
                <a:solidFill>
                  <a:srgbClr val="DDDFED"/>
                </a:solidFill>
                <a:latin typeface="Lucida Sans Unicode"/>
                <a:cs typeface="Lucida Sans Unicode"/>
              </a:rPr>
              <a:t>about </a:t>
            </a:r>
            <a:r>
              <a:rPr sz="2250" dirty="0">
                <a:solidFill>
                  <a:srgbClr val="DDDFED"/>
                </a:solidFill>
                <a:latin typeface="Lucida Sans Unicode"/>
                <a:cs typeface="Lucida Sans Unicode"/>
              </a:rPr>
              <a:t>33.3%,</a:t>
            </a:r>
            <a:r>
              <a:rPr sz="2250" spc="-60" dirty="0">
                <a:solidFill>
                  <a:srgbClr val="DDDFED"/>
                </a:solidFill>
                <a:latin typeface="Lucida Sans Unicode"/>
                <a:cs typeface="Lucida Sans Unicode"/>
              </a:rPr>
              <a:t> </a:t>
            </a:r>
            <a:r>
              <a:rPr sz="2250" spc="-68" dirty="0">
                <a:solidFill>
                  <a:srgbClr val="DDDFED"/>
                </a:solidFill>
                <a:latin typeface="Lucida Sans Unicode"/>
                <a:cs typeface="Lucida Sans Unicode"/>
              </a:rPr>
              <a:t>while </a:t>
            </a:r>
            <a:r>
              <a:rPr sz="2250" spc="-38" dirty="0">
                <a:solidFill>
                  <a:srgbClr val="DDDFED"/>
                </a:solidFill>
                <a:latin typeface="Lucida Sans Unicode"/>
                <a:cs typeface="Lucida Sans Unicode"/>
              </a:rPr>
              <a:t>measured</a:t>
            </a:r>
            <a:r>
              <a:rPr sz="2250" spc="-60" dirty="0">
                <a:solidFill>
                  <a:srgbClr val="DDDFED"/>
                </a:solidFill>
                <a:latin typeface="Lucida Sans Unicode"/>
                <a:cs typeface="Lucida Sans Unicode"/>
              </a:rPr>
              <a:t> workload </a:t>
            </a:r>
            <a:r>
              <a:rPr sz="2250" spc="-83" dirty="0">
                <a:solidFill>
                  <a:srgbClr val="DDDFED"/>
                </a:solidFill>
                <a:latin typeface="Lucida Sans Unicode"/>
                <a:cs typeface="Lucida Sans Unicode"/>
              </a:rPr>
              <a:t>throughput</a:t>
            </a:r>
            <a:r>
              <a:rPr sz="2250" spc="-68" dirty="0">
                <a:solidFill>
                  <a:srgbClr val="DDDFED"/>
                </a:solidFill>
                <a:latin typeface="Lucida Sans Unicode"/>
                <a:cs typeface="Lucida Sans Unicode"/>
              </a:rPr>
              <a:t> </a:t>
            </a:r>
            <a:r>
              <a:rPr sz="2250" dirty="0">
                <a:solidFill>
                  <a:srgbClr val="DDDFED"/>
                </a:solidFill>
                <a:latin typeface="Lucida Sans Unicode"/>
                <a:cs typeface="Lucida Sans Unicode"/>
              </a:rPr>
              <a:t>stayed</a:t>
            </a:r>
            <a:r>
              <a:rPr sz="2250" spc="-60" dirty="0">
                <a:solidFill>
                  <a:srgbClr val="DDDFED"/>
                </a:solidFill>
                <a:latin typeface="Lucida Sans Unicode"/>
                <a:cs typeface="Lucida Sans Unicode"/>
              </a:rPr>
              <a:t> </a:t>
            </a:r>
            <a:r>
              <a:rPr sz="2250" dirty="0">
                <a:solidFill>
                  <a:srgbClr val="DDDFED"/>
                </a:solidFill>
                <a:latin typeface="Lucida Sans Unicode"/>
                <a:cs typeface="Lucida Sans Unicode"/>
              </a:rPr>
              <a:t>near</a:t>
            </a:r>
            <a:r>
              <a:rPr sz="2250" spc="-15" dirty="0">
                <a:solidFill>
                  <a:srgbClr val="DDDFED"/>
                </a:solidFill>
                <a:latin typeface="Lucida Sans Unicode"/>
                <a:cs typeface="Lucida Sans Unicode"/>
              </a:rPr>
              <a:t> </a:t>
            </a:r>
            <a:r>
              <a:rPr sz="2250" dirty="0">
                <a:solidFill>
                  <a:srgbClr val="DDDFED"/>
                </a:solidFill>
                <a:latin typeface="Lucida Sans Unicode"/>
                <a:cs typeface="Lucida Sans Unicode"/>
              </a:rPr>
              <a:t>66.3–</a:t>
            </a:r>
            <a:r>
              <a:rPr sz="2250" spc="-15" dirty="0">
                <a:solidFill>
                  <a:srgbClr val="DDDFED"/>
                </a:solidFill>
                <a:latin typeface="Lucida Sans Unicode"/>
                <a:cs typeface="Lucida Sans Unicode"/>
              </a:rPr>
              <a:t>66.4</a:t>
            </a:r>
            <a:r>
              <a:rPr sz="2250" spc="-143" dirty="0">
                <a:solidFill>
                  <a:srgbClr val="DDDFED"/>
                </a:solidFill>
                <a:latin typeface="Lucida Sans Unicode"/>
                <a:cs typeface="Lucida Sans Unicode"/>
              </a:rPr>
              <a:t> </a:t>
            </a:r>
            <a:r>
              <a:rPr sz="2250" spc="-15" dirty="0">
                <a:solidFill>
                  <a:srgbClr val="DDDFED"/>
                </a:solidFill>
                <a:latin typeface="Lucida Sans Unicode"/>
                <a:cs typeface="Lucida Sans Unicode"/>
              </a:rPr>
              <a:t>MB/s.</a:t>
            </a:r>
            <a:endParaRPr sz="2250">
              <a:latin typeface="Lucida Sans Unicode"/>
              <a:cs typeface="Lucida Sans Unicod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90E23"/>
          </a:solidFill>
        </p:spPr>
        <p:txBody>
          <a:bodyPr wrap="square" lIns="0" tIns="0" rIns="0" bIns="0" rtlCol="0"/>
          <a:lstStyle/>
          <a:p>
            <a:endParaRPr sz="2700"/>
          </a:p>
        </p:txBody>
      </p:sp>
      <p:sp>
        <p:nvSpPr>
          <p:cNvPr id="4" name="object 4"/>
          <p:cNvSpPr txBox="1"/>
          <p:nvPr/>
        </p:nvSpPr>
        <p:spPr>
          <a:xfrm>
            <a:off x="895351" y="891158"/>
            <a:ext cx="5332094" cy="262572"/>
          </a:xfrm>
          <a:prstGeom prst="rect">
            <a:avLst/>
          </a:prstGeom>
        </p:spPr>
        <p:txBody>
          <a:bodyPr vert="horz" wrap="square" lIns="0" tIns="20003" rIns="0" bIns="0" rtlCol="0">
            <a:spAutoFit/>
          </a:bodyPr>
          <a:lstStyle/>
          <a:p>
            <a:pPr marL="19050">
              <a:spcBef>
                <a:spcPts val="158"/>
              </a:spcBef>
            </a:pPr>
            <a:r>
              <a:rPr sz="1575" dirty="0">
                <a:solidFill>
                  <a:srgbClr val="A7ACC8"/>
                </a:solidFill>
                <a:latin typeface="Lucida Console"/>
                <a:cs typeface="Lucida Console"/>
              </a:rPr>
              <a:t>RESOURCE</a:t>
            </a:r>
            <a:r>
              <a:rPr sz="1575" spc="150" dirty="0">
                <a:solidFill>
                  <a:srgbClr val="A7ACC8"/>
                </a:solidFill>
                <a:latin typeface="Lucida Console"/>
                <a:cs typeface="Lucida Console"/>
              </a:rPr>
              <a:t> </a:t>
            </a:r>
            <a:r>
              <a:rPr sz="1575" dirty="0">
                <a:solidFill>
                  <a:srgbClr val="A7ACC8"/>
                </a:solidFill>
                <a:latin typeface="Lucida Console"/>
                <a:cs typeface="Lucida Console"/>
              </a:rPr>
              <a:t>SWEEP</a:t>
            </a:r>
            <a:r>
              <a:rPr sz="1575" spc="195" dirty="0">
                <a:solidFill>
                  <a:srgbClr val="A7ACC8"/>
                </a:solidFill>
                <a:latin typeface="Lucida Console"/>
                <a:cs typeface="Lucida Console"/>
              </a:rPr>
              <a:t> </a:t>
            </a:r>
            <a:r>
              <a:rPr sz="1575" dirty="0">
                <a:solidFill>
                  <a:srgbClr val="A7ACC8"/>
                </a:solidFill>
                <a:latin typeface="Lucida Console"/>
                <a:cs typeface="Lucida Console"/>
              </a:rPr>
              <a:t>·</a:t>
            </a:r>
            <a:r>
              <a:rPr sz="1575" spc="248" dirty="0">
                <a:solidFill>
                  <a:srgbClr val="A7ACC8"/>
                </a:solidFill>
                <a:latin typeface="Lucida Console"/>
                <a:cs typeface="Lucida Console"/>
              </a:rPr>
              <a:t> </a:t>
            </a:r>
            <a:r>
              <a:rPr sz="1575" dirty="0">
                <a:solidFill>
                  <a:srgbClr val="A7ACC8"/>
                </a:solidFill>
                <a:latin typeface="Lucida Console"/>
                <a:cs typeface="Lucida Console"/>
              </a:rPr>
              <a:t>FLAT</a:t>
            </a:r>
            <a:r>
              <a:rPr sz="1575" spc="240" dirty="0">
                <a:solidFill>
                  <a:srgbClr val="A7ACC8"/>
                </a:solidFill>
                <a:latin typeface="Lucida Console"/>
                <a:cs typeface="Lucida Console"/>
              </a:rPr>
              <a:t> </a:t>
            </a:r>
            <a:r>
              <a:rPr sz="1575" dirty="0">
                <a:solidFill>
                  <a:srgbClr val="A7ACC8"/>
                </a:solidFill>
                <a:latin typeface="Lucida Console"/>
                <a:cs typeface="Lucida Console"/>
              </a:rPr>
              <a:t>PERFORMANCE</a:t>
            </a:r>
            <a:r>
              <a:rPr sz="1575" spc="150" dirty="0">
                <a:solidFill>
                  <a:srgbClr val="A7ACC8"/>
                </a:solidFill>
                <a:latin typeface="Lucida Console"/>
                <a:cs typeface="Lucida Console"/>
              </a:rPr>
              <a:t> </a:t>
            </a:r>
            <a:r>
              <a:rPr sz="1575" spc="-15" dirty="0">
                <a:solidFill>
                  <a:srgbClr val="A7ACC8"/>
                </a:solidFill>
                <a:latin typeface="Lucida Console"/>
                <a:cs typeface="Lucida Console"/>
              </a:rPr>
              <a:t>RESPONSE</a:t>
            </a:r>
            <a:endParaRPr sz="1575">
              <a:latin typeface="Lucida Console"/>
              <a:cs typeface="Lucida Console"/>
            </a:endParaRPr>
          </a:p>
        </p:txBody>
      </p:sp>
      <p:sp>
        <p:nvSpPr>
          <p:cNvPr id="5" name="object 5" descr="$PPTXTitle"/>
          <p:cNvSpPr txBox="1">
            <a:spLocks noGrp="1"/>
          </p:cNvSpPr>
          <p:nvPr>
            <p:ph type="title"/>
          </p:nvPr>
        </p:nvSpPr>
        <p:spPr>
          <a:xfrm>
            <a:off x="895351" y="1116620"/>
            <a:ext cx="16389668" cy="1756443"/>
          </a:xfrm>
          <a:prstGeom prst="rect">
            <a:avLst/>
          </a:prstGeom>
        </p:spPr>
        <p:txBody>
          <a:bodyPr vert="horz" wrap="square" lIns="0" tIns="138113" rIns="0" bIns="0" rtlCol="0" anchor="ctr">
            <a:spAutoFit/>
          </a:bodyPr>
          <a:lstStyle/>
          <a:p>
            <a:pPr marL="19050" marR="7620">
              <a:lnSpc>
                <a:spcPts val="6345"/>
              </a:lnSpc>
              <a:spcBef>
                <a:spcPts val="1088"/>
              </a:spcBef>
            </a:pPr>
            <a:r>
              <a:rPr sz="6000" spc="-143" dirty="0">
                <a:solidFill>
                  <a:srgbClr val="F4F5F9"/>
                </a:solidFill>
              </a:rPr>
              <a:t>Additional</a:t>
            </a:r>
            <a:r>
              <a:rPr sz="6000" spc="-840" dirty="0">
                <a:solidFill>
                  <a:srgbClr val="F4F5F9"/>
                </a:solidFill>
              </a:rPr>
              <a:t> </a:t>
            </a:r>
            <a:r>
              <a:rPr sz="6000" spc="-360" dirty="0">
                <a:solidFill>
                  <a:srgbClr val="F4F5F9"/>
                </a:solidFill>
              </a:rPr>
              <a:t>memory</a:t>
            </a:r>
            <a:r>
              <a:rPr sz="6000" spc="-840" dirty="0">
                <a:solidFill>
                  <a:srgbClr val="F4F5F9"/>
                </a:solidFill>
              </a:rPr>
              <a:t> </a:t>
            </a:r>
            <a:r>
              <a:rPr sz="6000" spc="-150" dirty="0">
                <a:solidFill>
                  <a:srgbClr val="F4F5F9"/>
                </a:solidFill>
              </a:rPr>
              <a:t>resources</a:t>
            </a:r>
            <a:r>
              <a:rPr sz="6000" spc="-840" dirty="0">
                <a:solidFill>
                  <a:srgbClr val="F4F5F9"/>
                </a:solidFill>
              </a:rPr>
              <a:t> </a:t>
            </a:r>
            <a:r>
              <a:rPr sz="6000" spc="-45" dirty="0">
                <a:solidFill>
                  <a:srgbClr val="F4F5F9"/>
                </a:solidFill>
              </a:rPr>
              <a:t>did</a:t>
            </a:r>
            <a:r>
              <a:rPr sz="6000" spc="-780" dirty="0">
                <a:solidFill>
                  <a:srgbClr val="F4F5F9"/>
                </a:solidFill>
              </a:rPr>
              <a:t> </a:t>
            </a:r>
            <a:r>
              <a:rPr sz="6000" dirty="0">
                <a:solidFill>
                  <a:srgbClr val="F4F5F9"/>
                </a:solidFill>
              </a:rPr>
              <a:t>not</a:t>
            </a:r>
            <a:r>
              <a:rPr sz="6000" spc="-803" dirty="0">
                <a:solidFill>
                  <a:srgbClr val="F4F5F9"/>
                </a:solidFill>
              </a:rPr>
              <a:t> </a:t>
            </a:r>
            <a:r>
              <a:rPr sz="6000" spc="-15" dirty="0">
                <a:solidFill>
                  <a:srgbClr val="F4F5F9"/>
                </a:solidFill>
              </a:rPr>
              <a:t>produce </a:t>
            </a:r>
            <a:r>
              <a:rPr sz="6000" spc="-143" dirty="0">
                <a:solidFill>
                  <a:srgbClr val="F4F5F9"/>
                </a:solidFill>
              </a:rPr>
              <a:t>proportional</a:t>
            </a:r>
            <a:r>
              <a:rPr sz="6000" spc="-758" dirty="0">
                <a:solidFill>
                  <a:srgbClr val="F4F5F9"/>
                </a:solidFill>
              </a:rPr>
              <a:t> </a:t>
            </a:r>
            <a:r>
              <a:rPr sz="6000" spc="-15" dirty="0">
                <a:solidFill>
                  <a:srgbClr val="F4F5F9"/>
                </a:solidFill>
              </a:rPr>
              <a:t>gains</a:t>
            </a:r>
            <a:endParaRPr sz="6000"/>
          </a:p>
        </p:txBody>
      </p:sp>
      <p:sp>
        <p:nvSpPr>
          <p:cNvPr id="6" name="object 6"/>
          <p:cNvSpPr/>
          <p:nvPr/>
        </p:nvSpPr>
        <p:spPr>
          <a:xfrm>
            <a:off x="914400" y="3259835"/>
            <a:ext cx="763905" cy="60008"/>
          </a:xfrm>
          <a:custGeom>
            <a:avLst/>
            <a:gdLst/>
            <a:ahLst/>
            <a:cxnLst/>
            <a:rect l="l" t="t" r="r" b="b"/>
            <a:pathLst>
              <a:path w="509269" h="40005">
                <a:moveTo>
                  <a:pt x="489203" y="0"/>
                </a:moveTo>
                <a:lnTo>
                  <a:pt x="19812" y="0"/>
                </a:lnTo>
                <a:lnTo>
                  <a:pt x="12097" y="1559"/>
                </a:lnTo>
                <a:lnTo>
                  <a:pt x="5800" y="5810"/>
                </a:lnTo>
                <a:lnTo>
                  <a:pt x="1556" y="12108"/>
                </a:lnTo>
                <a:lnTo>
                  <a:pt x="0" y="19812"/>
                </a:lnTo>
                <a:lnTo>
                  <a:pt x="1556" y="27515"/>
                </a:lnTo>
                <a:lnTo>
                  <a:pt x="5800" y="33813"/>
                </a:lnTo>
                <a:lnTo>
                  <a:pt x="12097" y="38064"/>
                </a:lnTo>
                <a:lnTo>
                  <a:pt x="19812" y="39624"/>
                </a:lnTo>
                <a:lnTo>
                  <a:pt x="489203" y="39624"/>
                </a:lnTo>
                <a:lnTo>
                  <a:pt x="496918" y="38064"/>
                </a:lnTo>
                <a:lnTo>
                  <a:pt x="503215" y="33813"/>
                </a:lnTo>
                <a:lnTo>
                  <a:pt x="507459" y="27515"/>
                </a:lnTo>
                <a:lnTo>
                  <a:pt x="509016" y="19812"/>
                </a:lnTo>
                <a:lnTo>
                  <a:pt x="507459" y="12108"/>
                </a:lnTo>
                <a:lnTo>
                  <a:pt x="503215" y="5810"/>
                </a:lnTo>
                <a:lnTo>
                  <a:pt x="496918" y="1559"/>
                </a:lnTo>
                <a:lnTo>
                  <a:pt x="489203" y="0"/>
                </a:lnTo>
                <a:close/>
              </a:path>
            </a:pathLst>
          </a:custGeom>
          <a:solidFill>
            <a:srgbClr val="2A3357"/>
          </a:solidFill>
        </p:spPr>
        <p:txBody>
          <a:bodyPr wrap="square" lIns="0" tIns="0" rIns="0" bIns="0" rtlCol="0"/>
          <a:lstStyle/>
          <a:p>
            <a:endParaRPr sz="2700"/>
          </a:p>
        </p:txBody>
      </p:sp>
      <p:sp>
        <p:nvSpPr>
          <p:cNvPr id="7" name="object 7"/>
          <p:cNvSpPr txBox="1"/>
          <p:nvPr/>
        </p:nvSpPr>
        <p:spPr>
          <a:xfrm>
            <a:off x="914401" y="3657601"/>
            <a:ext cx="5180648" cy="2641044"/>
          </a:xfrm>
          <a:prstGeom prst="rect">
            <a:avLst/>
          </a:prstGeom>
          <a:solidFill>
            <a:srgbClr val="131C3D"/>
          </a:solidFill>
        </p:spPr>
        <p:txBody>
          <a:bodyPr vert="horz" wrap="square" lIns="0" tIns="108585" rIns="0" bIns="0" rtlCol="0">
            <a:spAutoFit/>
          </a:bodyPr>
          <a:lstStyle/>
          <a:p>
            <a:pPr>
              <a:spcBef>
                <a:spcPts val="855"/>
              </a:spcBef>
            </a:pPr>
            <a:endParaRPr sz="1575" dirty="0">
              <a:latin typeface="Times New Roman"/>
              <a:cs typeface="Times New Roman"/>
            </a:endParaRPr>
          </a:p>
          <a:p>
            <a:pPr marL="342900">
              <a:spcBef>
                <a:spcPts val="8"/>
              </a:spcBef>
            </a:pPr>
            <a:r>
              <a:rPr sz="1575" spc="-38" dirty="0">
                <a:solidFill>
                  <a:srgbClr val="DDDFED"/>
                </a:solidFill>
                <a:latin typeface="Lucida Console"/>
                <a:cs typeface="Lucida Console"/>
              </a:rPr>
              <a:t>L2</a:t>
            </a:r>
            <a:endParaRPr sz="1575" dirty="0">
              <a:latin typeface="Lucida Console"/>
              <a:cs typeface="Lucida Console"/>
            </a:endParaRPr>
          </a:p>
          <a:p>
            <a:pPr marL="342900">
              <a:spcBef>
                <a:spcPts val="1035"/>
              </a:spcBef>
            </a:pPr>
            <a:r>
              <a:rPr sz="3000" dirty="0">
                <a:solidFill>
                  <a:srgbClr val="DDDFED"/>
                </a:solidFill>
                <a:latin typeface="Lucida Sans Unicode"/>
                <a:cs typeface="Lucida Sans Unicode"/>
              </a:rPr>
              <a:t>1</a:t>
            </a:r>
            <a:r>
              <a:rPr sz="3000" spc="-158" dirty="0">
                <a:solidFill>
                  <a:srgbClr val="DDDFED"/>
                </a:solidFill>
                <a:latin typeface="Lucida Sans Unicode"/>
                <a:cs typeface="Lucida Sans Unicode"/>
              </a:rPr>
              <a:t> </a:t>
            </a:r>
            <a:r>
              <a:rPr sz="3000" dirty="0">
                <a:solidFill>
                  <a:srgbClr val="DDDFED"/>
                </a:solidFill>
                <a:latin typeface="Lucida Sans Unicode"/>
                <a:cs typeface="Lucida Sans Unicode"/>
              </a:rPr>
              <a:t>MB</a:t>
            </a:r>
            <a:r>
              <a:rPr sz="3000" spc="-113" dirty="0">
                <a:solidFill>
                  <a:srgbClr val="DDDFED"/>
                </a:solidFill>
                <a:latin typeface="Lucida Sans Unicode"/>
                <a:cs typeface="Lucida Sans Unicode"/>
              </a:rPr>
              <a:t> </a:t>
            </a:r>
            <a:r>
              <a:rPr sz="3000" spc="-818" dirty="0">
                <a:solidFill>
                  <a:srgbClr val="DDDFED"/>
                </a:solidFill>
                <a:latin typeface="Lucida Sans Unicode"/>
                <a:cs typeface="Lucida Sans Unicode"/>
              </a:rPr>
              <a:t>→</a:t>
            </a:r>
            <a:r>
              <a:rPr sz="3000" spc="-127" dirty="0">
                <a:solidFill>
                  <a:srgbClr val="DDDFED"/>
                </a:solidFill>
                <a:latin typeface="Lucida Sans Unicode"/>
                <a:cs typeface="Lucida Sans Unicode"/>
              </a:rPr>
              <a:t> </a:t>
            </a:r>
            <a:r>
              <a:rPr sz="3000" dirty="0">
                <a:solidFill>
                  <a:srgbClr val="DDDFED"/>
                </a:solidFill>
                <a:latin typeface="Lucida Sans Unicode"/>
                <a:cs typeface="Lucida Sans Unicode"/>
              </a:rPr>
              <a:t>2</a:t>
            </a:r>
            <a:r>
              <a:rPr sz="3000" spc="-158" dirty="0">
                <a:solidFill>
                  <a:srgbClr val="DDDFED"/>
                </a:solidFill>
                <a:latin typeface="Lucida Sans Unicode"/>
                <a:cs typeface="Lucida Sans Unicode"/>
              </a:rPr>
              <a:t> </a:t>
            </a:r>
            <a:r>
              <a:rPr sz="3000" spc="-38" dirty="0">
                <a:solidFill>
                  <a:srgbClr val="DDDFED"/>
                </a:solidFill>
                <a:latin typeface="Lucida Sans Unicode"/>
                <a:cs typeface="Lucida Sans Unicode"/>
              </a:rPr>
              <a:t>MB</a:t>
            </a:r>
            <a:endParaRPr sz="3000" dirty="0">
              <a:latin typeface="Lucida Sans Unicode"/>
              <a:cs typeface="Lucida Sans Unicode"/>
            </a:endParaRPr>
          </a:p>
          <a:p>
            <a:pPr marL="342900" marR="1139190">
              <a:lnSpc>
                <a:spcPct val="121400"/>
              </a:lnSpc>
              <a:spcBef>
                <a:spcPts val="1695"/>
              </a:spcBef>
            </a:pPr>
            <a:r>
              <a:rPr sz="2250" spc="-127" dirty="0">
                <a:solidFill>
                  <a:srgbClr val="DDDFED"/>
                </a:solidFill>
                <a:latin typeface="Lucida Sans Unicode"/>
                <a:cs typeface="Lucida Sans Unicode"/>
              </a:rPr>
              <a:t>Hit</a:t>
            </a:r>
            <a:r>
              <a:rPr sz="2250" spc="-53" dirty="0">
                <a:solidFill>
                  <a:srgbClr val="DDDFED"/>
                </a:solidFill>
                <a:latin typeface="Lucida Sans Unicode"/>
                <a:cs typeface="Lucida Sans Unicode"/>
              </a:rPr>
              <a:t> </a:t>
            </a:r>
            <a:r>
              <a:rPr sz="2250" spc="-75" dirty="0">
                <a:solidFill>
                  <a:srgbClr val="DDDFED"/>
                </a:solidFill>
                <a:latin typeface="Lucida Sans Unicode"/>
                <a:cs typeface="Lucida Sans Unicode"/>
              </a:rPr>
              <a:t>ratio</a:t>
            </a:r>
            <a:r>
              <a:rPr sz="2250" spc="-105" dirty="0">
                <a:solidFill>
                  <a:srgbClr val="DDDFED"/>
                </a:solidFill>
                <a:latin typeface="Lucida Sans Unicode"/>
                <a:cs typeface="Lucida Sans Unicode"/>
              </a:rPr>
              <a:t> </a:t>
            </a:r>
            <a:r>
              <a:rPr sz="2250" spc="-30" dirty="0">
                <a:solidFill>
                  <a:srgbClr val="DDDFED"/>
                </a:solidFill>
                <a:latin typeface="Lucida Sans Unicode"/>
                <a:cs typeface="Lucida Sans Unicode"/>
              </a:rPr>
              <a:t>and</a:t>
            </a:r>
            <a:r>
              <a:rPr sz="2250" spc="-105" dirty="0">
                <a:solidFill>
                  <a:srgbClr val="DDDFED"/>
                </a:solidFill>
                <a:latin typeface="Lucida Sans Unicode"/>
                <a:cs typeface="Lucida Sans Unicode"/>
              </a:rPr>
              <a:t> </a:t>
            </a:r>
            <a:r>
              <a:rPr sz="2250" dirty="0">
                <a:solidFill>
                  <a:srgbClr val="DDDFED"/>
                </a:solidFill>
                <a:latin typeface="Lucida Sans Unicode"/>
                <a:cs typeface="Lucida Sans Unicode"/>
              </a:rPr>
              <a:t>latency</a:t>
            </a:r>
            <a:r>
              <a:rPr sz="2250" spc="-60" dirty="0">
                <a:solidFill>
                  <a:srgbClr val="DDDFED"/>
                </a:solidFill>
                <a:latin typeface="Lucida Sans Unicode"/>
                <a:cs typeface="Lucida Sans Unicode"/>
              </a:rPr>
              <a:t> </a:t>
            </a:r>
            <a:r>
              <a:rPr sz="2250" spc="-113" dirty="0">
                <a:solidFill>
                  <a:srgbClr val="DDDFED"/>
                </a:solidFill>
                <a:latin typeface="Lucida Sans Unicode"/>
                <a:cs typeface="Lucida Sans Unicode"/>
              </a:rPr>
              <a:t>did</a:t>
            </a:r>
            <a:r>
              <a:rPr sz="2250" spc="-68" dirty="0">
                <a:solidFill>
                  <a:srgbClr val="DDDFED"/>
                </a:solidFill>
                <a:latin typeface="Lucida Sans Unicode"/>
                <a:cs typeface="Lucida Sans Unicode"/>
              </a:rPr>
              <a:t> </a:t>
            </a:r>
            <a:r>
              <a:rPr sz="2250" spc="-45" dirty="0">
                <a:solidFill>
                  <a:srgbClr val="DDDFED"/>
                </a:solidFill>
                <a:latin typeface="Lucida Sans Unicode"/>
                <a:cs typeface="Lucida Sans Unicode"/>
              </a:rPr>
              <a:t>not </a:t>
            </a:r>
            <a:r>
              <a:rPr sz="2250" spc="-60" dirty="0">
                <a:solidFill>
                  <a:srgbClr val="DDDFED"/>
                </a:solidFill>
                <a:latin typeface="Lucida Sans Unicode"/>
                <a:cs typeface="Lucida Sans Unicode"/>
              </a:rPr>
              <a:t>improve</a:t>
            </a:r>
            <a:r>
              <a:rPr sz="2250" spc="-120" dirty="0">
                <a:solidFill>
                  <a:srgbClr val="DDDFED"/>
                </a:solidFill>
                <a:latin typeface="Lucida Sans Unicode"/>
                <a:cs typeface="Lucida Sans Unicode"/>
              </a:rPr>
              <a:t> </a:t>
            </a:r>
            <a:r>
              <a:rPr sz="2250" spc="-135" dirty="0">
                <a:solidFill>
                  <a:srgbClr val="DDDFED"/>
                </a:solidFill>
                <a:latin typeface="Lucida Sans Unicode"/>
                <a:cs typeface="Lucida Sans Unicode"/>
              </a:rPr>
              <a:t>in</a:t>
            </a:r>
            <a:r>
              <a:rPr sz="2250" spc="-45" dirty="0">
                <a:solidFill>
                  <a:srgbClr val="DDDFED"/>
                </a:solidFill>
                <a:latin typeface="Lucida Sans Unicode"/>
                <a:cs typeface="Lucida Sans Unicode"/>
              </a:rPr>
              <a:t> </a:t>
            </a:r>
            <a:r>
              <a:rPr sz="2250" spc="-15" dirty="0">
                <a:solidFill>
                  <a:srgbClr val="DDDFED"/>
                </a:solidFill>
                <a:latin typeface="Lucida Sans Unicode"/>
                <a:cs typeface="Lucida Sans Unicode"/>
              </a:rPr>
              <a:t>the</a:t>
            </a:r>
            <a:r>
              <a:rPr sz="2250" spc="-120" dirty="0">
                <a:solidFill>
                  <a:srgbClr val="DDDFED"/>
                </a:solidFill>
                <a:latin typeface="Lucida Sans Unicode"/>
                <a:cs typeface="Lucida Sans Unicode"/>
              </a:rPr>
              <a:t> </a:t>
            </a:r>
            <a:r>
              <a:rPr sz="2250" spc="-15" dirty="0">
                <a:solidFill>
                  <a:srgbClr val="DDDFED"/>
                </a:solidFill>
                <a:latin typeface="Lucida Sans Unicode"/>
                <a:cs typeface="Lucida Sans Unicode"/>
              </a:rPr>
              <a:t>recorded comparison.</a:t>
            </a:r>
            <a:endParaRPr sz="2250" dirty="0">
              <a:latin typeface="Lucida Sans Unicode"/>
              <a:cs typeface="Lucida Sans Unicode"/>
            </a:endParaRPr>
          </a:p>
        </p:txBody>
      </p:sp>
      <p:sp>
        <p:nvSpPr>
          <p:cNvPr id="8" name="object 8"/>
          <p:cNvSpPr txBox="1"/>
          <p:nvPr/>
        </p:nvSpPr>
        <p:spPr>
          <a:xfrm>
            <a:off x="6551676" y="3657601"/>
            <a:ext cx="5185410" cy="2517997"/>
          </a:xfrm>
          <a:prstGeom prst="rect">
            <a:avLst/>
          </a:prstGeom>
          <a:solidFill>
            <a:srgbClr val="131C3D"/>
          </a:solidFill>
        </p:spPr>
        <p:txBody>
          <a:bodyPr vert="horz" wrap="square" lIns="0" tIns="108585" rIns="0" bIns="0" rtlCol="0">
            <a:spAutoFit/>
          </a:bodyPr>
          <a:lstStyle/>
          <a:p>
            <a:pPr>
              <a:spcBef>
                <a:spcPts val="855"/>
              </a:spcBef>
            </a:pPr>
            <a:endParaRPr sz="1575" dirty="0">
              <a:latin typeface="Times New Roman"/>
              <a:cs typeface="Times New Roman"/>
            </a:endParaRPr>
          </a:p>
          <a:p>
            <a:pPr marL="345756">
              <a:spcBef>
                <a:spcPts val="8"/>
              </a:spcBef>
            </a:pPr>
            <a:r>
              <a:rPr sz="1575" spc="-38" dirty="0">
                <a:solidFill>
                  <a:srgbClr val="DDDFED"/>
                </a:solidFill>
                <a:latin typeface="Lucida Console"/>
                <a:cs typeface="Lucida Console"/>
              </a:rPr>
              <a:t>BUS</a:t>
            </a:r>
            <a:endParaRPr sz="1575" dirty="0">
              <a:latin typeface="Lucida Console"/>
              <a:cs typeface="Lucida Console"/>
            </a:endParaRPr>
          </a:p>
          <a:p>
            <a:pPr marL="345756">
              <a:spcBef>
                <a:spcPts val="1035"/>
              </a:spcBef>
            </a:pPr>
            <a:r>
              <a:rPr lang="en-IN" sz="3000" dirty="0">
                <a:solidFill>
                  <a:srgbClr val="DDDFED"/>
                </a:solidFill>
                <a:latin typeface="Lucida Sans Unicode"/>
                <a:cs typeface="Lucida Sans Unicode"/>
              </a:rPr>
              <a:t>128</a:t>
            </a:r>
            <a:r>
              <a:rPr lang="en-IN" sz="3000" spc="-171" dirty="0">
                <a:solidFill>
                  <a:srgbClr val="DDDFED"/>
                </a:solidFill>
                <a:latin typeface="Lucida Sans Unicode"/>
                <a:cs typeface="Lucida Sans Unicode"/>
              </a:rPr>
              <a:t> </a:t>
            </a:r>
            <a:r>
              <a:rPr lang="en-IN" sz="3000" spc="-818" dirty="0">
                <a:solidFill>
                  <a:srgbClr val="DDDFED"/>
                </a:solidFill>
                <a:latin typeface="Lucida Sans Unicode"/>
                <a:cs typeface="Lucida Sans Unicode"/>
              </a:rPr>
              <a:t>→</a:t>
            </a:r>
            <a:r>
              <a:rPr lang="en-IN" sz="3000" spc="-127" dirty="0">
                <a:solidFill>
                  <a:srgbClr val="DDDFED"/>
                </a:solidFill>
                <a:latin typeface="Lucida Sans Unicode"/>
                <a:cs typeface="Lucida Sans Unicode"/>
              </a:rPr>
              <a:t> </a:t>
            </a:r>
            <a:r>
              <a:rPr lang="en-IN" sz="3000" dirty="0">
                <a:solidFill>
                  <a:srgbClr val="DDDFED"/>
                </a:solidFill>
                <a:latin typeface="Lucida Sans Unicode"/>
                <a:cs typeface="Lucida Sans Unicode"/>
              </a:rPr>
              <a:t>256</a:t>
            </a:r>
            <a:r>
              <a:rPr lang="en-IN" sz="3000" spc="-143" dirty="0">
                <a:solidFill>
                  <a:srgbClr val="DDDFED"/>
                </a:solidFill>
                <a:latin typeface="Lucida Sans Unicode"/>
                <a:cs typeface="Lucida Sans Unicode"/>
              </a:rPr>
              <a:t> </a:t>
            </a:r>
            <a:r>
              <a:rPr lang="en-IN" sz="3000" spc="-38" dirty="0">
                <a:solidFill>
                  <a:srgbClr val="DDDFED"/>
                </a:solidFill>
                <a:latin typeface="Lucida Sans Unicode"/>
                <a:cs typeface="Lucida Sans Unicode"/>
              </a:rPr>
              <a:t>bit</a:t>
            </a:r>
          </a:p>
          <a:p>
            <a:pPr marL="345756">
              <a:spcBef>
                <a:spcPts val="2273"/>
              </a:spcBef>
            </a:pPr>
            <a:r>
              <a:rPr lang="en-US" sz="2250" spc="-30" dirty="0">
                <a:solidFill>
                  <a:srgbClr val="DDDFED"/>
                </a:solidFill>
                <a:latin typeface="Lucida Sans Unicode"/>
                <a:cs typeface="Lucida Sans Unicode"/>
              </a:rPr>
              <a:t>Recorded 128-bit and 256-bit </a:t>
            </a:r>
            <a:r>
              <a:rPr lang="en-US" sz="2250" spc="-30" dirty="0" err="1">
                <a:solidFill>
                  <a:srgbClr val="DDDFED"/>
                </a:solidFill>
                <a:latin typeface="Lucida Sans Unicode"/>
                <a:cs typeface="Lucida Sans Unicode"/>
              </a:rPr>
              <a:t>runsDRAM</a:t>
            </a:r>
            <a:r>
              <a:rPr lang="en-US" sz="2250" spc="-30" dirty="0">
                <a:solidFill>
                  <a:srgbClr val="DDDFED"/>
                </a:solidFill>
                <a:latin typeface="Lucida Sans Unicode"/>
                <a:cs typeface="Lucida Sans Unicode"/>
              </a:rPr>
              <a:t> throughput remained approximately 66.37 MB/s.</a:t>
            </a:r>
            <a:endParaRPr lang="en-IN" sz="2250" dirty="0">
              <a:latin typeface="Lucida Sans Unicode"/>
              <a:cs typeface="Lucida Sans Unicode"/>
            </a:endParaRPr>
          </a:p>
        </p:txBody>
      </p:sp>
      <p:sp>
        <p:nvSpPr>
          <p:cNvPr id="9" name="object 9"/>
          <p:cNvSpPr txBox="1"/>
          <p:nvPr/>
        </p:nvSpPr>
        <p:spPr>
          <a:xfrm>
            <a:off x="12193525" y="3657600"/>
            <a:ext cx="5180648" cy="2248693"/>
          </a:xfrm>
          <a:prstGeom prst="rect">
            <a:avLst/>
          </a:prstGeom>
          <a:solidFill>
            <a:srgbClr val="131C3D"/>
          </a:solidFill>
        </p:spPr>
        <p:txBody>
          <a:bodyPr vert="horz" wrap="square" lIns="0" tIns="108585" rIns="0" bIns="0" rtlCol="0">
            <a:spAutoFit/>
          </a:bodyPr>
          <a:lstStyle/>
          <a:p>
            <a:pPr>
              <a:spcBef>
                <a:spcPts val="855"/>
              </a:spcBef>
            </a:pPr>
            <a:endParaRPr sz="1575" dirty="0">
              <a:latin typeface="Times New Roman"/>
              <a:cs typeface="Times New Roman"/>
            </a:endParaRPr>
          </a:p>
          <a:p>
            <a:pPr marL="343853">
              <a:spcBef>
                <a:spcPts val="8"/>
              </a:spcBef>
            </a:pPr>
            <a:r>
              <a:rPr sz="1575" spc="-30" dirty="0">
                <a:solidFill>
                  <a:srgbClr val="DDDFED"/>
                </a:solidFill>
                <a:latin typeface="Lucida Console"/>
                <a:cs typeface="Lucida Console"/>
              </a:rPr>
              <a:t>DDR4</a:t>
            </a:r>
            <a:endParaRPr sz="1575" dirty="0">
              <a:latin typeface="Lucida Console"/>
              <a:cs typeface="Lucida Console"/>
            </a:endParaRPr>
          </a:p>
          <a:p>
            <a:pPr marL="343853">
              <a:spcBef>
                <a:spcPts val="1035"/>
              </a:spcBef>
            </a:pPr>
            <a:r>
              <a:rPr sz="3000" dirty="0">
                <a:solidFill>
                  <a:srgbClr val="DDDFED"/>
                </a:solidFill>
                <a:latin typeface="Lucida Sans Unicode"/>
                <a:cs typeface="Lucida Sans Unicode"/>
              </a:rPr>
              <a:t>3200</a:t>
            </a:r>
            <a:r>
              <a:rPr sz="3000" spc="-188" dirty="0">
                <a:solidFill>
                  <a:srgbClr val="DDDFED"/>
                </a:solidFill>
                <a:latin typeface="Lucida Sans Unicode"/>
                <a:cs typeface="Lucida Sans Unicode"/>
              </a:rPr>
              <a:t> </a:t>
            </a:r>
            <a:r>
              <a:rPr sz="3000" spc="-818" dirty="0">
                <a:solidFill>
                  <a:srgbClr val="DDDFED"/>
                </a:solidFill>
                <a:latin typeface="Lucida Sans Unicode"/>
                <a:cs typeface="Lucida Sans Unicode"/>
              </a:rPr>
              <a:t>→</a:t>
            </a:r>
            <a:r>
              <a:rPr sz="3000" spc="-158" dirty="0">
                <a:solidFill>
                  <a:srgbClr val="DDDFED"/>
                </a:solidFill>
                <a:latin typeface="Lucida Sans Unicode"/>
                <a:cs typeface="Lucida Sans Unicode"/>
              </a:rPr>
              <a:t> </a:t>
            </a:r>
            <a:r>
              <a:rPr sz="3000" dirty="0">
                <a:solidFill>
                  <a:srgbClr val="DDDFED"/>
                </a:solidFill>
                <a:latin typeface="Lucida Sans Unicode"/>
                <a:cs typeface="Lucida Sans Unicode"/>
              </a:rPr>
              <a:t>4266</a:t>
            </a:r>
            <a:r>
              <a:rPr sz="3000" spc="-143" dirty="0">
                <a:solidFill>
                  <a:srgbClr val="DDDFED"/>
                </a:solidFill>
                <a:latin typeface="Lucida Sans Unicode"/>
                <a:cs typeface="Lucida Sans Unicode"/>
              </a:rPr>
              <a:t> </a:t>
            </a:r>
            <a:r>
              <a:rPr sz="3000" spc="-38" dirty="0">
                <a:solidFill>
                  <a:srgbClr val="DDDFED"/>
                </a:solidFill>
                <a:latin typeface="Lucida Sans Unicode"/>
                <a:cs typeface="Lucida Sans Unicode"/>
              </a:rPr>
              <a:t>MHz</a:t>
            </a:r>
            <a:endParaRPr sz="3000" dirty="0">
              <a:latin typeface="Lucida Sans Unicode"/>
              <a:cs typeface="Lucida Sans Unicode"/>
            </a:endParaRPr>
          </a:p>
          <a:p>
            <a:pPr marL="343853">
              <a:spcBef>
                <a:spcPts val="2273"/>
              </a:spcBef>
            </a:pPr>
            <a:r>
              <a:rPr sz="2250" spc="-98" dirty="0">
                <a:solidFill>
                  <a:srgbClr val="DDDFED"/>
                </a:solidFill>
                <a:latin typeface="Lucida Sans Unicode"/>
                <a:cs typeface="Lucida Sans Unicode"/>
              </a:rPr>
              <a:t>Throughput</a:t>
            </a:r>
            <a:r>
              <a:rPr sz="2250" spc="-60" dirty="0">
                <a:solidFill>
                  <a:srgbClr val="DDDFED"/>
                </a:solidFill>
                <a:latin typeface="Lucida Sans Unicode"/>
                <a:cs typeface="Lucida Sans Unicode"/>
              </a:rPr>
              <a:t> </a:t>
            </a:r>
            <a:r>
              <a:rPr sz="2250" spc="-15" dirty="0">
                <a:solidFill>
                  <a:srgbClr val="DDDFED"/>
                </a:solidFill>
                <a:latin typeface="Lucida Sans Unicode"/>
                <a:cs typeface="Lucida Sans Unicode"/>
              </a:rPr>
              <a:t>remained</a:t>
            </a:r>
            <a:endParaRPr sz="2250" dirty="0">
              <a:latin typeface="Lucida Sans Unicode"/>
              <a:cs typeface="Lucida Sans Unicode"/>
            </a:endParaRPr>
          </a:p>
          <a:p>
            <a:pPr marL="343853">
              <a:spcBef>
                <a:spcPts val="578"/>
              </a:spcBef>
            </a:pPr>
            <a:r>
              <a:rPr sz="2250" spc="-60" dirty="0">
                <a:solidFill>
                  <a:srgbClr val="DDDFED"/>
                </a:solidFill>
                <a:latin typeface="Lucida Sans Unicode"/>
                <a:cs typeface="Lucida Sans Unicode"/>
              </a:rPr>
              <a:t>approximately</a:t>
            </a:r>
            <a:r>
              <a:rPr sz="2250" spc="113" dirty="0">
                <a:solidFill>
                  <a:srgbClr val="DDDFED"/>
                </a:solidFill>
                <a:latin typeface="Lucida Sans Unicode"/>
                <a:cs typeface="Lucida Sans Unicode"/>
              </a:rPr>
              <a:t> </a:t>
            </a:r>
            <a:r>
              <a:rPr sz="2250" dirty="0">
                <a:solidFill>
                  <a:srgbClr val="DDDFED"/>
                </a:solidFill>
                <a:latin typeface="Lucida Sans Unicode"/>
                <a:cs typeface="Lucida Sans Unicode"/>
              </a:rPr>
              <a:t>66.3–</a:t>
            </a:r>
            <a:r>
              <a:rPr sz="2250" spc="-30" dirty="0">
                <a:solidFill>
                  <a:srgbClr val="DDDFED"/>
                </a:solidFill>
                <a:latin typeface="Lucida Sans Unicode"/>
                <a:cs typeface="Lucida Sans Unicode"/>
              </a:rPr>
              <a:t>66.4</a:t>
            </a:r>
            <a:r>
              <a:rPr sz="2250" spc="83" dirty="0">
                <a:solidFill>
                  <a:srgbClr val="DDDFED"/>
                </a:solidFill>
                <a:latin typeface="Lucida Sans Unicode"/>
                <a:cs typeface="Lucida Sans Unicode"/>
              </a:rPr>
              <a:t> </a:t>
            </a:r>
            <a:r>
              <a:rPr sz="2250" spc="-30" dirty="0">
                <a:solidFill>
                  <a:srgbClr val="DDDFED"/>
                </a:solidFill>
                <a:latin typeface="Lucida Sans Unicode"/>
                <a:cs typeface="Lucida Sans Unicode"/>
              </a:rPr>
              <a:t>MB/s.</a:t>
            </a:r>
            <a:endParaRPr sz="2250" dirty="0">
              <a:latin typeface="Lucida Sans Unicode"/>
              <a:cs typeface="Lucida Sans Unicode"/>
            </a:endParaRPr>
          </a:p>
        </p:txBody>
      </p:sp>
      <p:sp>
        <p:nvSpPr>
          <p:cNvPr id="10" name="object 10"/>
          <p:cNvSpPr txBox="1"/>
          <p:nvPr/>
        </p:nvSpPr>
        <p:spPr>
          <a:xfrm>
            <a:off x="895351" y="6919341"/>
            <a:ext cx="2187893" cy="1315425"/>
          </a:xfrm>
          <a:prstGeom prst="rect">
            <a:avLst/>
          </a:prstGeom>
        </p:spPr>
        <p:txBody>
          <a:bodyPr vert="horz" wrap="square" lIns="0" tIns="20003" rIns="0" bIns="0" rtlCol="0">
            <a:spAutoFit/>
          </a:bodyPr>
          <a:lstStyle/>
          <a:p>
            <a:pPr marL="19050">
              <a:lnSpc>
                <a:spcPts val="1695"/>
              </a:lnSpc>
              <a:spcBef>
                <a:spcPts val="158"/>
              </a:spcBef>
            </a:pPr>
            <a:r>
              <a:rPr sz="1575" dirty="0">
                <a:solidFill>
                  <a:srgbClr val="A7ACC8"/>
                </a:solidFill>
                <a:latin typeface="Lucida Console"/>
                <a:cs typeface="Lucida Console"/>
              </a:rPr>
              <a:t>OBSERVED</a:t>
            </a:r>
            <a:r>
              <a:rPr sz="1575" spc="255" dirty="0">
                <a:solidFill>
                  <a:srgbClr val="A7ACC8"/>
                </a:solidFill>
                <a:latin typeface="Lucida Console"/>
                <a:cs typeface="Lucida Console"/>
              </a:rPr>
              <a:t> </a:t>
            </a:r>
            <a:r>
              <a:rPr sz="1575" spc="-15" dirty="0">
                <a:solidFill>
                  <a:srgbClr val="A7ACC8"/>
                </a:solidFill>
                <a:latin typeface="Lucida Console"/>
                <a:cs typeface="Lucida Console"/>
              </a:rPr>
              <a:t>RESPONSE</a:t>
            </a:r>
            <a:endParaRPr sz="1575">
              <a:latin typeface="Lucida Console"/>
              <a:cs typeface="Lucida Console"/>
            </a:endParaRPr>
          </a:p>
          <a:p>
            <a:pPr marL="19050">
              <a:lnSpc>
                <a:spcPts val="8445"/>
              </a:lnSpc>
            </a:pPr>
            <a:r>
              <a:rPr sz="7200" spc="-518" dirty="0">
                <a:solidFill>
                  <a:srgbClr val="FF3EB4"/>
                </a:solidFill>
                <a:latin typeface="Verdana"/>
                <a:cs typeface="Verdana"/>
              </a:rPr>
              <a:t>FLAT</a:t>
            </a:r>
            <a:endParaRPr sz="7200">
              <a:latin typeface="Verdana"/>
              <a:cs typeface="Verdana"/>
            </a:endParaRPr>
          </a:p>
        </p:txBody>
      </p:sp>
      <p:sp>
        <p:nvSpPr>
          <p:cNvPr id="11" name="object 11"/>
          <p:cNvSpPr txBox="1"/>
          <p:nvPr/>
        </p:nvSpPr>
        <p:spPr>
          <a:xfrm>
            <a:off x="11047475" y="6875315"/>
            <a:ext cx="5369243" cy="1257973"/>
          </a:xfrm>
          <a:prstGeom prst="rect">
            <a:avLst/>
          </a:prstGeom>
        </p:spPr>
        <p:txBody>
          <a:bodyPr vert="horz" wrap="square" lIns="0" tIns="19050" rIns="0" bIns="0" rtlCol="0">
            <a:spAutoFit/>
          </a:bodyPr>
          <a:lstStyle/>
          <a:p>
            <a:pPr marL="19050" marR="7620">
              <a:lnSpc>
                <a:spcPct val="121400"/>
              </a:lnSpc>
              <a:spcBef>
                <a:spcPts val="150"/>
              </a:spcBef>
            </a:pPr>
            <a:r>
              <a:rPr lang="en-US" sz="2250" spc="-15" dirty="0">
                <a:solidFill>
                  <a:srgbClr val="DDDFED"/>
                </a:solidFill>
                <a:latin typeface="Lucida Sans Unicode"/>
                <a:cs typeface="Lucida Sans Unicode"/>
              </a:rPr>
              <a:t>Across the recorded comparisons, more memory resources did not produce proportional gains.</a:t>
            </a:r>
            <a:endParaRPr sz="2250" dirty="0">
              <a:latin typeface="Lucida Sans Unicode"/>
              <a:cs typeface="Lucida Sans Unicod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18288000" cy="10287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90E23"/>
          </a:solidFill>
        </p:spPr>
        <p:txBody>
          <a:bodyPr wrap="square" lIns="0" tIns="0" rIns="0" bIns="0" rtlCol="0"/>
          <a:lstStyle/>
          <a:p>
            <a:endParaRPr sz="2700"/>
          </a:p>
        </p:txBody>
      </p:sp>
      <p:sp>
        <p:nvSpPr>
          <p:cNvPr id="4" name="object 4"/>
          <p:cNvSpPr txBox="1"/>
          <p:nvPr/>
        </p:nvSpPr>
        <p:spPr>
          <a:xfrm>
            <a:off x="895351" y="891158"/>
            <a:ext cx="4323398" cy="262572"/>
          </a:xfrm>
          <a:prstGeom prst="rect">
            <a:avLst/>
          </a:prstGeom>
        </p:spPr>
        <p:txBody>
          <a:bodyPr vert="horz" wrap="square" lIns="0" tIns="20003" rIns="0" bIns="0" rtlCol="0">
            <a:spAutoFit/>
          </a:bodyPr>
          <a:lstStyle/>
          <a:p>
            <a:pPr marL="19050">
              <a:spcBef>
                <a:spcPts val="158"/>
              </a:spcBef>
            </a:pPr>
            <a:r>
              <a:rPr sz="1575" dirty="0">
                <a:solidFill>
                  <a:srgbClr val="A7ACC8"/>
                </a:solidFill>
                <a:latin typeface="Lucida Console"/>
                <a:cs typeface="Lucida Console"/>
              </a:rPr>
              <a:t>INTERPRETATION</a:t>
            </a:r>
            <a:r>
              <a:rPr sz="1575" spc="217" dirty="0">
                <a:solidFill>
                  <a:srgbClr val="A7ACC8"/>
                </a:solidFill>
                <a:latin typeface="Lucida Console"/>
                <a:cs typeface="Lucida Console"/>
              </a:rPr>
              <a:t> </a:t>
            </a:r>
            <a:r>
              <a:rPr sz="1575" dirty="0">
                <a:solidFill>
                  <a:srgbClr val="A7ACC8"/>
                </a:solidFill>
                <a:latin typeface="Lucida Console"/>
                <a:cs typeface="Lucida Console"/>
              </a:rPr>
              <a:t>·</a:t>
            </a:r>
            <a:r>
              <a:rPr sz="1575" spc="323" dirty="0">
                <a:solidFill>
                  <a:srgbClr val="A7ACC8"/>
                </a:solidFill>
                <a:latin typeface="Lucida Console"/>
                <a:cs typeface="Lucida Console"/>
              </a:rPr>
              <a:t> </a:t>
            </a:r>
            <a:r>
              <a:rPr sz="1575" dirty="0">
                <a:solidFill>
                  <a:srgbClr val="A7ACC8"/>
                </a:solidFill>
                <a:latin typeface="Lucida Console"/>
                <a:cs typeface="Lucida Console"/>
              </a:rPr>
              <a:t>EVIDENCE</a:t>
            </a:r>
            <a:r>
              <a:rPr sz="1575" spc="180" dirty="0">
                <a:solidFill>
                  <a:srgbClr val="A7ACC8"/>
                </a:solidFill>
                <a:latin typeface="Lucida Console"/>
                <a:cs typeface="Lucida Console"/>
              </a:rPr>
              <a:t> </a:t>
            </a:r>
            <a:r>
              <a:rPr sz="1575" spc="-15" dirty="0">
                <a:solidFill>
                  <a:srgbClr val="A7ACC8"/>
                </a:solidFill>
                <a:latin typeface="Lucida Console"/>
                <a:cs typeface="Lucida Console"/>
              </a:rPr>
              <a:t>BOUNDARY</a:t>
            </a:r>
            <a:endParaRPr sz="1575">
              <a:latin typeface="Lucida Console"/>
              <a:cs typeface="Lucida Console"/>
            </a:endParaRPr>
          </a:p>
        </p:txBody>
      </p:sp>
      <p:sp>
        <p:nvSpPr>
          <p:cNvPr id="5" name="object 5" descr="$PPTXTitle"/>
          <p:cNvSpPr txBox="1">
            <a:spLocks noGrp="1"/>
          </p:cNvSpPr>
          <p:nvPr>
            <p:ph type="title"/>
          </p:nvPr>
        </p:nvSpPr>
        <p:spPr>
          <a:xfrm>
            <a:off x="895351" y="1116620"/>
            <a:ext cx="16271558" cy="1756443"/>
          </a:xfrm>
          <a:prstGeom prst="rect">
            <a:avLst/>
          </a:prstGeom>
        </p:spPr>
        <p:txBody>
          <a:bodyPr vert="horz" wrap="square" lIns="0" tIns="138113" rIns="0" bIns="0" rtlCol="0" anchor="ctr">
            <a:spAutoFit/>
          </a:bodyPr>
          <a:lstStyle/>
          <a:p>
            <a:pPr marL="19050" marR="7620">
              <a:lnSpc>
                <a:spcPts val="6345"/>
              </a:lnSpc>
              <a:spcBef>
                <a:spcPts val="1088"/>
              </a:spcBef>
            </a:pPr>
            <a:r>
              <a:rPr lang="en-US" sz="6000" spc="-15" dirty="0">
                <a:solidFill>
                  <a:srgbClr val="F4F5F9"/>
                </a:solidFill>
              </a:rPr>
              <a:t>The recorded results do not indicate raw bus width or DDR bandwidth as the dominant limitation</a:t>
            </a:r>
            <a:endParaRPr sz="6000" dirty="0"/>
          </a:p>
        </p:txBody>
      </p:sp>
      <p:sp>
        <p:nvSpPr>
          <p:cNvPr id="6" name="object 6"/>
          <p:cNvSpPr/>
          <p:nvPr/>
        </p:nvSpPr>
        <p:spPr>
          <a:xfrm>
            <a:off x="914400" y="3259835"/>
            <a:ext cx="763905" cy="60008"/>
          </a:xfrm>
          <a:custGeom>
            <a:avLst/>
            <a:gdLst/>
            <a:ahLst/>
            <a:cxnLst/>
            <a:rect l="l" t="t" r="r" b="b"/>
            <a:pathLst>
              <a:path w="509269" h="40005">
                <a:moveTo>
                  <a:pt x="489203" y="0"/>
                </a:moveTo>
                <a:lnTo>
                  <a:pt x="19812" y="0"/>
                </a:lnTo>
                <a:lnTo>
                  <a:pt x="12097" y="1559"/>
                </a:lnTo>
                <a:lnTo>
                  <a:pt x="5800" y="5810"/>
                </a:lnTo>
                <a:lnTo>
                  <a:pt x="1556" y="12108"/>
                </a:lnTo>
                <a:lnTo>
                  <a:pt x="0" y="19812"/>
                </a:lnTo>
                <a:lnTo>
                  <a:pt x="1556" y="27515"/>
                </a:lnTo>
                <a:lnTo>
                  <a:pt x="5800" y="33813"/>
                </a:lnTo>
                <a:lnTo>
                  <a:pt x="12097" y="38064"/>
                </a:lnTo>
                <a:lnTo>
                  <a:pt x="19812" y="39624"/>
                </a:lnTo>
                <a:lnTo>
                  <a:pt x="489203" y="39624"/>
                </a:lnTo>
                <a:lnTo>
                  <a:pt x="496918" y="38064"/>
                </a:lnTo>
                <a:lnTo>
                  <a:pt x="503215" y="33813"/>
                </a:lnTo>
                <a:lnTo>
                  <a:pt x="507459" y="27515"/>
                </a:lnTo>
                <a:lnTo>
                  <a:pt x="509016" y="19812"/>
                </a:lnTo>
                <a:lnTo>
                  <a:pt x="507459" y="12108"/>
                </a:lnTo>
                <a:lnTo>
                  <a:pt x="503215" y="5810"/>
                </a:lnTo>
                <a:lnTo>
                  <a:pt x="496918" y="1559"/>
                </a:lnTo>
                <a:lnTo>
                  <a:pt x="489203" y="0"/>
                </a:lnTo>
                <a:close/>
              </a:path>
            </a:pathLst>
          </a:custGeom>
          <a:solidFill>
            <a:srgbClr val="2A3357"/>
          </a:solidFill>
        </p:spPr>
        <p:txBody>
          <a:bodyPr wrap="square" lIns="0" tIns="0" rIns="0" bIns="0" rtlCol="0"/>
          <a:lstStyle/>
          <a:p>
            <a:endParaRPr sz="2700"/>
          </a:p>
        </p:txBody>
      </p:sp>
      <p:sp>
        <p:nvSpPr>
          <p:cNvPr id="7" name="object 7"/>
          <p:cNvSpPr txBox="1"/>
          <p:nvPr/>
        </p:nvSpPr>
        <p:spPr>
          <a:xfrm>
            <a:off x="895351" y="3890011"/>
            <a:ext cx="15334298" cy="3560590"/>
          </a:xfrm>
          <a:prstGeom prst="rect">
            <a:avLst/>
          </a:prstGeom>
        </p:spPr>
        <p:txBody>
          <a:bodyPr vert="horz" wrap="square" lIns="0" tIns="20955" rIns="0" bIns="0" rtlCol="0">
            <a:spAutoFit/>
          </a:bodyPr>
          <a:lstStyle/>
          <a:p>
            <a:pPr marL="19050">
              <a:spcBef>
                <a:spcPts val="165"/>
              </a:spcBef>
            </a:pPr>
            <a:r>
              <a:rPr sz="2250" b="1" spc="248" dirty="0">
                <a:solidFill>
                  <a:srgbClr val="DDDFED"/>
                </a:solidFill>
                <a:latin typeface="Arial"/>
                <a:cs typeface="Arial"/>
              </a:rPr>
              <a:t>256-</a:t>
            </a:r>
            <a:r>
              <a:rPr sz="2250" b="1" dirty="0">
                <a:solidFill>
                  <a:srgbClr val="DDDFED"/>
                </a:solidFill>
                <a:latin typeface="Arial"/>
                <a:cs typeface="Arial"/>
              </a:rPr>
              <a:t>bit</a:t>
            </a:r>
            <a:r>
              <a:rPr sz="2250" b="1" spc="-68" dirty="0">
                <a:solidFill>
                  <a:srgbClr val="DDDFED"/>
                </a:solidFill>
                <a:latin typeface="Arial"/>
                <a:cs typeface="Arial"/>
              </a:rPr>
              <a:t> </a:t>
            </a:r>
            <a:r>
              <a:rPr sz="2250" b="1" spc="-75" dirty="0">
                <a:solidFill>
                  <a:srgbClr val="DDDFED"/>
                </a:solidFill>
                <a:latin typeface="Arial"/>
                <a:cs typeface="Arial"/>
              </a:rPr>
              <a:t>bus</a:t>
            </a:r>
            <a:r>
              <a:rPr sz="2250" b="1" dirty="0">
                <a:solidFill>
                  <a:srgbClr val="DDDFED"/>
                </a:solidFill>
                <a:latin typeface="Arial"/>
                <a:cs typeface="Arial"/>
              </a:rPr>
              <a:t> </a:t>
            </a:r>
            <a:r>
              <a:rPr sz="2250" b="1" spc="-75" dirty="0">
                <a:solidFill>
                  <a:srgbClr val="DDDFED"/>
                </a:solidFill>
                <a:latin typeface="Arial"/>
                <a:cs typeface="Arial"/>
              </a:rPr>
              <a:t>utilization</a:t>
            </a:r>
            <a:r>
              <a:rPr sz="2250" b="1" spc="83" dirty="0">
                <a:solidFill>
                  <a:srgbClr val="DDDFED"/>
                </a:solidFill>
                <a:latin typeface="Arial"/>
                <a:cs typeface="Arial"/>
              </a:rPr>
              <a:t> </a:t>
            </a:r>
            <a:r>
              <a:rPr sz="2250" spc="-315" dirty="0">
                <a:solidFill>
                  <a:srgbClr val="DDDFED"/>
                </a:solidFill>
                <a:latin typeface="Lucida Sans Unicode"/>
                <a:cs typeface="Lucida Sans Unicode"/>
              </a:rPr>
              <a:t>—</a:t>
            </a:r>
            <a:r>
              <a:rPr sz="2250" spc="-60" dirty="0">
                <a:solidFill>
                  <a:srgbClr val="DDDFED"/>
                </a:solidFill>
                <a:latin typeface="Lucida Sans Unicode"/>
                <a:cs typeface="Lucida Sans Unicode"/>
              </a:rPr>
              <a:t> Approximately</a:t>
            </a:r>
            <a:r>
              <a:rPr sz="2250" spc="-90" dirty="0">
                <a:solidFill>
                  <a:srgbClr val="DDDFED"/>
                </a:solidFill>
                <a:latin typeface="Lucida Sans Unicode"/>
                <a:cs typeface="Lucida Sans Unicode"/>
              </a:rPr>
              <a:t> </a:t>
            </a:r>
            <a:r>
              <a:rPr sz="2250" dirty="0">
                <a:solidFill>
                  <a:srgbClr val="DDDFED"/>
                </a:solidFill>
                <a:latin typeface="Lucida Sans Unicode"/>
                <a:cs typeface="Lucida Sans Unicode"/>
              </a:rPr>
              <a:t>4.89%,</a:t>
            </a:r>
            <a:r>
              <a:rPr sz="2250" spc="-90" dirty="0">
                <a:solidFill>
                  <a:srgbClr val="DDDFED"/>
                </a:solidFill>
                <a:latin typeface="Lucida Sans Unicode"/>
                <a:cs typeface="Lucida Sans Unicode"/>
              </a:rPr>
              <a:t> </a:t>
            </a:r>
            <a:r>
              <a:rPr sz="2250" spc="-83" dirty="0">
                <a:solidFill>
                  <a:srgbClr val="DDDFED"/>
                </a:solidFill>
                <a:latin typeface="Lucida Sans Unicode"/>
                <a:cs typeface="Lucida Sans Unicode"/>
              </a:rPr>
              <a:t>indicating</a:t>
            </a:r>
            <a:r>
              <a:rPr sz="2250" spc="-98" dirty="0">
                <a:solidFill>
                  <a:srgbClr val="DDDFED"/>
                </a:solidFill>
                <a:latin typeface="Lucida Sans Unicode"/>
                <a:cs typeface="Lucida Sans Unicode"/>
              </a:rPr>
              <a:t> </a:t>
            </a:r>
            <a:r>
              <a:rPr sz="2250" spc="-83" dirty="0">
                <a:solidFill>
                  <a:srgbClr val="DDDFED"/>
                </a:solidFill>
                <a:latin typeface="Lucida Sans Unicode"/>
                <a:cs typeface="Lucida Sans Unicode"/>
              </a:rPr>
              <a:t>substantial</a:t>
            </a:r>
            <a:r>
              <a:rPr sz="2250" spc="-98" dirty="0">
                <a:solidFill>
                  <a:srgbClr val="DDDFED"/>
                </a:solidFill>
                <a:latin typeface="Lucida Sans Unicode"/>
                <a:cs typeface="Lucida Sans Unicode"/>
              </a:rPr>
              <a:t> </a:t>
            </a:r>
            <a:r>
              <a:rPr sz="2250" spc="-90" dirty="0">
                <a:solidFill>
                  <a:srgbClr val="DDDFED"/>
                </a:solidFill>
                <a:latin typeface="Lucida Sans Unicode"/>
                <a:cs typeface="Lucida Sans Unicode"/>
              </a:rPr>
              <a:t>unused</a:t>
            </a:r>
            <a:r>
              <a:rPr sz="2250" spc="-105" dirty="0">
                <a:solidFill>
                  <a:srgbClr val="DDDFED"/>
                </a:solidFill>
                <a:latin typeface="Lucida Sans Unicode"/>
                <a:cs typeface="Lucida Sans Unicode"/>
              </a:rPr>
              <a:t> </a:t>
            </a:r>
            <a:r>
              <a:rPr sz="2250" dirty="0">
                <a:solidFill>
                  <a:srgbClr val="DDDFED"/>
                </a:solidFill>
                <a:latin typeface="Lucida Sans Unicode"/>
                <a:cs typeface="Lucida Sans Unicode"/>
              </a:rPr>
              <a:t>capacity</a:t>
            </a:r>
            <a:r>
              <a:rPr sz="2250" spc="-90" dirty="0">
                <a:solidFill>
                  <a:srgbClr val="DDDFED"/>
                </a:solidFill>
                <a:latin typeface="Lucida Sans Unicode"/>
                <a:cs typeface="Lucida Sans Unicode"/>
              </a:rPr>
              <a:t> </a:t>
            </a:r>
            <a:r>
              <a:rPr sz="2250" spc="-135" dirty="0">
                <a:solidFill>
                  <a:srgbClr val="DDDFED"/>
                </a:solidFill>
                <a:latin typeface="Lucida Sans Unicode"/>
                <a:cs typeface="Lucida Sans Unicode"/>
              </a:rPr>
              <a:t>in</a:t>
            </a:r>
            <a:r>
              <a:rPr sz="2250" spc="-45" dirty="0">
                <a:solidFill>
                  <a:srgbClr val="DDDFED"/>
                </a:solidFill>
                <a:latin typeface="Lucida Sans Unicode"/>
                <a:cs typeface="Lucida Sans Unicode"/>
              </a:rPr>
              <a:t> </a:t>
            </a:r>
            <a:r>
              <a:rPr sz="2250" spc="-15" dirty="0">
                <a:solidFill>
                  <a:srgbClr val="DDDFED"/>
                </a:solidFill>
                <a:latin typeface="Lucida Sans Unicode"/>
                <a:cs typeface="Lucida Sans Unicode"/>
              </a:rPr>
              <a:t>the</a:t>
            </a:r>
            <a:r>
              <a:rPr sz="2250" spc="-53" dirty="0">
                <a:solidFill>
                  <a:srgbClr val="DDDFED"/>
                </a:solidFill>
                <a:latin typeface="Lucida Sans Unicode"/>
                <a:cs typeface="Lucida Sans Unicode"/>
              </a:rPr>
              <a:t> </a:t>
            </a:r>
            <a:r>
              <a:rPr sz="2250" spc="-30" dirty="0">
                <a:solidFill>
                  <a:srgbClr val="DDDFED"/>
                </a:solidFill>
                <a:latin typeface="Lucida Sans Unicode"/>
                <a:cs typeface="Lucida Sans Unicode"/>
              </a:rPr>
              <a:t>recorded</a:t>
            </a:r>
            <a:r>
              <a:rPr sz="2250" spc="-113" dirty="0">
                <a:solidFill>
                  <a:srgbClr val="DDDFED"/>
                </a:solidFill>
                <a:latin typeface="Lucida Sans Unicode"/>
                <a:cs typeface="Lucida Sans Unicode"/>
              </a:rPr>
              <a:t> </a:t>
            </a:r>
            <a:r>
              <a:rPr sz="2250" spc="-30" dirty="0">
                <a:solidFill>
                  <a:srgbClr val="DDDFED"/>
                </a:solidFill>
                <a:latin typeface="Lucida Sans Unicode"/>
                <a:cs typeface="Lucida Sans Unicode"/>
              </a:rPr>
              <a:t>run.</a:t>
            </a:r>
            <a:endParaRPr sz="2250">
              <a:latin typeface="Lucida Sans Unicode"/>
              <a:cs typeface="Lucida Sans Unicode"/>
            </a:endParaRPr>
          </a:p>
          <a:p>
            <a:pPr>
              <a:spcBef>
                <a:spcPts val="705"/>
              </a:spcBef>
            </a:pPr>
            <a:endParaRPr sz="2250">
              <a:latin typeface="Lucida Sans Unicode"/>
              <a:cs typeface="Lucida Sans Unicode"/>
            </a:endParaRPr>
          </a:p>
          <a:p>
            <a:pPr marL="19050">
              <a:spcBef>
                <a:spcPts val="8"/>
              </a:spcBef>
            </a:pPr>
            <a:r>
              <a:rPr sz="2250" b="1" dirty="0">
                <a:solidFill>
                  <a:srgbClr val="DDDFED"/>
                </a:solidFill>
                <a:latin typeface="Arial"/>
                <a:cs typeface="Arial"/>
              </a:rPr>
              <a:t>DDR4</a:t>
            </a:r>
            <a:r>
              <a:rPr sz="2250" b="1" spc="-113" dirty="0">
                <a:solidFill>
                  <a:srgbClr val="DDDFED"/>
                </a:solidFill>
                <a:latin typeface="Arial"/>
                <a:cs typeface="Arial"/>
              </a:rPr>
              <a:t> </a:t>
            </a:r>
            <a:r>
              <a:rPr sz="2250" b="1" dirty="0">
                <a:solidFill>
                  <a:srgbClr val="DDDFED"/>
                </a:solidFill>
                <a:latin typeface="Arial"/>
                <a:cs typeface="Arial"/>
              </a:rPr>
              <a:t>speed</a:t>
            </a:r>
            <a:r>
              <a:rPr sz="2250" b="1" spc="-8" dirty="0">
                <a:solidFill>
                  <a:srgbClr val="DDDFED"/>
                </a:solidFill>
                <a:latin typeface="Arial"/>
                <a:cs typeface="Arial"/>
              </a:rPr>
              <a:t> </a:t>
            </a:r>
            <a:r>
              <a:rPr sz="2250" b="1" spc="-15" dirty="0">
                <a:solidFill>
                  <a:srgbClr val="DDDFED"/>
                </a:solidFill>
                <a:latin typeface="Arial"/>
                <a:cs typeface="Arial"/>
              </a:rPr>
              <a:t>change</a:t>
            </a:r>
            <a:r>
              <a:rPr sz="2250" b="1" spc="-90" dirty="0">
                <a:solidFill>
                  <a:srgbClr val="DDDFED"/>
                </a:solidFill>
                <a:latin typeface="Arial"/>
                <a:cs typeface="Arial"/>
              </a:rPr>
              <a:t> </a:t>
            </a:r>
            <a:r>
              <a:rPr sz="2250" spc="-315" dirty="0">
                <a:solidFill>
                  <a:srgbClr val="DDDFED"/>
                </a:solidFill>
                <a:latin typeface="Lucida Sans Unicode"/>
                <a:cs typeface="Lucida Sans Unicode"/>
              </a:rPr>
              <a:t>—</a:t>
            </a:r>
            <a:r>
              <a:rPr sz="2250" spc="-30" dirty="0">
                <a:solidFill>
                  <a:srgbClr val="DDDFED"/>
                </a:solidFill>
                <a:latin typeface="Lucida Sans Unicode"/>
                <a:cs typeface="Lucida Sans Unicode"/>
              </a:rPr>
              <a:t> </a:t>
            </a:r>
            <a:r>
              <a:rPr sz="2250" spc="-15" dirty="0">
                <a:solidFill>
                  <a:srgbClr val="DDDFED"/>
                </a:solidFill>
                <a:latin typeface="Lucida Sans Unicode"/>
                <a:cs typeface="Lucida Sans Unicode"/>
              </a:rPr>
              <a:t>DRAM</a:t>
            </a:r>
            <a:r>
              <a:rPr sz="2250" spc="-68" dirty="0">
                <a:solidFill>
                  <a:srgbClr val="DDDFED"/>
                </a:solidFill>
                <a:latin typeface="Lucida Sans Unicode"/>
                <a:cs typeface="Lucida Sans Unicode"/>
              </a:rPr>
              <a:t> </a:t>
            </a:r>
            <a:r>
              <a:rPr sz="2250" spc="-90" dirty="0">
                <a:solidFill>
                  <a:srgbClr val="DDDFED"/>
                </a:solidFill>
                <a:latin typeface="Lucida Sans Unicode"/>
                <a:cs typeface="Lucida Sans Unicode"/>
              </a:rPr>
              <a:t>throughput</a:t>
            </a:r>
            <a:r>
              <a:rPr sz="2250" spc="-120" dirty="0">
                <a:solidFill>
                  <a:srgbClr val="DDDFED"/>
                </a:solidFill>
                <a:latin typeface="Lucida Sans Unicode"/>
                <a:cs typeface="Lucida Sans Unicode"/>
              </a:rPr>
              <a:t> </a:t>
            </a:r>
            <a:r>
              <a:rPr sz="2250" dirty="0">
                <a:solidFill>
                  <a:srgbClr val="DDDFED"/>
                </a:solidFill>
                <a:latin typeface="Lucida Sans Unicode"/>
                <a:cs typeface="Lucida Sans Unicode"/>
              </a:rPr>
              <a:t>stayed</a:t>
            </a:r>
            <a:r>
              <a:rPr sz="2250" spc="-68" dirty="0">
                <a:solidFill>
                  <a:srgbClr val="DDDFED"/>
                </a:solidFill>
                <a:latin typeface="Lucida Sans Unicode"/>
                <a:cs typeface="Lucida Sans Unicode"/>
              </a:rPr>
              <a:t> </a:t>
            </a:r>
            <a:r>
              <a:rPr sz="2250" dirty="0">
                <a:solidFill>
                  <a:srgbClr val="DDDFED"/>
                </a:solidFill>
                <a:latin typeface="Lucida Sans Unicode"/>
                <a:cs typeface="Lucida Sans Unicode"/>
              </a:rPr>
              <a:t>near</a:t>
            </a:r>
            <a:r>
              <a:rPr sz="2250" spc="-68" dirty="0">
                <a:solidFill>
                  <a:srgbClr val="DDDFED"/>
                </a:solidFill>
                <a:latin typeface="Lucida Sans Unicode"/>
                <a:cs typeface="Lucida Sans Unicode"/>
              </a:rPr>
              <a:t> </a:t>
            </a:r>
            <a:r>
              <a:rPr sz="2250" dirty="0">
                <a:solidFill>
                  <a:srgbClr val="DDDFED"/>
                </a:solidFill>
                <a:latin typeface="Lucida Sans Unicode"/>
                <a:cs typeface="Lucida Sans Unicode"/>
              </a:rPr>
              <a:t>66.3–</a:t>
            </a:r>
            <a:r>
              <a:rPr sz="2250" spc="-30" dirty="0">
                <a:solidFill>
                  <a:srgbClr val="DDDFED"/>
                </a:solidFill>
                <a:latin typeface="Lucida Sans Unicode"/>
                <a:cs typeface="Lucida Sans Unicode"/>
              </a:rPr>
              <a:t>66.4</a:t>
            </a:r>
            <a:r>
              <a:rPr sz="2250" spc="-150" dirty="0">
                <a:solidFill>
                  <a:srgbClr val="DDDFED"/>
                </a:solidFill>
                <a:latin typeface="Lucida Sans Unicode"/>
                <a:cs typeface="Lucida Sans Unicode"/>
              </a:rPr>
              <a:t> </a:t>
            </a:r>
            <a:r>
              <a:rPr sz="2250" dirty="0">
                <a:solidFill>
                  <a:srgbClr val="DDDFED"/>
                </a:solidFill>
                <a:latin typeface="Lucida Sans Unicode"/>
                <a:cs typeface="Lucida Sans Unicode"/>
              </a:rPr>
              <a:t>MB/s</a:t>
            </a:r>
            <a:r>
              <a:rPr sz="2250" spc="-150" dirty="0">
                <a:solidFill>
                  <a:srgbClr val="DDDFED"/>
                </a:solidFill>
                <a:latin typeface="Lucida Sans Unicode"/>
                <a:cs typeface="Lucida Sans Unicode"/>
              </a:rPr>
              <a:t> </a:t>
            </a:r>
            <a:r>
              <a:rPr sz="2250" spc="-53" dirty="0">
                <a:solidFill>
                  <a:srgbClr val="DDDFED"/>
                </a:solidFill>
                <a:latin typeface="Lucida Sans Unicode"/>
                <a:cs typeface="Lucida Sans Unicode"/>
              </a:rPr>
              <a:t>despite</a:t>
            </a:r>
            <a:r>
              <a:rPr sz="2250" spc="-113" dirty="0">
                <a:solidFill>
                  <a:srgbClr val="DDDFED"/>
                </a:solidFill>
                <a:latin typeface="Lucida Sans Unicode"/>
                <a:cs typeface="Lucida Sans Unicode"/>
              </a:rPr>
              <a:t> </a:t>
            </a:r>
            <a:r>
              <a:rPr sz="2250" spc="-15" dirty="0">
                <a:solidFill>
                  <a:srgbClr val="DDDFED"/>
                </a:solidFill>
                <a:latin typeface="Lucida Sans Unicode"/>
                <a:cs typeface="Lucida Sans Unicode"/>
              </a:rPr>
              <a:t>the</a:t>
            </a:r>
            <a:r>
              <a:rPr sz="2250" spc="-68" dirty="0">
                <a:solidFill>
                  <a:srgbClr val="DDDFED"/>
                </a:solidFill>
                <a:latin typeface="Lucida Sans Unicode"/>
                <a:cs typeface="Lucida Sans Unicode"/>
              </a:rPr>
              <a:t> </a:t>
            </a:r>
            <a:r>
              <a:rPr sz="2250" spc="-38" dirty="0">
                <a:solidFill>
                  <a:srgbClr val="DDDFED"/>
                </a:solidFill>
                <a:latin typeface="Lucida Sans Unicode"/>
                <a:cs typeface="Lucida Sans Unicode"/>
              </a:rPr>
              <a:t>DDR4</a:t>
            </a:r>
            <a:r>
              <a:rPr sz="2250" spc="-75" dirty="0">
                <a:solidFill>
                  <a:srgbClr val="DDDFED"/>
                </a:solidFill>
                <a:latin typeface="Lucida Sans Unicode"/>
                <a:cs typeface="Lucida Sans Unicode"/>
              </a:rPr>
              <a:t> </a:t>
            </a:r>
            <a:r>
              <a:rPr sz="2250" spc="-15" dirty="0">
                <a:solidFill>
                  <a:srgbClr val="DDDFED"/>
                </a:solidFill>
                <a:latin typeface="Lucida Sans Unicode"/>
                <a:cs typeface="Lucida Sans Unicode"/>
              </a:rPr>
              <a:t>speed</a:t>
            </a:r>
            <a:r>
              <a:rPr sz="2250" spc="-105" dirty="0">
                <a:solidFill>
                  <a:srgbClr val="DDDFED"/>
                </a:solidFill>
                <a:latin typeface="Lucida Sans Unicode"/>
                <a:cs typeface="Lucida Sans Unicode"/>
              </a:rPr>
              <a:t> </a:t>
            </a:r>
            <a:r>
              <a:rPr sz="2250" spc="-15" dirty="0">
                <a:solidFill>
                  <a:srgbClr val="DDDFED"/>
                </a:solidFill>
                <a:latin typeface="Lucida Sans Unicode"/>
                <a:cs typeface="Lucida Sans Unicode"/>
              </a:rPr>
              <a:t>change.</a:t>
            </a:r>
            <a:endParaRPr sz="2250">
              <a:latin typeface="Lucida Sans Unicode"/>
              <a:cs typeface="Lucida Sans Unicode"/>
            </a:endParaRPr>
          </a:p>
          <a:p>
            <a:pPr>
              <a:spcBef>
                <a:spcPts val="705"/>
              </a:spcBef>
            </a:pPr>
            <a:endParaRPr sz="2250">
              <a:latin typeface="Lucida Sans Unicode"/>
              <a:cs typeface="Lucida Sans Unicode"/>
            </a:endParaRPr>
          </a:p>
          <a:p>
            <a:pPr marL="19050"/>
            <a:r>
              <a:rPr sz="2250" b="1" dirty="0">
                <a:solidFill>
                  <a:srgbClr val="DDDFED"/>
                </a:solidFill>
                <a:latin typeface="Arial"/>
                <a:cs typeface="Arial"/>
              </a:rPr>
              <a:t>L2</a:t>
            </a:r>
            <a:r>
              <a:rPr sz="2250" b="1" spc="45" dirty="0">
                <a:solidFill>
                  <a:srgbClr val="DDDFED"/>
                </a:solidFill>
                <a:latin typeface="Arial"/>
                <a:cs typeface="Arial"/>
              </a:rPr>
              <a:t> </a:t>
            </a:r>
            <a:r>
              <a:rPr sz="2250" b="1" spc="-45" dirty="0">
                <a:solidFill>
                  <a:srgbClr val="DDDFED"/>
                </a:solidFill>
                <a:latin typeface="Arial"/>
                <a:cs typeface="Arial"/>
              </a:rPr>
              <a:t>behavior</a:t>
            </a:r>
            <a:r>
              <a:rPr sz="2250" b="1" spc="-60" dirty="0">
                <a:solidFill>
                  <a:srgbClr val="DDDFED"/>
                </a:solidFill>
                <a:latin typeface="Arial"/>
                <a:cs typeface="Arial"/>
              </a:rPr>
              <a:t> </a:t>
            </a:r>
            <a:r>
              <a:rPr sz="2250" spc="-315" dirty="0">
                <a:solidFill>
                  <a:srgbClr val="DDDFED"/>
                </a:solidFill>
                <a:latin typeface="Lucida Sans Unicode"/>
                <a:cs typeface="Lucida Sans Unicode"/>
              </a:rPr>
              <a:t>—</a:t>
            </a:r>
            <a:r>
              <a:rPr sz="2250" spc="-23" dirty="0">
                <a:solidFill>
                  <a:srgbClr val="DDDFED"/>
                </a:solidFill>
                <a:latin typeface="Lucida Sans Unicode"/>
                <a:cs typeface="Lucida Sans Unicode"/>
              </a:rPr>
              <a:t> </a:t>
            </a:r>
            <a:r>
              <a:rPr sz="2250" spc="-60" dirty="0">
                <a:solidFill>
                  <a:srgbClr val="DDDFED"/>
                </a:solidFill>
                <a:latin typeface="Lucida Sans Unicode"/>
                <a:cs typeface="Lucida Sans Unicode"/>
              </a:rPr>
              <a:t>Results</a:t>
            </a:r>
            <a:r>
              <a:rPr sz="2250" spc="-45" dirty="0">
                <a:solidFill>
                  <a:srgbClr val="DDDFED"/>
                </a:solidFill>
                <a:latin typeface="Lucida Sans Unicode"/>
                <a:cs typeface="Lucida Sans Unicode"/>
              </a:rPr>
              <a:t> </a:t>
            </a:r>
            <a:r>
              <a:rPr sz="2250" spc="-30" dirty="0">
                <a:solidFill>
                  <a:srgbClr val="DDDFED"/>
                </a:solidFill>
                <a:latin typeface="Lucida Sans Unicode"/>
                <a:cs typeface="Lucida Sans Unicode"/>
              </a:rPr>
              <a:t>varied</a:t>
            </a:r>
            <a:r>
              <a:rPr sz="2250" spc="-83" dirty="0">
                <a:solidFill>
                  <a:srgbClr val="DDDFED"/>
                </a:solidFill>
                <a:latin typeface="Lucida Sans Unicode"/>
                <a:cs typeface="Lucida Sans Unicode"/>
              </a:rPr>
              <a:t> </a:t>
            </a:r>
            <a:r>
              <a:rPr sz="2250" spc="-45" dirty="0">
                <a:solidFill>
                  <a:srgbClr val="DDDFED"/>
                </a:solidFill>
                <a:latin typeface="Lucida Sans Unicode"/>
                <a:cs typeface="Lucida Sans Unicode"/>
              </a:rPr>
              <a:t>with</a:t>
            </a:r>
            <a:r>
              <a:rPr sz="2250" spc="-68" dirty="0">
                <a:solidFill>
                  <a:srgbClr val="DDDFED"/>
                </a:solidFill>
                <a:latin typeface="Lucida Sans Unicode"/>
                <a:cs typeface="Lucida Sans Unicode"/>
              </a:rPr>
              <a:t> </a:t>
            </a:r>
            <a:r>
              <a:rPr sz="2250" spc="-15" dirty="0">
                <a:solidFill>
                  <a:srgbClr val="DDDFED"/>
                </a:solidFill>
                <a:latin typeface="Lucida Sans Unicode"/>
                <a:cs typeface="Lucida Sans Unicode"/>
              </a:rPr>
              <a:t>capacity,</a:t>
            </a:r>
            <a:r>
              <a:rPr sz="2250" spc="-75" dirty="0">
                <a:solidFill>
                  <a:srgbClr val="DDDFED"/>
                </a:solidFill>
                <a:latin typeface="Lucida Sans Unicode"/>
                <a:cs typeface="Lucida Sans Unicode"/>
              </a:rPr>
              <a:t> </a:t>
            </a:r>
            <a:r>
              <a:rPr sz="2250" spc="-113" dirty="0">
                <a:solidFill>
                  <a:srgbClr val="DDDFED"/>
                </a:solidFill>
                <a:latin typeface="Lucida Sans Unicode"/>
                <a:cs typeface="Lucida Sans Unicode"/>
              </a:rPr>
              <a:t>highlighting</a:t>
            </a:r>
            <a:r>
              <a:rPr sz="2250" spc="-143" dirty="0">
                <a:solidFill>
                  <a:srgbClr val="DDDFED"/>
                </a:solidFill>
                <a:latin typeface="Lucida Sans Unicode"/>
                <a:cs typeface="Lucida Sans Unicode"/>
              </a:rPr>
              <a:t> </a:t>
            </a:r>
            <a:r>
              <a:rPr sz="2250" spc="-15" dirty="0">
                <a:solidFill>
                  <a:srgbClr val="DDDFED"/>
                </a:solidFill>
                <a:latin typeface="Lucida Sans Unicode"/>
                <a:cs typeface="Lucida Sans Unicode"/>
              </a:rPr>
              <a:t>the</a:t>
            </a:r>
            <a:r>
              <a:rPr sz="2250" spc="-45" dirty="0">
                <a:solidFill>
                  <a:srgbClr val="DDDFED"/>
                </a:solidFill>
                <a:latin typeface="Lucida Sans Unicode"/>
                <a:cs typeface="Lucida Sans Unicode"/>
              </a:rPr>
              <a:t> </a:t>
            </a:r>
            <a:r>
              <a:rPr sz="2250" spc="-75" dirty="0">
                <a:solidFill>
                  <a:srgbClr val="DDDFED"/>
                </a:solidFill>
                <a:latin typeface="Lucida Sans Unicode"/>
                <a:cs typeface="Lucida Sans Unicode"/>
              </a:rPr>
              <a:t>role</a:t>
            </a:r>
            <a:r>
              <a:rPr sz="2250" spc="-45" dirty="0">
                <a:solidFill>
                  <a:srgbClr val="DDDFED"/>
                </a:solidFill>
                <a:latin typeface="Lucida Sans Unicode"/>
                <a:cs typeface="Lucida Sans Unicode"/>
              </a:rPr>
              <a:t> of </a:t>
            </a:r>
            <a:r>
              <a:rPr sz="2250" dirty="0">
                <a:solidFill>
                  <a:srgbClr val="DDDFED"/>
                </a:solidFill>
                <a:latin typeface="Lucida Sans Unicode"/>
                <a:cs typeface="Lucida Sans Unicode"/>
              </a:rPr>
              <a:t>access</a:t>
            </a:r>
            <a:r>
              <a:rPr sz="2250" spc="-83" dirty="0">
                <a:solidFill>
                  <a:srgbClr val="DDDFED"/>
                </a:solidFill>
                <a:latin typeface="Lucida Sans Unicode"/>
                <a:cs typeface="Lucida Sans Unicode"/>
              </a:rPr>
              <a:t> </a:t>
            </a:r>
            <a:r>
              <a:rPr sz="2250" spc="-68" dirty="0">
                <a:solidFill>
                  <a:srgbClr val="DDDFED"/>
                </a:solidFill>
                <a:latin typeface="Lucida Sans Unicode"/>
                <a:cs typeface="Lucida Sans Unicode"/>
              </a:rPr>
              <a:t>pattern,</a:t>
            </a:r>
            <a:r>
              <a:rPr sz="2250" spc="-75" dirty="0">
                <a:solidFill>
                  <a:srgbClr val="DDDFED"/>
                </a:solidFill>
                <a:latin typeface="Lucida Sans Unicode"/>
                <a:cs typeface="Lucida Sans Unicode"/>
              </a:rPr>
              <a:t> </a:t>
            </a:r>
            <a:r>
              <a:rPr sz="2250" spc="-68" dirty="0">
                <a:solidFill>
                  <a:srgbClr val="DDDFED"/>
                </a:solidFill>
                <a:latin typeface="Lucida Sans Unicode"/>
                <a:cs typeface="Lucida Sans Unicode"/>
              </a:rPr>
              <a:t>locality,</a:t>
            </a:r>
            <a:r>
              <a:rPr sz="2250" spc="-38" dirty="0">
                <a:solidFill>
                  <a:srgbClr val="DDDFED"/>
                </a:solidFill>
                <a:latin typeface="Lucida Sans Unicode"/>
                <a:cs typeface="Lucida Sans Unicode"/>
              </a:rPr>
              <a:t> </a:t>
            </a:r>
            <a:r>
              <a:rPr sz="2250" dirty="0">
                <a:solidFill>
                  <a:srgbClr val="DDDFED"/>
                </a:solidFill>
                <a:latin typeface="Lucida Sans Unicode"/>
                <a:cs typeface="Lucida Sans Unicode"/>
              </a:rPr>
              <a:t>cache</a:t>
            </a:r>
            <a:r>
              <a:rPr sz="2250" spc="-75" dirty="0">
                <a:solidFill>
                  <a:srgbClr val="DDDFED"/>
                </a:solidFill>
                <a:latin typeface="Lucida Sans Unicode"/>
                <a:cs typeface="Lucida Sans Unicode"/>
              </a:rPr>
              <a:t> </a:t>
            </a:r>
            <a:r>
              <a:rPr sz="2250" spc="-105" dirty="0">
                <a:solidFill>
                  <a:srgbClr val="DDDFED"/>
                </a:solidFill>
                <a:latin typeface="Lucida Sans Unicode"/>
                <a:cs typeface="Lucida Sans Unicode"/>
              </a:rPr>
              <a:t>organization,</a:t>
            </a:r>
            <a:r>
              <a:rPr sz="2250" spc="-68" dirty="0">
                <a:solidFill>
                  <a:srgbClr val="DDDFED"/>
                </a:solidFill>
                <a:latin typeface="Lucida Sans Unicode"/>
                <a:cs typeface="Lucida Sans Unicode"/>
              </a:rPr>
              <a:t> </a:t>
            </a:r>
            <a:r>
              <a:rPr sz="2250" spc="-38" dirty="0">
                <a:solidFill>
                  <a:srgbClr val="DDDFED"/>
                </a:solidFill>
                <a:latin typeface="Lucida Sans Unicode"/>
                <a:cs typeface="Lucida Sans Unicode"/>
              </a:rPr>
              <a:t>and</a:t>
            </a:r>
            <a:endParaRPr sz="2250">
              <a:latin typeface="Lucida Sans Unicode"/>
              <a:cs typeface="Lucida Sans Unicode"/>
            </a:endParaRPr>
          </a:p>
          <a:p>
            <a:pPr marL="19050">
              <a:spcBef>
                <a:spcPts val="578"/>
              </a:spcBef>
            </a:pPr>
            <a:r>
              <a:rPr sz="2250" spc="-38" dirty="0">
                <a:solidFill>
                  <a:srgbClr val="DDDFED"/>
                </a:solidFill>
                <a:latin typeface="Lucida Sans Unicode"/>
                <a:cs typeface="Lucida Sans Unicode"/>
              </a:rPr>
              <a:t>replacement</a:t>
            </a:r>
            <a:r>
              <a:rPr sz="2250" spc="-68" dirty="0">
                <a:solidFill>
                  <a:srgbClr val="DDDFED"/>
                </a:solidFill>
                <a:latin typeface="Lucida Sans Unicode"/>
                <a:cs typeface="Lucida Sans Unicode"/>
              </a:rPr>
              <a:t> </a:t>
            </a:r>
            <a:r>
              <a:rPr sz="2250" spc="-15" dirty="0">
                <a:solidFill>
                  <a:srgbClr val="DDDFED"/>
                </a:solidFill>
                <a:latin typeface="Lucida Sans Unicode"/>
                <a:cs typeface="Lucida Sans Unicode"/>
              </a:rPr>
              <a:t>behavior.</a:t>
            </a:r>
            <a:endParaRPr sz="2250">
              <a:latin typeface="Lucida Sans Unicode"/>
              <a:cs typeface="Lucida Sans Unicode"/>
            </a:endParaRPr>
          </a:p>
          <a:p>
            <a:pPr>
              <a:spcBef>
                <a:spcPts val="689"/>
              </a:spcBef>
            </a:pPr>
            <a:endParaRPr sz="2250">
              <a:latin typeface="Lucida Sans Unicode"/>
              <a:cs typeface="Lucida Sans Unicode"/>
            </a:endParaRPr>
          </a:p>
          <a:p>
            <a:pPr marL="19050">
              <a:spcBef>
                <a:spcPts val="8"/>
              </a:spcBef>
            </a:pPr>
            <a:r>
              <a:rPr sz="2250" b="1" spc="-30" dirty="0">
                <a:solidFill>
                  <a:srgbClr val="DDDFED"/>
                </a:solidFill>
                <a:latin typeface="Arial"/>
                <a:cs typeface="Arial"/>
              </a:rPr>
              <a:t>Interpretation</a:t>
            </a:r>
            <a:r>
              <a:rPr sz="2250" b="1" dirty="0">
                <a:solidFill>
                  <a:srgbClr val="DDDFED"/>
                </a:solidFill>
                <a:latin typeface="Arial"/>
                <a:cs typeface="Arial"/>
              </a:rPr>
              <a:t> </a:t>
            </a:r>
            <a:r>
              <a:rPr sz="2250" spc="-315" dirty="0">
                <a:solidFill>
                  <a:srgbClr val="DDDFED"/>
                </a:solidFill>
                <a:latin typeface="Lucida Sans Unicode"/>
                <a:cs typeface="Lucida Sans Unicode"/>
              </a:rPr>
              <a:t>—</a:t>
            </a:r>
            <a:r>
              <a:rPr sz="2250" spc="8" dirty="0">
                <a:solidFill>
                  <a:srgbClr val="DDDFED"/>
                </a:solidFill>
                <a:latin typeface="Lucida Sans Unicode"/>
                <a:cs typeface="Lucida Sans Unicode"/>
              </a:rPr>
              <a:t> </a:t>
            </a:r>
            <a:r>
              <a:rPr sz="2250" spc="-60" dirty="0">
                <a:solidFill>
                  <a:srgbClr val="DDDFED"/>
                </a:solidFill>
                <a:latin typeface="Lucida Sans Unicode"/>
                <a:cs typeface="Lucida Sans Unicode"/>
              </a:rPr>
              <a:t>The</a:t>
            </a:r>
            <a:r>
              <a:rPr sz="2250" spc="-45" dirty="0">
                <a:solidFill>
                  <a:srgbClr val="DDDFED"/>
                </a:solidFill>
                <a:latin typeface="Lucida Sans Unicode"/>
                <a:cs typeface="Lucida Sans Unicode"/>
              </a:rPr>
              <a:t> </a:t>
            </a:r>
            <a:r>
              <a:rPr sz="2250" spc="-98" dirty="0">
                <a:solidFill>
                  <a:srgbClr val="DDDFED"/>
                </a:solidFill>
                <a:latin typeface="Lucida Sans Unicode"/>
                <a:cs typeface="Lucida Sans Unicode"/>
              </a:rPr>
              <a:t>likely</a:t>
            </a:r>
            <a:r>
              <a:rPr sz="2250" spc="-15" dirty="0">
                <a:solidFill>
                  <a:srgbClr val="DDDFED"/>
                </a:solidFill>
                <a:latin typeface="Lucida Sans Unicode"/>
                <a:cs typeface="Lucida Sans Unicode"/>
              </a:rPr>
              <a:t> </a:t>
            </a:r>
            <a:r>
              <a:rPr sz="2250" spc="-60" dirty="0">
                <a:solidFill>
                  <a:srgbClr val="DDDFED"/>
                </a:solidFill>
                <a:latin typeface="Lucida Sans Unicode"/>
                <a:cs typeface="Lucida Sans Unicode"/>
              </a:rPr>
              <a:t>constraints</a:t>
            </a:r>
            <a:r>
              <a:rPr sz="2250" spc="-53" dirty="0">
                <a:solidFill>
                  <a:srgbClr val="DDDFED"/>
                </a:solidFill>
                <a:latin typeface="Lucida Sans Unicode"/>
                <a:cs typeface="Lucida Sans Unicode"/>
              </a:rPr>
              <a:t> </a:t>
            </a:r>
            <a:r>
              <a:rPr sz="2250" dirty="0">
                <a:solidFill>
                  <a:srgbClr val="DDDFED"/>
                </a:solidFill>
                <a:latin typeface="Lucida Sans Unicode"/>
                <a:cs typeface="Lucida Sans Unicode"/>
              </a:rPr>
              <a:t>may</a:t>
            </a:r>
            <a:r>
              <a:rPr sz="2250" spc="-45" dirty="0">
                <a:solidFill>
                  <a:srgbClr val="DDDFED"/>
                </a:solidFill>
                <a:latin typeface="Lucida Sans Unicode"/>
                <a:cs typeface="Lucida Sans Unicode"/>
              </a:rPr>
              <a:t> </a:t>
            </a:r>
            <a:r>
              <a:rPr sz="2250" spc="-98" dirty="0">
                <a:solidFill>
                  <a:srgbClr val="DDDFED"/>
                </a:solidFill>
                <a:latin typeface="Lucida Sans Unicode"/>
                <a:cs typeface="Lucida Sans Unicode"/>
              </a:rPr>
              <a:t>include</a:t>
            </a:r>
            <a:r>
              <a:rPr sz="2250" spc="-45" dirty="0">
                <a:solidFill>
                  <a:srgbClr val="DDDFED"/>
                </a:solidFill>
                <a:latin typeface="Lucida Sans Unicode"/>
                <a:cs typeface="Lucida Sans Unicode"/>
              </a:rPr>
              <a:t> request</a:t>
            </a:r>
            <a:r>
              <a:rPr sz="2250" spc="-60" dirty="0">
                <a:solidFill>
                  <a:srgbClr val="DDDFED"/>
                </a:solidFill>
                <a:latin typeface="Lucida Sans Unicode"/>
                <a:cs typeface="Lucida Sans Unicode"/>
              </a:rPr>
              <a:t> </a:t>
            </a:r>
            <a:r>
              <a:rPr sz="2250" spc="-38" dirty="0">
                <a:solidFill>
                  <a:srgbClr val="DDDFED"/>
                </a:solidFill>
                <a:latin typeface="Lucida Sans Unicode"/>
                <a:cs typeface="Lucida Sans Unicode"/>
              </a:rPr>
              <a:t>rate,</a:t>
            </a:r>
            <a:r>
              <a:rPr sz="2250" spc="23" dirty="0">
                <a:solidFill>
                  <a:srgbClr val="DDDFED"/>
                </a:solidFill>
                <a:latin typeface="Lucida Sans Unicode"/>
                <a:cs typeface="Lucida Sans Unicode"/>
              </a:rPr>
              <a:t> </a:t>
            </a:r>
            <a:r>
              <a:rPr sz="2250" dirty="0">
                <a:solidFill>
                  <a:srgbClr val="DDDFED"/>
                </a:solidFill>
                <a:latin typeface="Lucida Sans Unicode"/>
                <a:cs typeface="Lucida Sans Unicode"/>
              </a:rPr>
              <a:t>cache</a:t>
            </a:r>
            <a:r>
              <a:rPr sz="2250" spc="-75" dirty="0">
                <a:solidFill>
                  <a:srgbClr val="DDDFED"/>
                </a:solidFill>
                <a:latin typeface="Lucida Sans Unicode"/>
                <a:cs typeface="Lucida Sans Unicode"/>
              </a:rPr>
              <a:t> behavior,</a:t>
            </a:r>
            <a:r>
              <a:rPr sz="2250" spc="-83" dirty="0">
                <a:solidFill>
                  <a:srgbClr val="DDDFED"/>
                </a:solidFill>
                <a:latin typeface="Lucida Sans Unicode"/>
                <a:cs typeface="Lucida Sans Unicode"/>
              </a:rPr>
              <a:t> </a:t>
            </a:r>
            <a:r>
              <a:rPr sz="2250" spc="-15" dirty="0">
                <a:solidFill>
                  <a:srgbClr val="DDDFED"/>
                </a:solidFill>
                <a:latin typeface="Lucida Sans Unicode"/>
                <a:cs typeface="Lucida Sans Unicode"/>
              </a:rPr>
              <a:t>memory</a:t>
            </a:r>
            <a:r>
              <a:rPr sz="2250" spc="-53" dirty="0">
                <a:solidFill>
                  <a:srgbClr val="DDDFED"/>
                </a:solidFill>
                <a:latin typeface="Lucida Sans Unicode"/>
                <a:cs typeface="Lucida Sans Unicode"/>
              </a:rPr>
              <a:t> </a:t>
            </a:r>
            <a:r>
              <a:rPr sz="2250" dirty="0">
                <a:solidFill>
                  <a:srgbClr val="DDDFED"/>
                </a:solidFill>
                <a:latin typeface="Lucida Sans Unicode"/>
                <a:cs typeface="Lucida Sans Unicode"/>
              </a:rPr>
              <a:t>access</a:t>
            </a:r>
            <a:r>
              <a:rPr sz="2250" spc="-90" dirty="0">
                <a:solidFill>
                  <a:srgbClr val="DDDFED"/>
                </a:solidFill>
                <a:latin typeface="Lucida Sans Unicode"/>
                <a:cs typeface="Lucida Sans Unicode"/>
              </a:rPr>
              <a:t> </a:t>
            </a:r>
            <a:r>
              <a:rPr sz="2250" spc="-60" dirty="0">
                <a:solidFill>
                  <a:srgbClr val="DDDFED"/>
                </a:solidFill>
                <a:latin typeface="Lucida Sans Unicode"/>
                <a:cs typeface="Lucida Sans Unicode"/>
              </a:rPr>
              <a:t>pattern,</a:t>
            </a:r>
            <a:r>
              <a:rPr sz="2250" dirty="0">
                <a:solidFill>
                  <a:srgbClr val="DDDFED"/>
                </a:solidFill>
                <a:latin typeface="Lucida Sans Unicode"/>
                <a:cs typeface="Lucida Sans Unicode"/>
              </a:rPr>
              <a:t> </a:t>
            </a:r>
            <a:r>
              <a:rPr sz="2250" spc="-15" dirty="0">
                <a:solidFill>
                  <a:srgbClr val="DDDFED"/>
                </a:solidFill>
                <a:latin typeface="Lucida Sans Unicode"/>
                <a:cs typeface="Lucida Sans Unicode"/>
              </a:rPr>
              <a:t>controller</a:t>
            </a:r>
            <a:endParaRPr sz="2250">
              <a:latin typeface="Lucida Sans Unicode"/>
              <a:cs typeface="Lucida Sans Unicode"/>
            </a:endParaRPr>
          </a:p>
          <a:p>
            <a:pPr marL="19050">
              <a:spcBef>
                <a:spcPts val="570"/>
              </a:spcBef>
            </a:pPr>
            <a:r>
              <a:rPr sz="2250" spc="-75" dirty="0">
                <a:solidFill>
                  <a:srgbClr val="DDDFED"/>
                </a:solidFill>
                <a:latin typeface="Lucida Sans Unicode"/>
                <a:cs typeface="Lucida Sans Unicode"/>
              </a:rPr>
              <a:t>behavior,</a:t>
            </a:r>
            <a:r>
              <a:rPr sz="2250" spc="-105" dirty="0">
                <a:solidFill>
                  <a:srgbClr val="DDDFED"/>
                </a:solidFill>
                <a:latin typeface="Lucida Sans Unicode"/>
                <a:cs typeface="Lucida Sans Unicode"/>
              </a:rPr>
              <a:t> </a:t>
            </a:r>
            <a:r>
              <a:rPr sz="2250" dirty="0">
                <a:solidFill>
                  <a:srgbClr val="DDDFED"/>
                </a:solidFill>
                <a:latin typeface="Lucida Sans Unicode"/>
                <a:cs typeface="Lucida Sans Unicode"/>
              </a:rPr>
              <a:t>or</a:t>
            </a:r>
            <a:r>
              <a:rPr sz="2250" spc="-113" dirty="0">
                <a:solidFill>
                  <a:srgbClr val="DDDFED"/>
                </a:solidFill>
                <a:latin typeface="Lucida Sans Unicode"/>
                <a:cs typeface="Lucida Sans Unicode"/>
              </a:rPr>
              <a:t> </a:t>
            </a:r>
            <a:r>
              <a:rPr sz="2250" dirty="0">
                <a:solidFill>
                  <a:srgbClr val="DDDFED"/>
                </a:solidFill>
                <a:latin typeface="Lucida Sans Unicode"/>
                <a:cs typeface="Lucida Sans Unicode"/>
              </a:rPr>
              <a:t>latency</a:t>
            </a:r>
            <a:r>
              <a:rPr sz="2250" spc="-120" dirty="0">
                <a:solidFill>
                  <a:srgbClr val="DDDFED"/>
                </a:solidFill>
                <a:latin typeface="Lucida Sans Unicode"/>
                <a:cs typeface="Lucida Sans Unicode"/>
              </a:rPr>
              <a:t> </a:t>
            </a:r>
            <a:r>
              <a:rPr sz="2250" spc="-30" dirty="0">
                <a:solidFill>
                  <a:srgbClr val="DDDFED"/>
                </a:solidFill>
                <a:latin typeface="Lucida Sans Unicode"/>
                <a:cs typeface="Lucida Sans Unicode"/>
              </a:rPr>
              <a:t>rather</a:t>
            </a:r>
            <a:r>
              <a:rPr sz="2250" spc="-98" dirty="0">
                <a:solidFill>
                  <a:srgbClr val="DDDFED"/>
                </a:solidFill>
                <a:latin typeface="Lucida Sans Unicode"/>
                <a:cs typeface="Lucida Sans Unicode"/>
              </a:rPr>
              <a:t> </a:t>
            </a:r>
            <a:r>
              <a:rPr sz="2250" spc="-53" dirty="0">
                <a:solidFill>
                  <a:srgbClr val="DDDFED"/>
                </a:solidFill>
                <a:latin typeface="Lucida Sans Unicode"/>
                <a:cs typeface="Lucida Sans Unicode"/>
              </a:rPr>
              <a:t>than</a:t>
            </a:r>
            <a:r>
              <a:rPr sz="2250" spc="-113" dirty="0">
                <a:solidFill>
                  <a:srgbClr val="DDDFED"/>
                </a:solidFill>
                <a:latin typeface="Lucida Sans Unicode"/>
                <a:cs typeface="Lucida Sans Unicode"/>
              </a:rPr>
              <a:t> </a:t>
            </a:r>
            <a:r>
              <a:rPr sz="2250" spc="-15" dirty="0">
                <a:solidFill>
                  <a:srgbClr val="DDDFED"/>
                </a:solidFill>
                <a:latin typeface="Lucida Sans Unicode"/>
                <a:cs typeface="Lucida Sans Unicode"/>
              </a:rPr>
              <a:t>peak</a:t>
            </a:r>
            <a:r>
              <a:rPr sz="2250" spc="-98" dirty="0">
                <a:solidFill>
                  <a:srgbClr val="DDDFED"/>
                </a:solidFill>
                <a:latin typeface="Lucida Sans Unicode"/>
                <a:cs typeface="Lucida Sans Unicode"/>
              </a:rPr>
              <a:t> </a:t>
            </a:r>
            <a:r>
              <a:rPr sz="2250" spc="-15" dirty="0">
                <a:solidFill>
                  <a:srgbClr val="DDDFED"/>
                </a:solidFill>
                <a:latin typeface="Lucida Sans Unicode"/>
                <a:cs typeface="Lucida Sans Unicode"/>
              </a:rPr>
              <a:t>bandwidth.</a:t>
            </a:r>
            <a:endParaRPr sz="2250">
              <a:latin typeface="Lucida Sans Unicode"/>
              <a:cs typeface="Lucida Sans Unicode"/>
            </a:endParaRPr>
          </a:p>
        </p:txBody>
      </p:sp>
      <p:sp>
        <p:nvSpPr>
          <p:cNvPr id="8" name="object 8"/>
          <p:cNvSpPr/>
          <p:nvPr/>
        </p:nvSpPr>
        <p:spPr>
          <a:xfrm>
            <a:off x="914400" y="4517135"/>
            <a:ext cx="16459200" cy="19050"/>
          </a:xfrm>
          <a:custGeom>
            <a:avLst/>
            <a:gdLst/>
            <a:ahLst/>
            <a:cxnLst/>
            <a:rect l="l" t="t" r="r" b="b"/>
            <a:pathLst>
              <a:path w="10972800" h="12700">
                <a:moveTo>
                  <a:pt x="10972800" y="0"/>
                </a:moveTo>
                <a:lnTo>
                  <a:pt x="0" y="0"/>
                </a:lnTo>
                <a:lnTo>
                  <a:pt x="0" y="12192"/>
                </a:lnTo>
                <a:lnTo>
                  <a:pt x="10972800" y="12192"/>
                </a:lnTo>
                <a:lnTo>
                  <a:pt x="10972800" y="0"/>
                </a:lnTo>
                <a:close/>
              </a:path>
            </a:pathLst>
          </a:custGeom>
          <a:solidFill>
            <a:srgbClr val="2A3357"/>
          </a:solidFill>
        </p:spPr>
        <p:txBody>
          <a:bodyPr wrap="square" lIns="0" tIns="0" rIns="0" bIns="0" rtlCol="0"/>
          <a:lstStyle/>
          <a:p>
            <a:endParaRPr sz="2700"/>
          </a:p>
        </p:txBody>
      </p:sp>
      <p:sp>
        <p:nvSpPr>
          <p:cNvPr id="9" name="object 9"/>
          <p:cNvSpPr/>
          <p:nvPr/>
        </p:nvSpPr>
        <p:spPr>
          <a:xfrm>
            <a:off x="914400" y="5390388"/>
            <a:ext cx="16459200" cy="19050"/>
          </a:xfrm>
          <a:custGeom>
            <a:avLst/>
            <a:gdLst/>
            <a:ahLst/>
            <a:cxnLst/>
            <a:rect l="l" t="t" r="r" b="b"/>
            <a:pathLst>
              <a:path w="10972800" h="12700">
                <a:moveTo>
                  <a:pt x="10972800" y="0"/>
                </a:moveTo>
                <a:lnTo>
                  <a:pt x="0" y="0"/>
                </a:lnTo>
                <a:lnTo>
                  <a:pt x="0" y="12191"/>
                </a:lnTo>
                <a:lnTo>
                  <a:pt x="10972800" y="12191"/>
                </a:lnTo>
                <a:lnTo>
                  <a:pt x="10972800" y="0"/>
                </a:lnTo>
                <a:close/>
              </a:path>
            </a:pathLst>
          </a:custGeom>
          <a:solidFill>
            <a:srgbClr val="2A3357"/>
          </a:solidFill>
        </p:spPr>
        <p:txBody>
          <a:bodyPr wrap="square" lIns="0" tIns="0" rIns="0" bIns="0" rtlCol="0"/>
          <a:lstStyle/>
          <a:p>
            <a:endParaRPr sz="2700"/>
          </a:p>
        </p:txBody>
      </p:sp>
      <p:sp>
        <p:nvSpPr>
          <p:cNvPr id="10" name="object 10"/>
          <p:cNvSpPr/>
          <p:nvPr/>
        </p:nvSpPr>
        <p:spPr>
          <a:xfrm>
            <a:off x="914400" y="6675120"/>
            <a:ext cx="16459200" cy="19050"/>
          </a:xfrm>
          <a:custGeom>
            <a:avLst/>
            <a:gdLst/>
            <a:ahLst/>
            <a:cxnLst/>
            <a:rect l="l" t="t" r="r" b="b"/>
            <a:pathLst>
              <a:path w="10972800" h="12700">
                <a:moveTo>
                  <a:pt x="10972800" y="0"/>
                </a:moveTo>
                <a:lnTo>
                  <a:pt x="0" y="0"/>
                </a:lnTo>
                <a:lnTo>
                  <a:pt x="0" y="12191"/>
                </a:lnTo>
                <a:lnTo>
                  <a:pt x="10972800" y="12191"/>
                </a:lnTo>
                <a:lnTo>
                  <a:pt x="10972800" y="0"/>
                </a:lnTo>
                <a:close/>
              </a:path>
            </a:pathLst>
          </a:custGeom>
          <a:solidFill>
            <a:srgbClr val="2A3357"/>
          </a:solidFill>
        </p:spPr>
        <p:txBody>
          <a:bodyPr wrap="square" lIns="0" tIns="0" rIns="0" bIns="0" rtlCol="0"/>
          <a:lstStyle/>
          <a:p>
            <a:endParaRPr sz="2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723900"/>
            <a:ext cx="18516600" cy="110109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90E23">
              <a:alpha val="87841"/>
            </a:srgbClr>
          </a:solidFill>
        </p:spPr>
        <p:txBody>
          <a:bodyPr wrap="square" lIns="0" tIns="0" rIns="0" bIns="0" rtlCol="0"/>
          <a:lstStyle/>
          <a:p>
            <a:endParaRPr sz="2700"/>
          </a:p>
        </p:txBody>
      </p:sp>
      <p:sp>
        <p:nvSpPr>
          <p:cNvPr id="4" name="object 4"/>
          <p:cNvSpPr txBox="1"/>
          <p:nvPr/>
        </p:nvSpPr>
        <p:spPr>
          <a:xfrm>
            <a:off x="705155" y="548258"/>
            <a:ext cx="1302066" cy="262572"/>
          </a:xfrm>
          <a:prstGeom prst="rect">
            <a:avLst/>
          </a:prstGeom>
        </p:spPr>
        <p:txBody>
          <a:bodyPr vert="horz" wrap="square" lIns="0" tIns="20003" rIns="0" bIns="0" rtlCol="0">
            <a:spAutoFit/>
          </a:bodyPr>
          <a:lstStyle/>
          <a:p>
            <a:pPr marL="19050">
              <a:spcBef>
                <a:spcPts val="158"/>
              </a:spcBef>
            </a:pPr>
            <a:r>
              <a:rPr sz="1575" spc="-15" dirty="0">
                <a:solidFill>
                  <a:srgbClr val="FFFFFF"/>
                </a:solidFill>
                <a:latin typeface="Lucida Console"/>
                <a:cs typeface="Lucida Console"/>
              </a:rPr>
              <a:t>CONCLUSION</a:t>
            </a:r>
            <a:endParaRPr sz="1575">
              <a:latin typeface="Lucida Console"/>
              <a:cs typeface="Lucida Console"/>
            </a:endParaRPr>
          </a:p>
        </p:txBody>
      </p:sp>
      <p:sp>
        <p:nvSpPr>
          <p:cNvPr id="5" name="object 5" descr="$PPTXTitle"/>
          <p:cNvSpPr txBox="1">
            <a:spLocks noGrp="1"/>
          </p:cNvSpPr>
          <p:nvPr>
            <p:ph type="title"/>
          </p:nvPr>
        </p:nvSpPr>
        <p:spPr>
          <a:xfrm>
            <a:off x="705155" y="744376"/>
            <a:ext cx="13950315" cy="1127232"/>
          </a:xfrm>
          <a:prstGeom prst="rect">
            <a:avLst/>
          </a:prstGeom>
        </p:spPr>
        <p:txBody>
          <a:bodyPr vert="horz" wrap="square" lIns="0" tIns="19050" rIns="0" bIns="0" rtlCol="0" anchor="ctr">
            <a:spAutoFit/>
          </a:bodyPr>
          <a:lstStyle/>
          <a:p>
            <a:pPr marL="19050">
              <a:spcBef>
                <a:spcPts val="150"/>
              </a:spcBef>
            </a:pPr>
            <a:r>
              <a:rPr sz="7200" spc="-30" dirty="0">
                <a:solidFill>
                  <a:srgbClr val="FFFFFF"/>
                </a:solidFill>
              </a:rPr>
              <a:t>Match</a:t>
            </a:r>
            <a:r>
              <a:rPr sz="7200" spc="-1080" dirty="0">
                <a:solidFill>
                  <a:srgbClr val="FFFFFF"/>
                </a:solidFill>
              </a:rPr>
              <a:t> </a:t>
            </a:r>
            <a:r>
              <a:rPr sz="7200" spc="-263" dirty="0">
                <a:solidFill>
                  <a:srgbClr val="FFFFFF"/>
                </a:solidFill>
              </a:rPr>
              <a:t>resources</a:t>
            </a:r>
            <a:r>
              <a:rPr sz="7200" spc="-1005" dirty="0">
                <a:solidFill>
                  <a:srgbClr val="FFFFFF"/>
                </a:solidFill>
              </a:rPr>
              <a:t> </a:t>
            </a:r>
            <a:r>
              <a:rPr sz="7200" spc="143" dirty="0">
                <a:solidFill>
                  <a:srgbClr val="FFFFFF"/>
                </a:solidFill>
              </a:rPr>
              <a:t>to</a:t>
            </a:r>
            <a:r>
              <a:rPr sz="7200" spc="-1110" dirty="0">
                <a:solidFill>
                  <a:srgbClr val="FFFFFF"/>
                </a:solidFill>
              </a:rPr>
              <a:t> </a:t>
            </a:r>
            <a:r>
              <a:rPr sz="7200" spc="-90" dirty="0">
                <a:solidFill>
                  <a:srgbClr val="FFFFFF"/>
                </a:solidFill>
              </a:rPr>
              <a:t>the</a:t>
            </a:r>
            <a:r>
              <a:rPr sz="7200" spc="-1110" dirty="0">
                <a:solidFill>
                  <a:srgbClr val="FFFFFF"/>
                </a:solidFill>
              </a:rPr>
              <a:t> </a:t>
            </a:r>
            <a:r>
              <a:rPr sz="7200" spc="-233" dirty="0">
                <a:solidFill>
                  <a:srgbClr val="FFFFFF"/>
                </a:solidFill>
              </a:rPr>
              <a:t>workload</a:t>
            </a:r>
            <a:endParaRPr sz="7200"/>
          </a:p>
        </p:txBody>
      </p:sp>
      <p:grpSp>
        <p:nvGrpSpPr>
          <p:cNvPr id="6" name="object 6"/>
          <p:cNvGrpSpPr/>
          <p:nvPr/>
        </p:nvGrpSpPr>
        <p:grpSpPr>
          <a:xfrm>
            <a:off x="722375" y="2884933"/>
            <a:ext cx="16844010" cy="1545908"/>
            <a:chOff x="481583" y="1923288"/>
            <a:chExt cx="11229340" cy="1030605"/>
          </a:xfrm>
        </p:grpSpPr>
        <p:sp>
          <p:nvSpPr>
            <p:cNvPr id="7" name="object 7"/>
            <p:cNvSpPr/>
            <p:nvPr/>
          </p:nvSpPr>
          <p:spPr>
            <a:xfrm>
              <a:off x="481583" y="1923288"/>
              <a:ext cx="11229340" cy="1030605"/>
            </a:xfrm>
            <a:custGeom>
              <a:avLst/>
              <a:gdLst/>
              <a:ahLst/>
              <a:cxnLst/>
              <a:rect l="l" t="t" r="r" b="b"/>
              <a:pathLst>
                <a:path w="11229340" h="1030605">
                  <a:moveTo>
                    <a:pt x="11200257" y="0"/>
                  </a:moveTo>
                  <a:lnTo>
                    <a:pt x="28625" y="0"/>
                  </a:lnTo>
                  <a:lnTo>
                    <a:pt x="17482" y="2250"/>
                  </a:lnTo>
                  <a:lnTo>
                    <a:pt x="8383" y="8382"/>
                  </a:lnTo>
                  <a:lnTo>
                    <a:pt x="2249" y="17466"/>
                  </a:lnTo>
                  <a:lnTo>
                    <a:pt x="0" y="28575"/>
                  </a:lnTo>
                  <a:lnTo>
                    <a:pt x="0" y="1001649"/>
                  </a:lnTo>
                  <a:lnTo>
                    <a:pt x="2249" y="1012757"/>
                  </a:lnTo>
                  <a:lnTo>
                    <a:pt x="8383" y="1021841"/>
                  </a:lnTo>
                  <a:lnTo>
                    <a:pt x="17482" y="1027973"/>
                  </a:lnTo>
                  <a:lnTo>
                    <a:pt x="28625" y="1030224"/>
                  </a:lnTo>
                  <a:lnTo>
                    <a:pt x="11200257" y="1030224"/>
                  </a:lnTo>
                  <a:lnTo>
                    <a:pt x="11211365" y="1027973"/>
                  </a:lnTo>
                  <a:lnTo>
                    <a:pt x="11220450" y="1021841"/>
                  </a:lnTo>
                  <a:lnTo>
                    <a:pt x="11226581" y="1012757"/>
                  </a:lnTo>
                  <a:lnTo>
                    <a:pt x="11228832" y="1001649"/>
                  </a:lnTo>
                  <a:lnTo>
                    <a:pt x="11228832" y="28575"/>
                  </a:lnTo>
                  <a:lnTo>
                    <a:pt x="11226581" y="17466"/>
                  </a:lnTo>
                  <a:lnTo>
                    <a:pt x="11220450" y="8382"/>
                  </a:lnTo>
                  <a:lnTo>
                    <a:pt x="11211365" y="2250"/>
                  </a:lnTo>
                  <a:lnTo>
                    <a:pt x="11200257" y="0"/>
                  </a:lnTo>
                  <a:close/>
                </a:path>
              </a:pathLst>
            </a:custGeom>
            <a:solidFill>
              <a:srgbClr val="80004E"/>
            </a:solidFill>
          </p:spPr>
          <p:txBody>
            <a:bodyPr wrap="square" lIns="0" tIns="0" rIns="0" bIns="0" rtlCol="0"/>
            <a:lstStyle/>
            <a:p>
              <a:endParaRPr sz="2700"/>
            </a:p>
          </p:txBody>
        </p:sp>
        <p:pic>
          <p:nvPicPr>
            <p:cNvPr id="8" name="object 8" descr="preencoded.png"/>
            <p:cNvPicPr/>
            <p:nvPr/>
          </p:nvPicPr>
          <p:blipFill>
            <a:blip r:embed="rId2" cstate="print"/>
            <a:stretch>
              <a:fillRect/>
            </a:stretch>
          </p:blipFill>
          <p:spPr>
            <a:xfrm>
              <a:off x="673607" y="2200656"/>
              <a:ext cx="237743" cy="188975"/>
            </a:xfrm>
            <a:prstGeom prst="rect">
              <a:avLst/>
            </a:prstGeom>
          </p:spPr>
        </p:pic>
      </p:grpSp>
      <p:sp>
        <p:nvSpPr>
          <p:cNvPr id="9" name="object 9"/>
          <p:cNvSpPr txBox="1"/>
          <p:nvPr/>
        </p:nvSpPr>
        <p:spPr>
          <a:xfrm>
            <a:off x="705155" y="2210296"/>
            <a:ext cx="15218093" cy="1740541"/>
          </a:xfrm>
          <a:prstGeom prst="rect">
            <a:avLst/>
          </a:prstGeom>
        </p:spPr>
        <p:txBody>
          <a:bodyPr vert="horz" wrap="square" lIns="0" tIns="21908" rIns="0" bIns="0" rtlCol="0">
            <a:spAutoFit/>
          </a:bodyPr>
          <a:lstStyle/>
          <a:p>
            <a:pPr marL="19050">
              <a:spcBef>
                <a:spcPts val="173"/>
              </a:spcBef>
            </a:pPr>
            <a:r>
              <a:rPr sz="2250" spc="-15" dirty="0">
                <a:solidFill>
                  <a:srgbClr val="FFFFFF"/>
                </a:solidFill>
                <a:latin typeface="Lucida Sans Unicode"/>
                <a:cs typeface="Lucida Sans Unicode"/>
              </a:rPr>
              <a:t>Across</a:t>
            </a:r>
            <a:r>
              <a:rPr sz="2250" spc="-165" dirty="0">
                <a:solidFill>
                  <a:srgbClr val="FFFFFF"/>
                </a:solidFill>
                <a:latin typeface="Lucida Sans Unicode"/>
                <a:cs typeface="Lucida Sans Unicode"/>
              </a:rPr>
              <a:t> </a:t>
            </a:r>
            <a:r>
              <a:rPr sz="2250" spc="-15" dirty="0">
                <a:solidFill>
                  <a:srgbClr val="FFFFFF"/>
                </a:solidFill>
                <a:latin typeface="Lucida Sans Unicode"/>
                <a:cs typeface="Lucida Sans Unicode"/>
              </a:rPr>
              <a:t>the</a:t>
            </a:r>
            <a:r>
              <a:rPr sz="2250" spc="-135" dirty="0">
                <a:solidFill>
                  <a:srgbClr val="FFFFFF"/>
                </a:solidFill>
                <a:latin typeface="Lucida Sans Unicode"/>
                <a:cs typeface="Lucida Sans Unicode"/>
              </a:rPr>
              <a:t> </a:t>
            </a:r>
            <a:r>
              <a:rPr sz="2250" spc="-45" dirty="0">
                <a:solidFill>
                  <a:srgbClr val="FFFFFF"/>
                </a:solidFill>
                <a:latin typeface="Lucida Sans Unicode"/>
                <a:cs typeface="Lucida Sans Unicode"/>
              </a:rPr>
              <a:t>evaluated</a:t>
            </a:r>
            <a:r>
              <a:rPr sz="2250" spc="-120" dirty="0">
                <a:solidFill>
                  <a:srgbClr val="FFFFFF"/>
                </a:solidFill>
                <a:latin typeface="Lucida Sans Unicode"/>
                <a:cs typeface="Lucida Sans Unicode"/>
              </a:rPr>
              <a:t> </a:t>
            </a:r>
            <a:r>
              <a:rPr sz="2250" spc="-83" dirty="0">
                <a:solidFill>
                  <a:srgbClr val="FFFFFF"/>
                </a:solidFill>
                <a:latin typeface="Lucida Sans Unicode"/>
                <a:cs typeface="Lucida Sans Unicode"/>
              </a:rPr>
              <a:t>workload,</a:t>
            </a:r>
            <a:r>
              <a:rPr sz="2250" spc="-75" dirty="0">
                <a:solidFill>
                  <a:srgbClr val="FFFFFF"/>
                </a:solidFill>
                <a:latin typeface="Lucida Sans Unicode"/>
                <a:cs typeface="Lucida Sans Unicode"/>
              </a:rPr>
              <a:t> </a:t>
            </a:r>
            <a:r>
              <a:rPr sz="2250" spc="-45" dirty="0">
                <a:solidFill>
                  <a:srgbClr val="FFFFFF"/>
                </a:solidFill>
                <a:latin typeface="Lucida Sans Unicode"/>
                <a:cs typeface="Lucida Sans Unicode"/>
              </a:rPr>
              <a:t>larger</a:t>
            </a:r>
            <a:r>
              <a:rPr sz="2250" spc="-105" dirty="0">
                <a:solidFill>
                  <a:srgbClr val="FFFFFF"/>
                </a:solidFill>
                <a:latin typeface="Lucida Sans Unicode"/>
                <a:cs typeface="Lucida Sans Unicode"/>
              </a:rPr>
              <a:t> </a:t>
            </a:r>
            <a:r>
              <a:rPr sz="2250" spc="-30" dirty="0">
                <a:solidFill>
                  <a:srgbClr val="FFFFFF"/>
                </a:solidFill>
                <a:latin typeface="Lucida Sans Unicode"/>
                <a:cs typeface="Lucida Sans Unicode"/>
              </a:rPr>
              <a:t>L2,</a:t>
            </a:r>
            <a:r>
              <a:rPr sz="2250" spc="-83" dirty="0">
                <a:solidFill>
                  <a:srgbClr val="FFFFFF"/>
                </a:solidFill>
                <a:latin typeface="Lucida Sans Unicode"/>
                <a:cs typeface="Lucida Sans Unicode"/>
              </a:rPr>
              <a:t> </a:t>
            </a:r>
            <a:r>
              <a:rPr sz="2250" dirty="0">
                <a:solidFill>
                  <a:srgbClr val="FFFFFF"/>
                </a:solidFill>
                <a:latin typeface="Lucida Sans Unicode"/>
                <a:cs typeface="Lucida Sans Unicode"/>
              </a:rPr>
              <a:t>a</a:t>
            </a:r>
            <a:r>
              <a:rPr sz="2250" spc="-75" dirty="0">
                <a:solidFill>
                  <a:srgbClr val="FFFFFF"/>
                </a:solidFill>
                <a:latin typeface="Lucida Sans Unicode"/>
                <a:cs typeface="Lucida Sans Unicode"/>
              </a:rPr>
              <a:t> </a:t>
            </a:r>
            <a:r>
              <a:rPr sz="2250" spc="-30" dirty="0">
                <a:solidFill>
                  <a:srgbClr val="FFFFFF"/>
                </a:solidFill>
                <a:latin typeface="Lucida Sans Unicode"/>
                <a:cs typeface="Lucida Sans Unicode"/>
              </a:rPr>
              <a:t>wider</a:t>
            </a:r>
            <a:r>
              <a:rPr sz="2250" spc="-113" dirty="0">
                <a:solidFill>
                  <a:srgbClr val="FFFFFF"/>
                </a:solidFill>
                <a:latin typeface="Lucida Sans Unicode"/>
                <a:cs typeface="Lucida Sans Unicode"/>
              </a:rPr>
              <a:t> bus,</a:t>
            </a:r>
            <a:r>
              <a:rPr sz="2250" spc="-68" dirty="0">
                <a:solidFill>
                  <a:srgbClr val="FFFFFF"/>
                </a:solidFill>
                <a:latin typeface="Lucida Sans Unicode"/>
                <a:cs typeface="Lucida Sans Unicode"/>
              </a:rPr>
              <a:t> </a:t>
            </a:r>
            <a:r>
              <a:rPr sz="2250" spc="-30" dirty="0">
                <a:solidFill>
                  <a:srgbClr val="FFFFFF"/>
                </a:solidFill>
                <a:latin typeface="Lucida Sans Unicode"/>
                <a:cs typeface="Lucida Sans Unicode"/>
              </a:rPr>
              <a:t>and</a:t>
            </a:r>
            <a:r>
              <a:rPr sz="2250" spc="-105" dirty="0">
                <a:solidFill>
                  <a:srgbClr val="FFFFFF"/>
                </a:solidFill>
                <a:latin typeface="Lucida Sans Unicode"/>
                <a:cs typeface="Lucida Sans Unicode"/>
              </a:rPr>
              <a:t> </a:t>
            </a:r>
            <a:r>
              <a:rPr sz="2250" spc="-15" dirty="0">
                <a:solidFill>
                  <a:srgbClr val="FFFFFF"/>
                </a:solidFill>
                <a:latin typeface="Lucida Sans Unicode"/>
                <a:cs typeface="Lucida Sans Unicode"/>
              </a:rPr>
              <a:t>faster</a:t>
            </a:r>
            <a:r>
              <a:rPr sz="2250" spc="-83" dirty="0">
                <a:solidFill>
                  <a:srgbClr val="FFFFFF"/>
                </a:solidFill>
                <a:latin typeface="Lucida Sans Unicode"/>
                <a:cs typeface="Lucida Sans Unicode"/>
              </a:rPr>
              <a:t> </a:t>
            </a:r>
            <a:r>
              <a:rPr sz="2250" spc="-45" dirty="0">
                <a:solidFill>
                  <a:srgbClr val="FFFFFF"/>
                </a:solidFill>
                <a:latin typeface="Lucida Sans Unicode"/>
                <a:cs typeface="Lucida Sans Unicode"/>
              </a:rPr>
              <a:t>DDR4</a:t>
            </a:r>
            <a:r>
              <a:rPr sz="2250" spc="-113" dirty="0">
                <a:solidFill>
                  <a:srgbClr val="FFFFFF"/>
                </a:solidFill>
                <a:latin typeface="Lucida Sans Unicode"/>
                <a:cs typeface="Lucida Sans Unicode"/>
              </a:rPr>
              <a:t> did</a:t>
            </a:r>
            <a:r>
              <a:rPr sz="2250" spc="-68" dirty="0">
                <a:solidFill>
                  <a:srgbClr val="FFFFFF"/>
                </a:solidFill>
                <a:latin typeface="Lucida Sans Unicode"/>
                <a:cs typeface="Lucida Sans Unicode"/>
              </a:rPr>
              <a:t> not</a:t>
            </a:r>
            <a:r>
              <a:rPr sz="2250" spc="-90" dirty="0">
                <a:solidFill>
                  <a:srgbClr val="FFFFFF"/>
                </a:solidFill>
                <a:latin typeface="Lucida Sans Unicode"/>
                <a:cs typeface="Lucida Sans Unicode"/>
              </a:rPr>
              <a:t> </a:t>
            </a:r>
            <a:r>
              <a:rPr sz="2250" spc="-53" dirty="0">
                <a:solidFill>
                  <a:srgbClr val="FFFFFF"/>
                </a:solidFill>
                <a:latin typeface="Lucida Sans Unicode"/>
                <a:cs typeface="Lucida Sans Unicode"/>
              </a:rPr>
              <a:t>produce</a:t>
            </a:r>
            <a:r>
              <a:rPr sz="2250" spc="-113" dirty="0">
                <a:solidFill>
                  <a:srgbClr val="FFFFFF"/>
                </a:solidFill>
                <a:latin typeface="Lucida Sans Unicode"/>
                <a:cs typeface="Lucida Sans Unicode"/>
              </a:rPr>
              <a:t> </a:t>
            </a:r>
            <a:r>
              <a:rPr sz="2250" spc="-90" dirty="0">
                <a:solidFill>
                  <a:srgbClr val="FFFFFF"/>
                </a:solidFill>
                <a:latin typeface="Lucida Sans Unicode"/>
                <a:cs typeface="Lucida Sans Unicode"/>
              </a:rPr>
              <a:t>proportional </a:t>
            </a:r>
            <a:r>
              <a:rPr sz="2250" spc="-15" dirty="0">
                <a:solidFill>
                  <a:srgbClr val="FFFFFF"/>
                </a:solidFill>
                <a:latin typeface="Lucida Sans Unicode"/>
                <a:cs typeface="Lucida Sans Unicode"/>
              </a:rPr>
              <a:t>gains.</a:t>
            </a:r>
            <a:endParaRPr sz="2250">
              <a:latin typeface="Lucida Sans Unicode"/>
              <a:cs typeface="Lucida Sans Unicode"/>
            </a:endParaRPr>
          </a:p>
          <a:p>
            <a:pPr>
              <a:spcBef>
                <a:spcPts val="2018"/>
              </a:spcBef>
            </a:pPr>
            <a:endParaRPr sz="2250">
              <a:latin typeface="Lucida Sans Unicode"/>
              <a:cs typeface="Lucida Sans Unicode"/>
            </a:endParaRPr>
          </a:p>
          <a:p>
            <a:pPr marL="946785"/>
            <a:r>
              <a:rPr sz="2250" spc="-60" dirty="0">
                <a:solidFill>
                  <a:srgbClr val="FFFFFF"/>
                </a:solidFill>
                <a:latin typeface="Lucida Sans Unicode"/>
                <a:cs typeface="Lucida Sans Unicode"/>
              </a:rPr>
              <a:t>That</a:t>
            </a:r>
            <a:r>
              <a:rPr sz="2250" spc="-120" dirty="0">
                <a:solidFill>
                  <a:srgbClr val="FFFFFF"/>
                </a:solidFill>
                <a:latin typeface="Lucida Sans Unicode"/>
                <a:cs typeface="Lucida Sans Unicode"/>
              </a:rPr>
              <a:t> </a:t>
            </a:r>
            <a:r>
              <a:rPr sz="2250" spc="-68" dirty="0">
                <a:solidFill>
                  <a:srgbClr val="FFFFFF"/>
                </a:solidFill>
                <a:latin typeface="Lucida Sans Unicode"/>
                <a:cs typeface="Lucida Sans Unicode"/>
              </a:rPr>
              <a:t>result</a:t>
            </a:r>
            <a:r>
              <a:rPr sz="2250" spc="-23" dirty="0">
                <a:solidFill>
                  <a:srgbClr val="FFFFFF"/>
                </a:solidFill>
                <a:latin typeface="Lucida Sans Unicode"/>
                <a:cs typeface="Lucida Sans Unicode"/>
              </a:rPr>
              <a:t> </a:t>
            </a:r>
            <a:r>
              <a:rPr sz="2250" spc="-75" dirty="0">
                <a:solidFill>
                  <a:srgbClr val="FFFFFF"/>
                </a:solidFill>
                <a:latin typeface="Lucida Sans Unicode"/>
                <a:cs typeface="Lucida Sans Unicode"/>
              </a:rPr>
              <a:t>is</a:t>
            </a:r>
            <a:r>
              <a:rPr sz="2250" spc="-53" dirty="0">
                <a:solidFill>
                  <a:srgbClr val="FFFFFF"/>
                </a:solidFill>
                <a:latin typeface="Lucida Sans Unicode"/>
                <a:cs typeface="Lucida Sans Unicode"/>
              </a:rPr>
              <a:t> </a:t>
            </a:r>
            <a:r>
              <a:rPr sz="2250" spc="-90" dirty="0">
                <a:solidFill>
                  <a:srgbClr val="FFFFFF"/>
                </a:solidFill>
                <a:latin typeface="Lucida Sans Unicode"/>
                <a:cs typeface="Lucida Sans Unicode"/>
              </a:rPr>
              <a:t>workload-specific—</a:t>
            </a:r>
            <a:r>
              <a:rPr sz="2250" spc="-105" dirty="0">
                <a:solidFill>
                  <a:srgbClr val="FFFFFF"/>
                </a:solidFill>
                <a:latin typeface="Lucida Sans Unicode"/>
                <a:cs typeface="Lucida Sans Unicode"/>
              </a:rPr>
              <a:t>not</a:t>
            </a:r>
            <a:r>
              <a:rPr sz="2250" spc="-120" dirty="0">
                <a:solidFill>
                  <a:srgbClr val="FFFFFF"/>
                </a:solidFill>
                <a:latin typeface="Lucida Sans Unicode"/>
                <a:cs typeface="Lucida Sans Unicode"/>
              </a:rPr>
              <a:t> </a:t>
            </a:r>
            <a:r>
              <a:rPr sz="2250" dirty="0">
                <a:solidFill>
                  <a:srgbClr val="FFFFFF"/>
                </a:solidFill>
                <a:latin typeface="Lucida Sans Unicode"/>
                <a:cs typeface="Lucida Sans Unicode"/>
              </a:rPr>
              <a:t>a</a:t>
            </a:r>
            <a:r>
              <a:rPr sz="2250" spc="-38" dirty="0">
                <a:solidFill>
                  <a:srgbClr val="FFFFFF"/>
                </a:solidFill>
                <a:latin typeface="Lucida Sans Unicode"/>
                <a:cs typeface="Lucida Sans Unicode"/>
              </a:rPr>
              <a:t> </a:t>
            </a:r>
            <a:r>
              <a:rPr sz="2250" spc="-53" dirty="0">
                <a:solidFill>
                  <a:srgbClr val="FFFFFF"/>
                </a:solidFill>
                <a:latin typeface="Lucida Sans Unicode"/>
                <a:cs typeface="Lucida Sans Unicode"/>
              </a:rPr>
              <a:t>claim</a:t>
            </a:r>
            <a:r>
              <a:rPr sz="2250" spc="-75" dirty="0">
                <a:solidFill>
                  <a:srgbClr val="FFFFFF"/>
                </a:solidFill>
                <a:latin typeface="Lucida Sans Unicode"/>
                <a:cs typeface="Lucida Sans Unicode"/>
              </a:rPr>
              <a:t> </a:t>
            </a:r>
            <a:r>
              <a:rPr sz="2250" spc="-30" dirty="0">
                <a:solidFill>
                  <a:srgbClr val="FFFFFF"/>
                </a:solidFill>
                <a:latin typeface="Lucida Sans Unicode"/>
                <a:cs typeface="Lucida Sans Unicode"/>
              </a:rPr>
              <a:t>that</a:t>
            </a:r>
            <a:r>
              <a:rPr sz="2250" spc="-53" dirty="0">
                <a:solidFill>
                  <a:srgbClr val="FFFFFF"/>
                </a:solidFill>
                <a:latin typeface="Lucida Sans Unicode"/>
                <a:cs typeface="Lucida Sans Unicode"/>
              </a:rPr>
              <a:t> </a:t>
            </a:r>
            <a:r>
              <a:rPr sz="2250" spc="-30" dirty="0">
                <a:solidFill>
                  <a:srgbClr val="FFFFFF"/>
                </a:solidFill>
                <a:latin typeface="Lucida Sans Unicode"/>
                <a:cs typeface="Lucida Sans Unicode"/>
              </a:rPr>
              <a:t>more</a:t>
            </a:r>
            <a:r>
              <a:rPr sz="2250" spc="-53" dirty="0">
                <a:solidFill>
                  <a:srgbClr val="FFFFFF"/>
                </a:solidFill>
                <a:latin typeface="Lucida Sans Unicode"/>
                <a:cs typeface="Lucida Sans Unicode"/>
              </a:rPr>
              <a:t> </a:t>
            </a:r>
            <a:r>
              <a:rPr sz="2250" dirty="0">
                <a:solidFill>
                  <a:srgbClr val="FFFFFF"/>
                </a:solidFill>
                <a:latin typeface="Lucida Sans Unicode"/>
                <a:cs typeface="Lucida Sans Unicode"/>
              </a:rPr>
              <a:t>capacity</a:t>
            </a:r>
            <a:r>
              <a:rPr sz="2250" spc="-120" dirty="0">
                <a:solidFill>
                  <a:srgbClr val="FFFFFF"/>
                </a:solidFill>
                <a:latin typeface="Lucida Sans Unicode"/>
                <a:cs typeface="Lucida Sans Unicode"/>
              </a:rPr>
              <a:t> </a:t>
            </a:r>
            <a:r>
              <a:rPr sz="2250" spc="-15" dirty="0">
                <a:solidFill>
                  <a:srgbClr val="FFFFFF"/>
                </a:solidFill>
                <a:latin typeface="Lucida Sans Unicode"/>
                <a:cs typeface="Lucida Sans Unicode"/>
              </a:rPr>
              <a:t>or</a:t>
            </a:r>
            <a:r>
              <a:rPr sz="2250" spc="-45" dirty="0">
                <a:solidFill>
                  <a:srgbClr val="FFFFFF"/>
                </a:solidFill>
                <a:latin typeface="Lucida Sans Unicode"/>
                <a:cs typeface="Lucida Sans Unicode"/>
              </a:rPr>
              <a:t> </a:t>
            </a:r>
            <a:r>
              <a:rPr sz="2250" spc="-68" dirty="0">
                <a:solidFill>
                  <a:srgbClr val="FFFFFF"/>
                </a:solidFill>
                <a:latin typeface="Lucida Sans Unicode"/>
                <a:cs typeface="Lucida Sans Unicode"/>
              </a:rPr>
              <a:t>bandwidth</a:t>
            </a:r>
            <a:r>
              <a:rPr sz="2250" spc="-113" dirty="0">
                <a:solidFill>
                  <a:srgbClr val="FFFFFF"/>
                </a:solidFill>
                <a:latin typeface="Lucida Sans Unicode"/>
                <a:cs typeface="Lucida Sans Unicode"/>
              </a:rPr>
              <a:t> </a:t>
            </a:r>
            <a:r>
              <a:rPr sz="2250" dirty="0">
                <a:solidFill>
                  <a:srgbClr val="FFFFFF"/>
                </a:solidFill>
                <a:latin typeface="Lucida Sans Unicode"/>
                <a:cs typeface="Lucida Sans Unicode"/>
              </a:rPr>
              <a:t>never</a:t>
            </a:r>
            <a:r>
              <a:rPr sz="2250" spc="-75" dirty="0">
                <a:solidFill>
                  <a:srgbClr val="FFFFFF"/>
                </a:solidFill>
                <a:latin typeface="Lucida Sans Unicode"/>
                <a:cs typeface="Lucida Sans Unicode"/>
              </a:rPr>
              <a:t> </a:t>
            </a:r>
            <a:r>
              <a:rPr sz="2250" spc="-105" dirty="0">
                <a:solidFill>
                  <a:srgbClr val="FFFFFF"/>
                </a:solidFill>
                <a:latin typeface="Lucida Sans Unicode"/>
                <a:cs typeface="Lucida Sans Unicode"/>
              </a:rPr>
              <a:t>helps.</a:t>
            </a:r>
            <a:r>
              <a:rPr sz="2250" spc="-75" dirty="0">
                <a:solidFill>
                  <a:srgbClr val="FFFFFF"/>
                </a:solidFill>
                <a:latin typeface="Lucida Sans Unicode"/>
                <a:cs typeface="Lucida Sans Unicode"/>
              </a:rPr>
              <a:t> </a:t>
            </a:r>
            <a:r>
              <a:rPr sz="2250" spc="-53" dirty="0">
                <a:solidFill>
                  <a:srgbClr val="FFFFFF"/>
                </a:solidFill>
                <a:latin typeface="Lucida Sans Unicode"/>
                <a:cs typeface="Lucida Sans Unicode"/>
              </a:rPr>
              <a:t>Characterize</a:t>
            </a:r>
            <a:r>
              <a:rPr sz="2250" spc="-90" dirty="0">
                <a:solidFill>
                  <a:srgbClr val="FFFFFF"/>
                </a:solidFill>
                <a:latin typeface="Lucida Sans Unicode"/>
                <a:cs typeface="Lucida Sans Unicode"/>
              </a:rPr>
              <a:t> </a:t>
            </a:r>
            <a:r>
              <a:rPr sz="2250" spc="-38" dirty="0">
                <a:solidFill>
                  <a:srgbClr val="FFFFFF"/>
                </a:solidFill>
                <a:latin typeface="Lucida Sans Unicode"/>
                <a:cs typeface="Lucida Sans Unicode"/>
              </a:rPr>
              <a:t>the</a:t>
            </a:r>
            <a:endParaRPr sz="2250">
              <a:latin typeface="Lucida Sans Unicode"/>
              <a:cs typeface="Lucida Sans Unicode"/>
            </a:endParaRPr>
          </a:p>
          <a:p>
            <a:pPr marL="946785">
              <a:spcBef>
                <a:spcPts val="578"/>
              </a:spcBef>
            </a:pPr>
            <a:r>
              <a:rPr sz="2250" spc="-60" dirty="0">
                <a:solidFill>
                  <a:srgbClr val="FFFFFF"/>
                </a:solidFill>
                <a:latin typeface="Lucida Sans Unicode"/>
                <a:cs typeface="Lucida Sans Unicode"/>
              </a:rPr>
              <a:t>bottleneck</a:t>
            </a:r>
            <a:r>
              <a:rPr sz="2250" spc="-120" dirty="0">
                <a:solidFill>
                  <a:srgbClr val="FFFFFF"/>
                </a:solidFill>
                <a:latin typeface="Lucida Sans Unicode"/>
                <a:cs typeface="Lucida Sans Unicode"/>
              </a:rPr>
              <a:t> </a:t>
            </a:r>
            <a:r>
              <a:rPr sz="2250" spc="-15" dirty="0">
                <a:solidFill>
                  <a:srgbClr val="FFFFFF"/>
                </a:solidFill>
                <a:latin typeface="Lucida Sans Unicode"/>
                <a:cs typeface="Lucida Sans Unicode"/>
              </a:rPr>
              <a:t>and</a:t>
            </a:r>
            <a:r>
              <a:rPr sz="2250" spc="-75" dirty="0">
                <a:solidFill>
                  <a:srgbClr val="FFFFFF"/>
                </a:solidFill>
                <a:latin typeface="Lucida Sans Unicode"/>
                <a:cs typeface="Lucida Sans Unicode"/>
              </a:rPr>
              <a:t> </a:t>
            </a:r>
            <a:r>
              <a:rPr sz="2250" spc="-53" dirty="0">
                <a:solidFill>
                  <a:srgbClr val="FFFFFF"/>
                </a:solidFill>
                <a:latin typeface="Lucida Sans Unicode"/>
                <a:cs typeface="Lucida Sans Unicode"/>
              </a:rPr>
              <a:t>validate</a:t>
            </a:r>
            <a:r>
              <a:rPr sz="2250" spc="-105" dirty="0">
                <a:solidFill>
                  <a:srgbClr val="FFFFFF"/>
                </a:solidFill>
                <a:latin typeface="Lucida Sans Unicode"/>
                <a:cs typeface="Lucida Sans Unicode"/>
              </a:rPr>
              <a:t> </a:t>
            </a:r>
            <a:r>
              <a:rPr sz="2250" dirty="0">
                <a:solidFill>
                  <a:srgbClr val="FFFFFF"/>
                </a:solidFill>
                <a:latin typeface="Lucida Sans Unicode"/>
                <a:cs typeface="Lucida Sans Unicode"/>
              </a:rPr>
              <a:t>any</a:t>
            </a:r>
            <a:r>
              <a:rPr sz="2250" spc="-98" dirty="0">
                <a:solidFill>
                  <a:srgbClr val="FFFFFF"/>
                </a:solidFill>
                <a:latin typeface="Lucida Sans Unicode"/>
                <a:cs typeface="Lucida Sans Unicode"/>
              </a:rPr>
              <a:t> </a:t>
            </a:r>
            <a:r>
              <a:rPr sz="2250" spc="-15" dirty="0">
                <a:solidFill>
                  <a:srgbClr val="FFFFFF"/>
                </a:solidFill>
                <a:latin typeface="Lucida Sans Unicode"/>
                <a:cs typeface="Lucida Sans Unicode"/>
              </a:rPr>
              <a:t>change</a:t>
            </a:r>
            <a:r>
              <a:rPr sz="2250" spc="-135" dirty="0">
                <a:solidFill>
                  <a:srgbClr val="FFFFFF"/>
                </a:solidFill>
                <a:latin typeface="Lucida Sans Unicode"/>
                <a:cs typeface="Lucida Sans Unicode"/>
              </a:rPr>
              <a:t> </a:t>
            </a:r>
            <a:r>
              <a:rPr sz="2250" spc="-83" dirty="0">
                <a:solidFill>
                  <a:srgbClr val="FFFFFF"/>
                </a:solidFill>
                <a:latin typeface="Lucida Sans Unicode"/>
                <a:cs typeface="Lucida Sans Unicode"/>
              </a:rPr>
              <a:t>through</a:t>
            </a:r>
            <a:r>
              <a:rPr sz="2250" spc="-90" dirty="0">
                <a:solidFill>
                  <a:srgbClr val="FFFFFF"/>
                </a:solidFill>
                <a:latin typeface="Lucida Sans Unicode"/>
                <a:cs typeface="Lucida Sans Unicode"/>
              </a:rPr>
              <a:t> </a:t>
            </a:r>
            <a:r>
              <a:rPr sz="2250" spc="-105" dirty="0">
                <a:solidFill>
                  <a:srgbClr val="FFFFFF"/>
                </a:solidFill>
                <a:latin typeface="Lucida Sans Unicode"/>
                <a:cs typeface="Lucida Sans Unicode"/>
              </a:rPr>
              <a:t>simulation</a:t>
            </a:r>
            <a:r>
              <a:rPr sz="2250" spc="-75" dirty="0">
                <a:solidFill>
                  <a:srgbClr val="FFFFFF"/>
                </a:solidFill>
                <a:latin typeface="Lucida Sans Unicode"/>
                <a:cs typeface="Lucida Sans Unicode"/>
              </a:rPr>
              <a:t> </a:t>
            </a:r>
            <a:r>
              <a:rPr sz="2250" spc="-45" dirty="0">
                <a:solidFill>
                  <a:srgbClr val="FFFFFF"/>
                </a:solidFill>
                <a:latin typeface="Lucida Sans Unicode"/>
                <a:cs typeface="Lucida Sans Unicode"/>
              </a:rPr>
              <a:t>before</a:t>
            </a:r>
            <a:r>
              <a:rPr sz="2250" spc="-105" dirty="0">
                <a:solidFill>
                  <a:srgbClr val="FFFFFF"/>
                </a:solidFill>
                <a:latin typeface="Lucida Sans Unicode"/>
                <a:cs typeface="Lucida Sans Unicode"/>
              </a:rPr>
              <a:t> </a:t>
            </a:r>
            <a:r>
              <a:rPr sz="2250" spc="-75" dirty="0">
                <a:solidFill>
                  <a:srgbClr val="FFFFFF"/>
                </a:solidFill>
                <a:latin typeface="Lucida Sans Unicode"/>
                <a:cs typeface="Lucida Sans Unicode"/>
              </a:rPr>
              <a:t>trading</a:t>
            </a:r>
            <a:r>
              <a:rPr sz="2250" spc="-90" dirty="0">
                <a:solidFill>
                  <a:srgbClr val="FFFFFF"/>
                </a:solidFill>
                <a:latin typeface="Lucida Sans Unicode"/>
                <a:cs typeface="Lucida Sans Unicode"/>
              </a:rPr>
              <a:t> </a:t>
            </a:r>
            <a:r>
              <a:rPr sz="2250" spc="-53" dirty="0">
                <a:solidFill>
                  <a:srgbClr val="FFFFFF"/>
                </a:solidFill>
                <a:latin typeface="Lucida Sans Unicode"/>
                <a:cs typeface="Lucida Sans Unicode"/>
              </a:rPr>
              <a:t>for</a:t>
            </a:r>
            <a:r>
              <a:rPr sz="2250" spc="-68" dirty="0">
                <a:solidFill>
                  <a:srgbClr val="FFFFFF"/>
                </a:solidFill>
                <a:latin typeface="Lucida Sans Unicode"/>
                <a:cs typeface="Lucida Sans Unicode"/>
              </a:rPr>
              <a:t> </a:t>
            </a:r>
            <a:r>
              <a:rPr sz="2250" spc="-30" dirty="0">
                <a:solidFill>
                  <a:srgbClr val="FFFFFF"/>
                </a:solidFill>
                <a:latin typeface="Lucida Sans Unicode"/>
                <a:cs typeface="Lucida Sans Unicode"/>
              </a:rPr>
              <a:t>area,</a:t>
            </a:r>
            <a:r>
              <a:rPr sz="2250" spc="-60" dirty="0">
                <a:solidFill>
                  <a:srgbClr val="FFFFFF"/>
                </a:solidFill>
                <a:latin typeface="Lucida Sans Unicode"/>
                <a:cs typeface="Lucida Sans Unicode"/>
              </a:rPr>
              <a:t> </a:t>
            </a:r>
            <a:r>
              <a:rPr sz="2250" spc="-53" dirty="0">
                <a:solidFill>
                  <a:srgbClr val="FFFFFF"/>
                </a:solidFill>
                <a:latin typeface="Lucida Sans Unicode"/>
                <a:cs typeface="Lucida Sans Unicode"/>
              </a:rPr>
              <a:t>power,</a:t>
            </a:r>
            <a:r>
              <a:rPr sz="2250" spc="-105" dirty="0">
                <a:solidFill>
                  <a:srgbClr val="FFFFFF"/>
                </a:solidFill>
                <a:latin typeface="Lucida Sans Unicode"/>
                <a:cs typeface="Lucida Sans Unicode"/>
              </a:rPr>
              <a:t> </a:t>
            </a:r>
            <a:r>
              <a:rPr sz="2250" spc="-45" dirty="0">
                <a:solidFill>
                  <a:srgbClr val="FFFFFF"/>
                </a:solidFill>
                <a:latin typeface="Lucida Sans Unicode"/>
                <a:cs typeface="Lucida Sans Unicode"/>
              </a:rPr>
              <a:t>cost,</a:t>
            </a:r>
            <a:r>
              <a:rPr sz="2250" spc="-68" dirty="0">
                <a:solidFill>
                  <a:srgbClr val="FFFFFF"/>
                </a:solidFill>
                <a:latin typeface="Lucida Sans Unicode"/>
                <a:cs typeface="Lucida Sans Unicode"/>
              </a:rPr>
              <a:t> </a:t>
            </a:r>
            <a:r>
              <a:rPr sz="2250" spc="-15" dirty="0">
                <a:solidFill>
                  <a:srgbClr val="FFFFFF"/>
                </a:solidFill>
                <a:latin typeface="Lucida Sans Unicode"/>
                <a:cs typeface="Lucida Sans Unicode"/>
              </a:rPr>
              <a:t>or</a:t>
            </a:r>
            <a:r>
              <a:rPr sz="2250" spc="-60" dirty="0">
                <a:solidFill>
                  <a:srgbClr val="FFFFFF"/>
                </a:solidFill>
                <a:latin typeface="Lucida Sans Unicode"/>
                <a:cs typeface="Lucida Sans Unicode"/>
              </a:rPr>
              <a:t> </a:t>
            </a:r>
            <a:r>
              <a:rPr sz="2250" spc="-15" dirty="0">
                <a:solidFill>
                  <a:srgbClr val="FFFFFF"/>
                </a:solidFill>
                <a:latin typeface="Lucida Sans Unicode"/>
                <a:cs typeface="Lucida Sans Unicode"/>
              </a:rPr>
              <a:t>complexity.</a:t>
            </a:r>
            <a:endParaRPr sz="2250">
              <a:latin typeface="Lucida Sans Unicode"/>
              <a:cs typeface="Lucida Sans Unicode"/>
            </a:endParaRPr>
          </a:p>
        </p:txBody>
      </p:sp>
      <p:sp>
        <p:nvSpPr>
          <p:cNvPr id="10" name="object 10"/>
          <p:cNvSpPr txBox="1"/>
          <p:nvPr/>
        </p:nvSpPr>
        <p:spPr>
          <a:xfrm>
            <a:off x="705155" y="4680013"/>
            <a:ext cx="11113770" cy="274114"/>
          </a:xfrm>
          <a:prstGeom prst="rect">
            <a:avLst/>
          </a:prstGeom>
        </p:spPr>
        <p:txBody>
          <a:bodyPr vert="horz" wrap="square" lIns="0" tIns="20003" rIns="0" bIns="0" rtlCol="0">
            <a:spAutoFit/>
          </a:bodyPr>
          <a:lstStyle/>
          <a:p>
            <a:pPr marL="19050">
              <a:spcBef>
                <a:spcPts val="158"/>
              </a:spcBef>
            </a:pPr>
            <a:r>
              <a:rPr sz="1650" spc="-38" dirty="0">
                <a:solidFill>
                  <a:srgbClr val="FFFFFF"/>
                </a:solidFill>
                <a:latin typeface="Lucida Sans Unicode"/>
                <a:cs typeface="Lucida Sans Unicode"/>
              </a:rPr>
              <a:t>The</a:t>
            </a:r>
            <a:r>
              <a:rPr sz="1650" spc="-98" dirty="0">
                <a:solidFill>
                  <a:srgbClr val="FFFFFF"/>
                </a:solidFill>
                <a:latin typeface="Lucida Sans Unicode"/>
                <a:cs typeface="Lucida Sans Unicode"/>
              </a:rPr>
              <a:t> </a:t>
            </a:r>
            <a:r>
              <a:rPr sz="1650" spc="-15" dirty="0">
                <a:solidFill>
                  <a:srgbClr val="FFFFFF"/>
                </a:solidFill>
                <a:latin typeface="Lucida Sans Unicode"/>
                <a:cs typeface="Lucida Sans Unicode"/>
              </a:rPr>
              <a:t>best</a:t>
            </a:r>
            <a:r>
              <a:rPr sz="1650" spc="-113" dirty="0">
                <a:solidFill>
                  <a:srgbClr val="FFFFFF"/>
                </a:solidFill>
                <a:latin typeface="Lucida Sans Unicode"/>
                <a:cs typeface="Lucida Sans Unicode"/>
              </a:rPr>
              <a:t> </a:t>
            </a:r>
            <a:r>
              <a:rPr sz="1650" spc="-45" dirty="0">
                <a:solidFill>
                  <a:srgbClr val="FFFFFF"/>
                </a:solidFill>
                <a:latin typeface="Lucida Sans Unicode"/>
                <a:cs typeface="Lucida Sans Unicode"/>
              </a:rPr>
              <a:t>architecture</a:t>
            </a:r>
            <a:r>
              <a:rPr sz="1650" spc="-90" dirty="0">
                <a:solidFill>
                  <a:srgbClr val="FFFFFF"/>
                </a:solidFill>
                <a:latin typeface="Lucida Sans Unicode"/>
                <a:cs typeface="Lucida Sans Unicode"/>
              </a:rPr>
              <a:t> </a:t>
            </a:r>
            <a:r>
              <a:rPr sz="1650" spc="-30" dirty="0">
                <a:solidFill>
                  <a:srgbClr val="FFFFFF"/>
                </a:solidFill>
                <a:latin typeface="Lucida Sans Unicode"/>
                <a:cs typeface="Lucida Sans Unicode"/>
              </a:rPr>
              <a:t>is</a:t>
            </a:r>
            <a:r>
              <a:rPr sz="1650" spc="-98" dirty="0">
                <a:solidFill>
                  <a:srgbClr val="FFFFFF"/>
                </a:solidFill>
                <a:latin typeface="Lucida Sans Unicode"/>
                <a:cs typeface="Lucida Sans Unicode"/>
              </a:rPr>
              <a:t> </a:t>
            </a:r>
            <a:r>
              <a:rPr sz="1650" spc="-68" dirty="0">
                <a:solidFill>
                  <a:srgbClr val="FFFFFF"/>
                </a:solidFill>
                <a:latin typeface="Lucida Sans Unicode"/>
                <a:cs typeface="Lucida Sans Unicode"/>
              </a:rPr>
              <a:t>not </a:t>
            </a:r>
            <a:r>
              <a:rPr sz="1650" spc="-15" dirty="0">
                <a:solidFill>
                  <a:srgbClr val="FFFFFF"/>
                </a:solidFill>
                <a:latin typeface="Lucida Sans Unicode"/>
                <a:cs typeface="Lucida Sans Unicode"/>
              </a:rPr>
              <a:t>the</a:t>
            </a:r>
            <a:r>
              <a:rPr sz="1650" spc="-113" dirty="0">
                <a:solidFill>
                  <a:srgbClr val="FFFFFF"/>
                </a:solidFill>
                <a:latin typeface="Lucida Sans Unicode"/>
                <a:cs typeface="Lucida Sans Unicode"/>
              </a:rPr>
              <a:t> </a:t>
            </a:r>
            <a:r>
              <a:rPr sz="1650" spc="-30" dirty="0">
                <a:solidFill>
                  <a:srgbClr val="FFFFFF"/>
                </a:solidFill>
                <a:latin typeface="Lucida Sans Unicode"/>
                <a:cs typeface="Lucida Sans Unicode"/>
              </a:rPr>
              <a:t>one</a:t>
            </a:r>
            <a:r>
              <a:rPr sz="1650" spc="-105" dirty="0">
                <a:solidFill>
                  <a:srgbClr val="FFFFFF"/>
                </a:solidFill>
                <a:latin typeface="Lucida Sans Unicode"/>
                <a:cs typeface="Lucida Sans Unicode"/>
              </a:rPr>
              <a:t> </a:t>
            </a:r>
            <a:r>
              <a:rPr sz="1650" spc="-38" dirty="0">
                <a:solidFill>
                  <a:srgbClr val="FFFFFF"/>
                </a:solidFill>
                <a:latin typeface="Lucida Sans Unicode"/>
                <a:cs typeface="Lucida Sans Unicode"/>
              </a:rPr>
              <a:t>with</a:t>
            </a:r>
            <a:r>
              <a:rPr sz="1650" spc="-90" dirty="0">
                <a:solidFill>
                  <a:srgbClr val="FFFFFF"/>
                </a:solidFill>
                <a:latin typeface="Lucida Sans Unicode"/>
                <a:cs typeface="Lucida Sans Unicode"/>
              </a:rPr>
              <a:t> </a:t>
            </a:r>
            <a:r>
              <a:rPr sz="1650" spc="-15" dirty="0">
                <a:solidFill>
                  <a:srgbClr val="FFFFFF"/>
                </a:solidFill>
                <a:latin typeface="Lucida Sans Unicode"/>
                <a:cs typeface="Lucida Sans Unicode"/>
              </a:rPr>
              <a:t>the</a:t>
            </a:r>
            <a:r>
              <a:rPr sz="1650" spc="-113" dirty="0">
                <a:solidFill>
                  <a:srgbClr val="FFFFFF"/>
                </a:solidFill>
                <a:latin typeface="Lucida Sans Unicode"/>
                <a:cs typeface="Lucida Sans Unicode"/>
              </a:rPr>
              <a:t> </a:t>
            </a:r>
            <a:r>
              <a:rPr sz="1650" spc="-38" dirty="0">
                <a:solidFill>
                  <a:srgbClr val="FFFFFF"/>
                </a:solidFill>
                <a:latin typeface="Lucida Sans Unicode"/>
                <a:cs typeface="Lucida Sans Unicode"/>
              </a:rPr>
              <a:t>most</a:t>
            </a:r>
            <a:r>
              <a:rPr sz="1650" spc="-60" dirty="0">
                <a:solidFill>
                  <a:srgbClr val="FFFFFF"/>
                </a:solidFill>
                <a:latin typeface="Lucida Sans Unicode"/>
                <a:cs typeface="Lucida Sans Unicode"/>
              </a:rPr>
              <a:t> </a:t>
            </a:r>
            <a:r>
              <a:rPr sz="1650" spc="-30" dirty="0">
                <a:solidFill>
                  <a:srgbClr val="FFFFFF"/>
                </a:solidFill>
                <a:latin typeface="Lucida Sans Unicode"/>
                <a:cs typeface="Lucida Sans Unicode"/>
              </a:rPr>
              <a:t>resources</a:t>
            </a:r>
            <a:r>
              <a:rPr sz="1650" spc="-83" dirty="0">
                <a:solidFill>
                  <a:srgbClr val="FFFFFF"/>
                </a:solidFill>
                <a:latin typeface="Lucida Sans Unicode"/>
                <a:cs typeface="Lucida Sans Unicode"/>
              </a:rPr>
              <a:t> </a:t>
            </a:r>
            <a:r>
              <a:rPr sz="1650" spc="-248" dirty="0">
                <a:solidFill>
                  <a:srgbClr val="FFFFFF"/>
                </a:solidFill>
                <a:latin typeface="Lucida Sans Unicode"/>
                <a:cs typeface="Lucida Sans Unicode"/>
              </a:rPr>
              <a:t>—</a:t>
            </a:r>
            <a:r>
              <a:rPr sz="1650" dirty="0">
                <a:solidFill>
                  <a:srgbClr val="FFFFFF"/>
                </a:solidFill>
                <a:latin typeface="Lucida Sans Unicode"/>
                <a:cs typeface="Lucida Sans Unicode"/>
              </a:rPr>
              <a:t> </a:t>
            </a:r>
            <a:r>
              <a:rPr sz="1650" spc="-53" dirty="0">
                <a:solidFill>
                  <a:srgbClr val="FFFFFF"/>
                </a:solidFill>
                <a:latin typeface="Lucida Sans Unicode"/>
                <a:cs typeface="Lucida Sans Unicode"/>
              </a:rPr>
              <a:t>it</a:t>
            </a:r>
            <a:r>
              <a:rPr sz="1650" spc="-75" dirty="0">
                <a:solidFill>
                  <a:srgbClr val="FFFFFF"/>
                </a:solidFill>
                <a:latin typeface="Lucida Sans Unicode"/>
                <a:cs typeface="Lucida Sans Unicode"/>
              </a:rPr>
              <a:t> </a:t>
            </a:r>
            <a:r>
              <a:rPr sz="1650" spc="-30" dirty="0">
                <a:solidFill>
                  <a:srgbClr val="FFFFFF"/>
                </a:solidFill>
                <a:latin typeface="Lucida Sans Unicode"/>
                <a:cs typeface="Lucida Sans Unicode"/>
              </a:rPr>
              <a:t>is</a:t>
            </a:r>
            <a:r>
              <a:rPr sz="1650" spc="-68" dirty="0">
                <a:solidFill>
                  <a:srgbClr val="FFFFFF"/>
                </a:solidFill>
                <a:latin typeface="Lucida Sans Unicode"/>
                <a:cs typeface="Lucida Sans Unicode"/>
              </a:rPr>
              <a:t> </a:t>
            </a:r>
            <a:r>
              <a:rPr sz="1650" spc="-38" dirty="0">
                <a:solidFill>
                  <a:srgbClr val="FFFFFF"/>
                </a:solidFill>
                <a:latin typeface="Lucida Sans Unicode"/>
                <a:cs typeface="Lucida Sans Unicode"/>
              </a:rPr>
              <a:t>the</a:t>
            </a:r>
            <a:r>
              <a:rPr sz="1650" spc="-98" dirty="0">
                <a:solidFill>
                  <a:srgbClr val="FFFFFF"/>
                </a:solidFill>
                <a:latin typeface="Lucida Sans Unicode"/>
                <a:cs typeface="Lucida Sans Unicode"/>
              </a:rPr>
              <a:t> </a:t>
            </a:r>
            <a:r>
              <a:rPr sz="1650" spc="-15" dirty="0">
                <a:solidFill>
                  <a:srgbClr val="FFFFFF"/>
                </a:solidFill>
                <a:latin typeface="Lucida Sans Unicode"/>
                <a:cs typeface="Lucida Sans Unicode"/>
              </a:rPr>
              <a:t>one</a:t>
            </a:r>
            <a:r>
              <a:rPr sz="1650" spc="-38" dirty="0">
                <a:solidFill>
                  <a:srgbClr val="FFFFFF"/>
                </a:solidFill>
                <a:latin typeface="Lucida Sans Unicode"/>
                <a:cs typeface="Lucida Sans Unicode"/>
              </a:rPr>
              <a:t> </a:t>
            </a:r>
            <a:r>
              <a:rPr sz="1650" spc="-15" dirty="0">
                <a:solidFill>
                  <a:srgbClr val="FFFFFF"/>
                </a:solidFill>
                <a:latin typeface="Lucida Sans Unicode"/>
                <a:cs typeface="Lucida Sans Unicode"/>
              </a:rPr>
              <a:t>whose</a:t>
            </a:r>
            <a:r>
              <a:rPr sz="1650" spc="-68" dirty="0">
                <a:solidFill>
                  <a:srgbClr val="FFFFFF"/>
                </a:solidFill>
                <a:latin typeface="Lucida Sans Unicode"/>
                <a:cs typeface="Lucida Sans Unicode"/>
              </a:rPr>
              <a:t> </a:t>
            </a:r>
            <a:r>
              <a:rPr sz="1650" spc="-38" dirty="0">
                <a:solidFill>
                  <a:srgbClr val="FFFFFF"/>
                </a:solidFill>
                <a:latin typeface="Lucida Sans Unicode"/>
                <a:cs typeface="Lucida Sans Unicode"/>
              </a:rPr>
              <a:t>resources</a:t>
            </a:r>
            <a:r>
              <a:rPr sz="1650" spc="-90" dirty="0">
                <a:solidFill>
                  <a:srgbClr val="FFFFFF"/>
                </a:solidFill>
                <a:latin typeface="Lucida Sans Unicode"/>
                <a:cs typeface="Lucida Sans Unicode"/>
              </a:rPr>
              <a:t> </a:t>
            </a:r>
            <a:r>
              <a:rPr sz="1650" spc="-15" dirty="0">
                <a:solidFill>
                  <a:srgbClr val="FFFFFF"/>
                </a:solidFill>
                <a:latin typeface="Lucida Sans Unicode"/>
                <a:cs typeface="Lucida Sans Unicode"/>
              </a:rPr>
              <a:t>match</a:t>
            </a:r>
            <a:r>
              <a:rPr sz="1650" spc="-83" dirty="0">
                <a:solidFill>
                  <a:srgbClr val="FFFFFF"/>
                </a:solidFill>
                <a:latin typeface="Lucida Sans Unicode"/>
                <a:cs typeface="Lucida Sans Unicode"/>
              </a:rPr>
              <a:t> </a:t>
            </a:r>
            <a:r>
              <a:rPr sz="1650" spc="-15" dirty="0">
                <a:solidFill>
                  <a:srgbClr val="FFFFFF"/>
                </a:solidFill>
                <a:latin typeface="Lucida Sans Unicode"/>
                <a:cs typeface="Lucida Sans Unicode"/>
              </a:rPr>
              <a:t>the</a:t>
            </a:r>
            <a:r>
              <a:rPr sz="1650" spc="-68" dirty="0">
                <a:solidFill>
                  <a:srgbClr val="FFFFFF"/>
                </a:solidFill>
                <a:latin typeface="Lucida Sans Unicode"/>
                <a:cs typeface="Lucida Sans Unicode"/>
              </a:rPr>
              <a:t> </a:t>
            </a:r>
            <a:r>
              <a:rPr sz="1650" spc="-15" dirty="0">
                <a:solidFill>
                  <a:srgbClr val="FFFFFF"/>
                </a:solidFill>
                <a:latin typeface="Lucida Sans Unicode"/>
                <a:cs typeface="Lucida Sans Unicode"/>
              </a:rPr>
              <a:t>workload.</a:t>
            </a:r>
            <a:endParaRPr sz="1650">
              <a:latin typeface="Lucida Sans Unicode"/>
              <a:cs typeface="Lucida Sans Unicode"/>
            </a:endParaRPr>
          </a:p>
        </p:txBody>
      </p:sp>
      <p:sp>
        <p:nvSpPr>
          <p:cNvPr id="11" name="object 11"/>
          <p:cNvSpPr/>
          <p:nvPr/>
        </p:nvSpPr>
        <p:spPr>
          <a:xfrm>
            <a:off x="722375" y="5244083"/>
            <a:ext cx="17337025" cy="1971666"/>
          </a:xfrm>
          <a:custGeom>
            <a:avLst/>
            <a:gdLst/>
            <a:ahLst/>
            <a:cxnLst/>
            <a:rect l="l" t="t" r="r" b="b"/>
            <a:pathLst>
              <a:path w="5462270" h="935989">
                <a:moveTo>
                  <a:pt x="5433314" y="0"/>
                </a:moveTo>
                <a:lnTo>
                  <a:pt x="28638" y="0"/>
                </a:lnTo>
                <a:lnTo>
                  <a:pt x="17493" y="2252"/>
                </a:lnTo>
                <a:lnTo>
                  <a:pt x="8389" y="8397"/>
                </a:lnTo>
                <a:lnTo>
                  <a:pt x="2251" y="17520"/>
                </a:lnTo>
                <a:lnTo>
                  <a:pt x="0" y="28702"/>
                </a:lnTo>
                <a:lnTo>
                  <a:pt x="0" y="907034"/>
                </a:lnTo>
                <a:lnTo>
                  <a:pt x="2251" y="918215"/>
                </a:lnTo>
                <a:lnTo>
                  <a:pt x="8389" y="927338"/>
                </a:lnTo>
                <a:lnTo>
                  <a:pt x="17493" y="933483"/>
                </a:lnTo>
                <a:lnTo>
                  <a:pt x="28638" y="935736"/>
                </a:lnTo>
                <a:lnTo>
                  <a:pt x="5433314" y="935736"/>
                </a:lnTo>
                <a:lnTo>
                  <a:pt x="5444495" y="933483"/>
                </a:lnTo>
                <a:lnTo>
                  <a:pt x="5453618" y="927338"/>
                </a:lnTo>
                <a:lnTo>
                  <a:pt x="5459763" y="918215"/>
                </a:lnTo>
                <a:lnTo>
                  <a:pt x="5462016" y="907034"/>
                </a:lnTo>
                <a:lnTo>
                  <a:pt x="5462016" y="28702"/>
                </a:lnTo>
                <a:lnTo>
                  <a:pt x="5459763" y="17520"/>
                </a:lnTo>
                <a:lnTo>
                  <a:pt x="5453618" y="8397"/>
                </a:lnTo>
                <a:lnTo>
                  <a:pt x="5444495" y="2252"/>
                </a:lnTo>
                <a:lnTo>
                  <a:pt x="5433314" y="0"/>
                </a:lnTo>
                <a:close/>
              </a:path>
            </a:pathLst>
          </a:custGeom>
          <a:solidFill>
            <a:srgbClr val="090E23">
              <a:alpha val="87841"/>
            </a:srgbClr>
          </a:solidFill>
        </p:spPr>
        <p:txBody>
          <a:bodyPr wrap="square" lIns="0" tIns="0" rIns="0" bIns="0" rtlCol="0"/>
          <a:lstStyle/>
          <a:p>
            <a:endParaRPr sz="2700"/>
          </a:p>
        </p:txBody>
      </p:sp>
      <p:sp>
        <p:nvSpPr>
          <p:cNvPr id="12" name="object 12"/>
          <p:cNvSpPr txBox="1"/>
          <p:nvPr/>
        </p:nvSpPr>
        <p:spPr>
          <a:xfrm>
            <a:off x="1143000" y="5552793"/>
            <a:ext cx="14020800" cy="1155124"/>
          </a:xfrm>
          <a:prstGeom prst="rect">
            <a:avLst/>
          </a:prstGeom>
        </p:spPr>
        <p:txBody>
          <a:bodyPr vert="horz" wrap="square" lIns="0" tIns="20003" rIns="0" bIns="0" rtlCol="0">
            <a:spAutoFit/>
          </a:bodyPr>
          <a:lstStyle/>
          <a:p>
            <a:pPr marL="19050">
              <a:spcBef>
                <a:spcPts val="158"/>
              </a:spcBef>
            </a:pPr>
            <a:r>
              <a:rPr sz="1575" dirty="0">
                <a:solidFill>
                  <a:srgbClr val="FFFFFF"/>
                </a:solidFill>
                <a:latin typeface="Lucida Console"/>
                <a:cs typeface="Lucida Console"/>
              </a:rPr>
              <a:t>GOOGLE</a:t>
            </a:r>
            <a:r>
              <a:rPr sz="1575" spc="188" dirty="0">
                <a:solidFill>
                  <a:srgbClr val="FFFFFF"/>
                </a:solidFill>
                <a:latin typeface="Lucida Console"/>
                <a:cs typeface="Lucida Console"/>
              </a:rPr>
              <a:t> </a:t>
            </a:r>
            <a:r>
              <a:rPr sz="1575" dirty="0">
                <a:solidFill>
                  <a:srgbClr val="FFFFFF"/>
                </a:solidFill>
                <a:latin typeface="Lucida Console"/>
                <a:cs typeface="Lucida Console"/>
              </a:rPr>
              <a:t>DRIV</a:t>
            </a:r>
            <a:r>
              <a:rPr lang="en-IN" sz="1575" dirty="0">
                <a:solidFill>
                  <a:srgbClr val="FFFFFF"/>
                </a:solidFill>
                <a:latin typeface="Lucida Console"/>
                <a:cs typeface="Lucida Console"/>
              </a:rPr>
              <a:t>E</a:t>
            </a:r>
            <a:r>
              <a:rPr sz="1575" spc="143" dirty="0">
                <a:solidFill>
                  <a:srgbClr val="FFFFFF"/>
                </a:solidFill>
                <a:latin typeface="Lucida Console"/>
                <a:cs typeface="Lucida Console"/>
              </a:rPr>
              <a:t> </a:t>
            </a:r>
            <a:r>
              <a:rPr sz="1575" spc="-30" dirty="0">
                <a:solidFill>
                  <a:srgbClr val="FFFFFF"/>
                </a:solidFill>
                <a:latin typeface="Lucida Console"/>
                <a:cs typeface="Lucida Console"/>
              </a:rPr>
              <a:t>LINK</a:t>
            </a:r>
            <a:r>
              <a:rPr lang="en-IN" sz="1575" spc="-30" dirty="0">
                <a:solidFill>
                  <a:srgbClr val="FFFFFF"/>
                </a:solidFill>
                <a:latin typeface="Lucida Console"/>
                <a:cs typeface="Lucida Console"/>
              </a:rPr>
              <a:t> FOR RESULTS</a:t>
            </a:r>
            <a:endParaRPr sz="1575" dirty="0">
              <a:latin typeface="Lucida Console"/>
              <a:cs typeface="Lucida Console"/>
            </a:endParaRPr>
          </a:p>
          <a:p>
            <a:pPr marL="19050">
              <a:spcBef>
                <a:spcPts val="1545"/>
              </a:spcBef>
            </a:pPr>
            <a:r>
              <a:rPr lang="en-IN" sz="1650" dirty="0">
                <a:solidFill>
                  <a:srgbClr val="0070C0"/>
                </a:solidFill>
                <a:latin typeface="Lucida Sans Unicode"/>
                <a:cs typeface="Lucida Sans Unicode"/>
                <a:hlinkClick r:id="rId3">
                  <a:extLst>
                    <a:ext uri="{A12FA001-AC4F-418D-AE19-62706E023703}">
                      <ahyp:hlinkClr xmlns:ahyp="http://schemas.microsoft.com/office/drawing/2018/hyperlinkcolor" val="tx"/>
                    </a:ext>
                  </a:extLst>
                </a:hlinkClick>
              </a:rPr>
              <a:t>https://drive.google.com/drive/folders/183LKC2KJys0E755W3UO0OFMtQTdpns4i?usp=sharing</a:t>
            </a:r>
            <a:endParaRPr lang="en-IN" sz="1650" dirty="0">
              <a:solidFill>
                <a:srgbClr val="0070C0"/>
              </a:solidFill>
              <a:latin typeface="Lucida Sans Unicode"/>
              <a:cs typeface="Lucida Sans Unicode"/>
            </a:endParaRPr>
          </a:p>
          <a:p>
            <a:pPr marL="19050">
              <a:spcBef>
                <a:spcPts val="1545"/>
              </a:spcBef>
            </a:pPr>
            <a:endParaRPr sz="1650" dirty="0">
              <a:solidFill>
                <a:srgbClr val="0070C0"/>
              </a:solidFill>
              <a:latin typeface="Lucida Sans Unicode"/>
              <a:cs typeface="Lucida Sans Unicod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958</Words>
  <Application>Microsoft Office PowerPoint</Application>
  <PresentationFormat>Custom</PresentationFormat>
  <Paragraphs>221</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Tahoma</vt:lpstr>
      <vt:lpstr>Lucida Sans Unicode</vt:lpstr>
      <vt:lpstr>Arial</vt:lpstr>
      <vt:lpstr>Times New Roman</vt:lpstr>
      <vt:lpstr>Verdana</vt:lpstr>
      <vt:lpstr>Arial MT Pro</vt:lpstr>
      <vt:lpstr>Calibri</vt:lpstr>
      <vt:lpstr>Lucida Console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L2 cache capacity did not improve the measured hit rate</vt:lpstr>
      <vt:lpstr>Recorded bus-width runs showed no DRAM throughtput increase</vt:lpstr>
      <vt:lpstr>Higher  DDR4  frequency had  only  marginal workload impact</vt:lpstr>
      <vt:lpstr>Additional memory resources did not produce proportional gains</vt:lpstr>
      <vt:lpstr>The recorded results do not indicate raw bus width or DDR bandwidth as the dominant limitation</vt:lpstr>
      <vt:lpstr>Match resources to the workload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final1_final2_merged.pptx</dc:title>
  <dc:creator>Minal Borkar</dc:creator>
  <cp:lastModifiedBy>Srujan Powar</cp:lastModifiedBy>
  <cp:revision>7</cp:revision>
  <dcterms:created xsi:type="dcterms:W3CDTF">2006-08-16T00:00:00Z</dcterms:created>
  <dcterms:modified xsi:type="dcterms:W3CDTF">2026-10-05T09:19:15Z</dcterms:modified>
  <dc:identifier>DAHXHicD45k</dc:identifier>
</cp:coreProperties>
</file>